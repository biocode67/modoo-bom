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67" r:id="rId5"/>
    <p:sldId id="268" r:id="rId6"/>
    <p:sldId id="276" r:id="rId7"/>
    <p:sldId id="259" r:id="rId8"/>
    <p:sldId id="269" r:id="rId9"/>
    <p:sldId id="270" r:id="rId10"/>
    <p:sldId id="271" r:id="rId11"/>
    <p:sldId id="272" r:id="rId12"/>
    <p:sldId id="273" r:id="rId13"/>
    <p:sldId id="260" r:id="rId14"/>
    <p:sldId id="274" r:id="rId15"/>
    <p:sldId id="275" r:id="rId16"/>
  </p:sldIdLst>
  <p:sldSz cx="12192000" cy="6858000"/>
  <p:notesSz cx="6858000" cy="9144000"/>
  <p:embeddedFontLst>
    <p:embeddedFont>
      <p:font typeface="Pretendard" panose="02000503000000020004" pitchFamily="2" charset="-127"/>
      <p:regular r:id="rId18"/>
      <p:bold r:id="rId19"/>
    </p:embeddedFont>
    <p:embeddedFont>
      <p:font typeface="맑은 고딕" panose="020B0503020000020004" pitchFamily="50" charset="-127"/>
      <p:regular r:id="rId20"/>
      <p:bold r:id="rId21"/>
    </p:embeddedFont>
    <p:embeddedFont>
      <p:font typeface="맑은 고딕" panose="020B0503020000020004" pitchFamily="50" charset="-127"/>
      <p:regular r:id="rId20"/>
      <p:bold r:id="rId21"/>
    </p:embeddedFont>
  </p:embeddedFont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w="sm" len="sm"/>
              <a:tailEnd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w="sm" len="sm"/>
              <a:tailEnd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w="sm" len="sm"/>
              <a:tailEnd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w="sm" len="sm"/>
              <a:tailEnd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w="sm" len="sm"/>
              <a:tailEnd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w="sm" len="sm"/>
              <a:tailEnd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TxStyle/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TxStyle/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TxStyle/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834" y="114"/>
      </p:cViewPr>
      <p:guideLst>
        <p:guide orient="horz" pos="2158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Image Placeholder"/>
          <p:cNvSpPr>
            <a:spLocks noGrp="1" noRot="1" noChangeAspect="1" noTextEdi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>
            <a:extLst>
              <a:ext uri="{FF2B5EF4-FFF2-40B4-BE49-F238E27FC236}">
                <a16:creationId xmlns:a16="http://schemas.microsoft.com/office/drawing/2014/main" id="{D43F976E-03C4-4021-AE11-CF32427C4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>
            <a:extLst>
              <a:ext uri="{FF2B5EF4-FFF2-40B4-BE49-F238E27FC236}">
                <a16:creationId xmlns:a16="http://schemas.microsoft.com/office/drawing/2014/main" id="{C3502992-4EF9-4994-BB1B-A90891BE0A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>
            <a:extLst>
              <a:ext uri="{FF2B5EF4-FFF2-40B4-BE49-F238E27FC236}">
                <a16:creationId xmlns:a16="http://schemas.microsoft.com/office/drawing/2014/main" id="{0F1D35D3-160A-4216-9F78-A725102E4D6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>
            <a:extLst>
              <a:ext uri="{FF2B5EF4-FFF2-40B4-BE49-F238E27FC236}">
                <a16:creationId xmlns:a16="http://schemas.microsoft.com/office/drawing/2014/main" id="{767152CD-DC30-4E7B-87DE-1FC18B1F268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>
            <a:extLst>
              <a:ext uri="{FF2B5EF4-FFF2-40B4-BE49-F238E27FC236}">
                <a16:creationId xmlns:a16="http://schemas.microsoft.com/office/drawing/2014/main" id="{7C7FF883-EF02-477E-9B32-B2FF27DACFB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>
            <a:extLst>
              <a:ext uri="{FF2B5EF4-FFF2-40B4-BE49-F238E27FC236}">
                <a16:creationId xmlns:a16="http://schemas.microsoft.com/office/drawing/2014/main" id="{B47C11B9-B030-41BF-A2E8-05F0929CB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>
            <a:extLst>
              <a:ext uri="{FF2B5EF4-FFF2-40B4-BE49-F238E27FC236}">
                <a16:creationId xmlns:a16="http://schemas.microsoft.com/office/drawing/2014/main" id="{39139773-F131-405E-91DB-4FE1A5FF7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>
                <a:solidFill>
                  <a:srgbClr val="757575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>
                <a:solidFill>
                  <a:srgbClr val="757575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757575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>
            <a:extLst>
              <a:ext uri="{FF2B5EF4-FFF2-40B4-BE49-F238E27FC236}">
                <a16:creationId xmlns:a16="http://schemas.microsoft.com/office/drawing/2014/main" id="{D0745465-9829-4B5E-83BD-F22DD7965E1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>
            <a:extLst>
              <a:ext uri="{FF2B5EF4-FFF2-40B4-BE49-F238E27FC236}">
                <a16:creationId xmlns:a16="http://schemas.microsoft.com/office/drawing/2014/main" id="{30E343C6-F0F2-4D21-AF8C-61FC4A214F8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>
            <a:extLst>
              <a:ext uri="{FF2B5EF4-FFF2-40B4-BE49-F238E27FC236}">
                <a16:creationId xmlns:a16="http://schemas.microsoft.com/office/drawing/2014/main" id="{D5D97858-C2E1-43AD-A12E-E8F9E1D16C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>
            <a:extLst>
              <a:ext uri="{FF2B5EF4-FFF2-40B4-BE49-F238E27FC236}">
                <a16:creationId xmlns:a16="http://schemas.microsoft.com/office/drawing/2014/main" id="{9A1F5219-45DC-41BA-855E-0641A1852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>
            <a:extLst>
              <a:ext uri="{FF2B5EF4-FFF2-40B4-BE49-F238E27FC236}">
                <a16:creationId xmlns:a16="http://schemas.microsoft.com/office/drawing/2014/main" id="{EA7DBE77-74E2-4929-8F34-19778EAC9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>
            <a:extLst>
              <a:ext uri="{FF2B5EF4-FFF2-40B4-BE49-F238E27FC236}">
                <a16:creationId xmlns:a16="http://schemas.microsoft.com/office/drawing/2014/main" id="{747CC00E-0253-4598-A904-89BB612B84C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>
            <a:extLst>
              <a:ext uri="{FF2B5EF4-FFF2-40B4-BE49-F238E27FC236}">
                <a16:creationId xmlns:a16="http://schemas.microsoft.com/office/drawing/2014/main" id="{0DFD3125-DFE8-4CDB-B6EB-CFA661C013F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>
            <a:extLst>
              <a:ext uri="{FF2B5EF4-FFF2-40B4-BE49-F238E27FC236}">
                <a16:creationId xmlns:a16="http://schemas.microsoft.com/office/drawing/2014/main" id="{0CADFCCB-C133-486F-AE90-02EE74B8B3A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>
            <a:extLst>
              <a:ext uri="{FF2B5EF4-FFF2-40B4-BE49-F238E27FC236}">
                <a16:creationId xmlns:a16="http://schemas.microsoft.com/office/drawing/2014/main" id="{8E067876-F1BE-42A7-B8F8-2AEF061B612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>
            <a:extLst>
              <a:ext uri="{FF2B5EF4-FFF2-40B4-BE49-F238E27FC236}">
                <a16:creationId xmlns:a16="http://schemas.microsoft.com/office/drawing/2014/main" id="{8A874D9B-C6BF-4D53-B3ED-12384E8B5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>
            <a:extLst>
              <a:ext uri="{FF2B5EF4-FFF2-40B4-BE49-F238E27FC236}">
                <a16:creationId xmlns:a16="http://schemas.microsoft.com/office/drawing/2014/main" id="{411B361C-4CA1-48CB-A7EE-FB8BBF563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>
            <a:extLst>
              <a:ext uri="{FF2B5EF4-FFF2-40B4-BE49-F238E27FC236}">
                <a16:creationId xmlns:a16="http://schemas.microsoft.com/office/drawing/2014/main" id="{A47A7033-EA00-45ED-9FCA-1BA99C9DDF8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>
            <a:extLst>
              <a:ext uri="{FF2B5EF4-FFF2-40B4-BE49-F238E27FC236}">
                <a16:creationId xmlns:a16="http://schemas.microsoft.com/office/drawing/2014/main" id="{AF785C25-A308-44FD-ADF6-742AA77BE27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>
            <a:extLst>
              <a:ext uri="{FF2B5EF4-FFF2-40B4-BE49-F238E27FC236}">
                <a16:creationId xmlns:a16="http://schemas.microsoft.com/office/drawing/2014/main" id="{3A8BCFED-5AD8-4432-89C8-F66B32644776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>
            <a:extLst>
              <a:ext uri="{FF2B5EF4-FFF2-40B4-BE49-F238E27FC236}">
                <a16:creationId xmlns:a16="http://schemas.microsoft.com/office/drawing/2014/main" id="{F0AA51E9-B918-455D-A1B3-CF3C82759D4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>
            <a:extLst>
              <a:ext uri="{FF2B5EF4-FFF2-40B4-BE49-F238E27FC236}">
                <a16:creationId xmlns:a16="http://schemas.microsoft.com/office/drawing/2014/main" id="{EDA523A6-9ADF-4612-A8EA-E52BA7E33BE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>
            <a:extLst>
              <a:ext uri="{FF2B5EF4-FFF2-40B4-BE49-F238E27FC236}">
                <a16:creationId xmlns:a16="http://schemas.microsoft.com/office/drawing/2014/main" id="{2CD7695E-396D-4BC0-BFB0-733E3CAE68C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129DD97B-6DED-42F4-88F9-44F8C4666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5CEB85B1-079E-4538-A3D3-0ADC658A782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>
            <a:extLst>
              <a:ext uri="{FF2B5EF4-FFF2-40B4-BE49-F238E27FC236}">
                <a16:creationId xmlns:a16="http://schemas.microsoft.com/office/drawing/2014/main" id="{5FD31133-7FD9-4C23-A2E9-BF37654A98C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>
            <a:extLst>
              <a:ext uri="{FF2B5EF4-FFF2-40B4-BE49-F238E27FC236}">
                <a16:creationId xmlns:a16="http://schemas.microsoft.com/office/drawing/2014/main" id="{C3DBDFFA-0725-4063-8722-35F8AB39BDD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>
            <a:extLst>
              <a:ext uri="{FF2B5EF4-FFF2-40B4-BE49-F238E27FC236}">
                <a16:creationId xmlns:a16="http://schemas.microsoft.com/office/drawing/2014/main" id="{F9FC97F4-CEC2-4F4C-9950-3F39C35D416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>
            <a:extLst>
              <a:ext uri="{FF2B5EF4-FFF2-40B4-BE49-F238E27FC236}">
                <a16:creationId xmlns:a16="http://schemas.microsoft.com/office/drawing/2014/main" id="{04EFA55A-98E7-49C0-95EF-3A870C7DDEA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>
            <a:extLst>
              <a:ext uri="{FF2B5EF4-FFF2-40B4-BE49-F238E27FC236}">
                <a16:creationId xmlns:a16="http://schemas.microsoft.com/office/drawing/2014/main" id="{02474604-AC9B-4128-9D0F-A362778112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>
            <a:extLst>
              <a:ext uri="{FF2B5EF4-FFF2-40B4-BE49-F238E27FC236}">
                <a16:creationId xmlns:a16="http://schemas.microsoft.com/office/drawing/2014/main" id="{E4C3A014-DCC4-4EDF-AF9C-3B75AF42C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>
            <a:extLst>
              <a:ext uri="{FF2B5EF4-FFF2-40B4-BE49-F238E27FC236}">
                <a16:creationId xmlns:a16="http://schemas.microsoft.com/office/drawing/2014/main" id="{827C85C4-B3B2-4D8B-BE38-AE2B14BC3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>
            <a:extLst>
              <a:ext uri="{FF2B5EF4-FFF2-40B4-BE49-F238E27FC236}">
                <a16:creationId xmlns:a16="http://schemas.microsoft.com/office/drawing/2014/main" id="{8C2138EC-877B-444D-9D05-5020782216E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8D9D35F8-044D-4FDE-B4D4-1FE35E85291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5CE87D36-51CC-4F05-9E2C-823E5A89A37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850EF542-0D32-4CF9-AAFA-7E677863E83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>
            <a:extLst>
              <a:ext uri="{FF2B5EF4-FFF2-40B4-BE49-F238E27FC236}">
                <a16:creationId xmlns:a16="http://schemas.microsoft.com/office/drawing/2014/main" id="{4B881F13-5976-43EF-AADB-D887E09C0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>
            <a:extLst>
              <a:ext uri="{FF2B5EF4-FFF2-40B4-BE49-F238E27FC236}">
                <a16:creationId xmlns:a16="http://schemas.microsoft.com/office/drawing/2014/main" id="{44B2752B-0962-4B58-9B9C-AE4C0FD41C60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>
            <a:extLst>
              <a:ext uri="{FF2B5EF4-FFF2-40B4-BE49-F238E27FC236}">
                <a16:creationId xmlns:a16="http://schemas.microsoft.com/office/drawing/2014/main" id="{BCC8A0FC-BBF7-4A21-BC97-8C77AAB34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>
            <a:extLst>
              <a:ext uri="{FF2B5EF4-FFF2-40B4-BE49-F238E27FC236}">
                <a16:creationId xmlns:a16="http://schemas.microsoft.com/office/drawing/2014/main" id="{CF0B8A79-9C8D-4808-9AB2-2BD7F3BF4F3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>
            <a:extLst>
              <a:ext uri="{FF2B5EF4-FFF2-40B4-BE49-F238E27FC236}">
                <a16:creationId xmlns:a16="http://schemas.microsoft.com/office/drawing/2014/main" id="{225166B2-964F-4A84-A495-85F3AB39767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>
            <a:extLst>
              <a:ext uri="{FF2B5EF4-FFF2-40B4-BE49-F238E27FC236}">
                <a16:creationId xmlns:a16="http://schemas.microsoft.com/office/drawing/2014/main" id="{9B888530-D6E1-4F58-B120-3F6B25BAFC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>
            <a:extLst>
              <a:ext uri="{FF2B5EF4-FFF2-40B4-BE49-F238E27FC236}">
                <a16:creationId xmlns:a16="http://schemas.microsoft.com/office/drawing/2014/main" id="{637424C3-A8D7-4AAC-82F0-36591865E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>
            <a:extLst>
              <a:ext uri="{FF2B5EF4-FFF2-40B4-BE49-F238E27FC236}">
                <a16:creationId xmlns:a16="http://schemas.microsoft.com/office/drawing/2014/main" id="{0E4CF663-6FBA-4039-BC47-B26F372DF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>
            <a:extLst>
              <a:ext uri="{FF2B5EF4-FFF2-40B4-BE49-F238E27FC236}">
                <a16:creationId xmlns:a16="http://schemas.microsoft.com/office/drawing/2014/main" id="{01AB688D-460D-4C98-BCFD-7B9A70E5E39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>
            <a:extLst>
              <a:ext uri="{FF2B5EF4-FFF2-40B4-BE49-F238E27FC236}">
                <a16:creationId xmlns:a16="http://schemas.microsoft.com/office/drawing/2014/main" id="{FED18F07-25C0-4671-A75E-7170618E166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>
            <a:extLst>
              <a:ext uri="{FF2B5EF4-FFF2-40B4-BE49-F238E27FC236}">
                <a16:creationId xmlns:a16="http://schemas.microsoft.com/office/drawing/2014/main" id="{12746E0A-D67B-4B65-9923-A118F82293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>
            <a:extLst>
              <a:ext uri="{FF2B5EF4-FFF2-40B4-BE49-F238E27FC236}">
                <a16:creationId xmlns:a16="http://schemas.microsoft.com/office/drawing/2014/main" id="{47CADDE7-55BC-4388-B704-836733F3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>
            <a:extLst>
              <a:ext uri="{FF2B5EF4-FFF2-40B4-BE49-F238E27FC236}">
                <a16:creationId xmlns:a16="http://schemas.microsoft.com/office/drawing/2014/main" id="{F86E7CB2-8F23-4406-8CFF-CF55319DD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>
            <a:extLst>
              <a:ext uri="{FF2B5EF4-FFF2-40B4-BE49-F238E27FC236}">
                <a16:creationId xmlns:a16="http://schemas.microsoft.com/office/drawing/2014/main" id="{B6702FCE-A7E7-42C3-A8A4-A18A32928D4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>
            <a:extLst>
              <a:ext uri="{FF2B5EF4-FFF2-40B4-BE49-F238E27FC236}">
                <a16:creationId xmlns:a16="http://schemas.microsoft.com/office/drawing/2014/main" id="{7B1580CB-E661-4FDB-A940-C58D946F524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>
            <a:extLst>
              <a:ext uri="{FF2B5EF4-FFF2-40B4-BE49-F238E27FC236}">
                <a16:creationId xmlns:a16="http://schemas.microsoft.com/office/drawing/2014/main" id="{637861BE-9C37-4638-BEF2-CD2BFFB887C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>
            <a:extLst>
              <a:ext uri="{FF2B5EF4-FFF2-40B4-BE49-F238E27FC236}">
                <a16:creationId xmlns:a16="http://schemas.microsoft.com/office/drawing/2014/main" id="{96DB2D43-C681-426A-82F4-C8E1612AB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>
            <a:extLst>
              <a:ext uri="{FF2B5EF4-FFF2-40B4-BE49-F238E27FC236}">
                <a16:creationId xmlns:a16="http://schemas.microsoft.com/office/drawing/2014/main" id="{973774DD-5C39-4422-8A89-752268B56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2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>
            <a:extLst>
              <a:ext uri="{FF2B5EF4-FFF2-40B4-BE49-F238E27FC236}">
                <a16:creationId xmlns:a16="http://schemas.microsoft.com/office/drawing/2014/main" id="{3496D5AE-45C8-46C6-83E9-7A17F5E9848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>
            <a:extLst>
              <a:ext uri="{FF2B5EF4-FFF2-40B4-BE49-F238E27FC236}">
                <a16:creationId xmlns:a16="http://schemas.microsoft.com/office/drawing/2014/main" id="{7405C552-4F90-47C1-A40A-EFE69C0CC3A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>
            <a:extLst>
              <a:ext uri="{FF2B5EF4-FFF2-40B4-BE49-F238E27FC236}">
                <a16:creationId xmlns:a16="http://schemas.microsoft.com/office/drawing/2014/main" id="{C0877448-5BD5-4FDF-8001-89778AF4DA3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1pPr>
            <a:lvl2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2pPr>
            <a:lvl3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3pPr>
            <a:lvl4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4pPr>
            <a:lvl5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5pPr>
            <a:lvl6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6pPr>
            <a:lvl7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7pPr>
            <a:lvl8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8pPr>
            <a:lvl9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4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1005" name="Google Shape;90;p1"/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A348E4FE-D39F-4965-9FEF-1651C969C6D4}"/>
              </a:ext>
            </a:extLst>
          </p:cNvPr>
          <p:cNvSpPr>
            <a:spLocks noGrp="1"/>
          </p:cNvSpPr>
          <p:nvPr/>
        </p:nvSpPr>
        <p:spPr>
          <a:xfrm>
            <a:off x="1501950" y="1882817"/>
            <a:ext cx="91881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ctr">
              <a:buNone/>
            </a:pPr>
            <a:r>
              <a:rPr sz="3600"/>
              <a:t>2026 AI・SW중심대학 디지털 경진대회</a:t>
            </a:r>
          </a:p>
        </p:txBody>
      </p:sp>
      <p:cxnSp>
        <p:nvCxnSpPr>
          <p:cNvPr id="1007" name="Google Shape;94;p1"/>
          <p:cNvCxnSpPr/>
          <p:nvPr/>
        </p:nvCxnSpPr>
        <p:spPr>
          <a:xfrm>
            <a:off x="2310450" y="2662599"/>
            <a:ext cx="75711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759B1EC-410B-0EF7-0D10-30B750C7561A}"/>
              </a:ext>
            </a:extLst>
          </p:cNvPr>
          <p:cNvSpPr>
            <a:spLocks noGrp="1"/>
          </p:cNvSpPr>
          <p:nvPr/>
        </p:nvSpPr>
        <p:spPr>
          <a:xfrm>
            <a:off x="5554840" y="2877879"/>
            <a:ext cx="108234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800"/>
              <a:t>SW 부문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28BAC-3C3C-DF73-B73D-81DE933F7260}"/>
              </a:ext>
            </a:extLst>
          </p:cNvPr>
          <p:cNvSpPr>
            <a:spLocks noGrp="1"/>
          </p:cNvSpPr>
          <p:nvPr/>
        </p:nvSpPr>
        <p:spPr>
          <a:xfrm>
            <a:off x="3524864" y="3627828"/>
            <a:ext cx="51422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/>
              <a:t>예선 산출물</a:t>
            </a:r>
          </a:p>
        </p:txBody>
      </p:sp>
      <p:pic>
        <p:nvPicPr>
          <p:cNvPr id="1010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graphicFrame>
        <p:nvGraphicFramePr>
          <p:cNvPr id="1011" name="표 8"/>
          <p:cNvGraphicFramePr/>
          <p:nvPr/>
        </p:nvGraphicFramePr>
        <p:xfrm>
          <a:off x="3386667" y="4215110"/>
          <a:ext cx="5418666" cy="13484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팀명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모두봄 (ModooBom)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대학명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영남대학교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프로젝트명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Aft>
                          <a:spcPts val="100"/>
                        </a:spcAft>
                      </a:pPr>
                      <a:r>
                        <a:rPr sz="1400" b="1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모두봄 (ModooBom)</a:t>
                      </a:r>
                    </a:p>
                    <a:p>
                      <a:pPr algn="ctr">
                        <a:lnSpc>
                          <a:spcPct val="12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647482"/>
                          </a:solidFill>
                          <a:latin typeface="Pretendard"/>
                          <a:ea typeface="Pretendard"/>
                        </a:rPr>
                        <a:t>몰라서 못 받던 복지,</a:t>
                      </a:r>
                      <a:br>
                        <a:rPr sz="1050" b="0">
                          <a:solidFill>
                            <a:srgbClr val="647482"/>
                          </a:solidFill>
                          <a:latin typeface="Pretendard"/>
                          <a:ea typeface="Pretendard"/>
                        </a:rPr>
                      </a:br>
                      <a:r>
                        <a:rPr sz="1050" b="0">
                          <a:solidFill>
                            <a:srgbClr val="647482"/>
                          </a:solidFill>
                          <a:latin typeface="Pretendard"/>
                          <a:ea typeface="Pretendard"/>
                        </a:rPr>
                        <a:t>찾기부터 서류 자동발급·신청·관리까지</a:t>
                      </a:r>
                      <a:br>
                        <a:rPr sz="1050" b="0">
                          <a:solidFill>
                            <a:srgbClr val="647482"/>
                          </a:solidFill>
                          <a:latin typeface="Pretendard"/>
                          <a:ea typeface="Pretendard"/>
                        </a:rPr>
                      </a:br>
                      <a:r>
                        <a:rPr sz="1050" b="0">
                          <a:solidFill>
                            <a:srgbClr val="647482"/>
                          </a:solidFill>
                          <a:latin typeface="Pretendard"/>
                          <a:ea typeface="Pretendard"/>
                        </a:rPr>
                        <a:t>— 개인 복지 AI 에이전트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C86A7E39-1677-4A30-99E3-4ABB8CCA1913}"/>
              </a:ext>
            </a:extLst>
          </p:cNvPr>
          <p:cNvSpPr>
            <a:spLocks noGrp="1"/>
          </p:cNvSpPr>
          <p:nvPr/>
        </p:nvSpPr>
        <p:spPr>
          <a:xfrm>
            <a:off x="5070985" y="4027938"/>
            <a:ext cx="205002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01" name="Auto Slide Number">
            <a:extLst>
              <a:ext uri="{FF2B5EF4-FFF2-40B4-BE49-F238E27FC236}">
                <a16:creationId xmlns:a16="http://schemas.microsoft.com/office/drawing/2014/main" id="{4A58937D-3246-4958-9319-0AE8941549E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A043E515-D0BA-45BC-B57F-FC1C2BC8EAA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2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866ED27A-227C-4430-9872-E1DA9CAE64E9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lang="ko-KR" sz="1000"/>
          </a:p>
        </p:txBody>
      </p:sp>
    </p:spTree>
    <p:extLst>
      <p:ext uri="{BB962C8B-B14F-4D97-AF65-F5344CB8AC3E}">
        <p14:creationId xmlns:p14="http://schemas.microsoft.com/office/powerpoint/2010/main" val="960433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2D8A6A-BAA6-9096-B1E5-F048C86014F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graphicFrame>
        <p:nvGraphicFramePr>
          <p:cNvPr id="1006" name="표 17"/>
          <p:cNvGraphicFramePr/>
          <p:nvPr/>
        </p:nvGraphicFramePr>
        <p:xfrm>
          <a:off x="744427" y="1145754"/>
          <a:ext cx="10776155" cy="4543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3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2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+mj-ea"/>
                          <a:ea typeface="+mj-ea"/>
                          <a:cs typeface="+mj-ea"/>
                        </a:rPr>
                        <a:t>대학명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12700" cmpd="sng">
                      <a:noFill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영남대학교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+mj-ea"/>
                          <a:ea typeface="+mj-ea"/>
                          <a:cs typeface="+mj-ea"/>
                        </a:rPr>
                        <a:t>팀명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모두봄 (ModooBom)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i="0" u="none" cap="none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j-ea"/>
                        </a:rPr>
                        <a:t>팀원(학과)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김주형(컴퓨터공학전공), 류다영(컴퓨터공학전공), 신주현(컴퓨터공학전공), 이준영(컴퓨터공학전공), 장지웅(컴퓨터공학전공)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i="0" u="none" cap="none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j-ea"/>
                        </a:rPr>
                        <a:t>프로젝트명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모두봄 (ModooBom) — 몰라서 못 받던 복지, 찾기부터 서류 자동발급·신청·관리까지 — 개인 복지 AI 에이전트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8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+mj-ea"/>
                          <a:ea typeface="+mj-ea"/>
                          <a:cs typeface="+mj-ea"/>
                        </a:rPr>
                        <a:t>한줄소개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mpd="sng">
                      <a:solidFill>
                        <a:schemeClr val="tx1"/>
                      </a:solidFill>
                      <a:prstDash val="sysDot"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프로필을 입력하시거나 한 문장만 말씀하시면, 복지정책·복지서비스·장학금·행복주택·서민금융 등 </a:t>
                      </a:r>
                      <a:r>
                        <a:rPr sz="1000" b="1">
                          <a:solidFill>
                            <a:srgbClr val="136A33"/>
                          </a:solidFill>
                          <a:latin typeface="Pretendard"/>
                          <a:ea typeface="Pretendard"/>
                        </a:rPr>
                        <a:t>5,300여 건</a:t>
                      </a:r>
                      <a:r>
                        <a:rPr sz="1000" b="0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 중에서 사용자에게 맞는 제도를 찾아 쉬운 말로 알려드립니다.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필요한 서류 발급과 신청까지 웹에서 바로 도와드리고, 신청 마감과 갱신 시기도 계속 지켜봐 드립니다. </a:t>
                      </a:r>
                      <a:r>
                        <a:rPr sz="1000" b="1">
                          <a:solidFill>
                            <a:srgbClr val="136A33"/>
                          </a:solidFill>
                          <a:latin typeface="Pretendard"/>
                          <a:ea typeface="Pretendard"/>
                        </a:rPr>
                        <a:t>입력하신 정보는 기기 밖으로 나가지 않는 온디바이스 AI</a:t>
                      </a:r>
                      <a:r>
                        <a:rPr sz="1000" b="0">
                          <a:solidFill>
                            <a:srgbClr val="1E2935"/>
                          </a:solidFill>
                          <a:latin typeface="Pretendard"/>
                          <a:ea typeface="Pretendard"/>
                        </a:rPr>
                        <a:t>로 안심하고 쓰실 수 있습니다.</a:t>
                      </a:r>
                    </a:p>
                    <a:p>
                      <a:pPr algn="l">
                        <a:lnSpc>
                          <a:spcPct val="120000"/>
                        </a:lnSpc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647482"/>
                          </a:solidFill>
                          <a:latin typeface="Pretendard"/>
                          <a:ea typeface="Pretendard"/>
                        </a:rPr>
                        <a:t>현재 웹 / 앱으로 서비스 중이며, 지역 복지관 파일럿 테스트를 마쳤습니다 · biocode67.github.io/modoo-bom</a:t>
                      </a:r>
                    </a:p>
                  </a:txBody>
                  <a:tcPr anchor="ctr">
                    <a:lnL w="3175" cmpd="sng">
                      <a:solidFill>
                        <a:schemeClr val="tx1"/>
                      </a:solidFill>
                      <a:prstDash val="sysDot"/>
                    </a:lnL>
                    <a:lnR w="12700" cmpd="sng">
                      <a:noFill/>
                    </a:lnR>
                    <a:lnT w="3175" cmpd="sng">
                      <a:solidFill>
                        <a:schemeClr val="tx1"/>
                      </a:solidFill>
                      <a:prstDash val="sysDot"/>
                    </a:lnT>
                    <a:lnB w="3175" cmpd="sng">
                      <a:solidFill>
                        <a:schemeClr val="tx1"/>
                      </a:solidFill>
                      <a:prstDash val="sysDot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A191824-B2B3-882C-225B-A20742F1D017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- Summary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E81DA4F-8AD4-2E88-1A2A-146560D4B69F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1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002" name="Auto Slide Number">
            <a:extLst>
              <a:ext uri="{FF2B5EF4-FFF2-40B4-BE49-F238E27FC236}">
                <a16:creationId xmlns:a16="http://schemas.microsoft.com/office/drawing/2014/main" id="{61C4CD4E-EC9B-4CD2-B982-FD172997D6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B37562F-DF91-4CB2-B997-3BB225CFA84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2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2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8A02CCFD-7961-4677-8CF5-C80BA8B1DF7F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lang="ko-KR" sz="1000"/>
          </a:p>
        </p:txBody>
      </p:sp>
    </p:spTree>
    <p:extLst>
      <p:ext uri="{BB962C8B-B14F-4D97-AF65-F5344CB8AC3E}">
        <p14:creationId xmlns:p14="http://schemas.microsoft.com/office/powerpoint/2010/main" val="195943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6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7ADD4E6-F6E8-97A3-9EA6-04E64C9E771E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E370232A-6652-0B7B-A2D6-F8802B0F42F4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FD4C6A3-A7FF-DCE0-30BE-4532F9F20CD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875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Pretendard"/>
                <a:ea typeface="Pretendard"/>
                <a:cs typeface="+mj-ea"/>
              </a:rPr>
              <a:t>주제 제안 배경 ① — 우리가 풀고 싶은 문제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2982F96-03E4-48D8-BD6F-F7063C8403CC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003" name="Auto Slide Number">
            <a:extLst>
              <a:ext uri="{FF2B5EF4-FFF2-40B4-BE49-F238E27FC236}">
                <a16:creationId xmlns:a16="http://schemas.microsoft.com/office/drawing/2014/main" id="{C6D880B8-D0AD-4775-B950-A241F3236D3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EC01993F-5AD3-4802-A1CB-F45D0D531D8B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3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EF5474A1-5E3A-44CF-A478-7EEEAFC7DEA0}" type="slidenum">
              <a:rPr 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우리나라의 복지는 대부분 </a:t>
            </a:r>
            <a:r>
              <a:rPr sz="1300" b="1">
                <a:solidFill>
                  <a:srgbClr val="941035"/>
                </a:solidFill>
                <a:latin typeface="Pretendard"/>
                <a:ea typeface="Pretendard"/>
              </a:rPr>
              <a:t>‘직접 신청해야 받을 수 있는’ 구조</a:t>
            </a: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입니다. 그래서 자격이 충분해도, 그런 제도가 있다는 걸 모르면 아무것도 받지 못합니다.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868680" y="1956816"/>
            <a:ext cx="3401568" cy="1810512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651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700" b="0">
                <a:solidFill>
                  <a:srgbClr val="1E2935"/>
                </a:solidFill>
                <a:latin typeface="Pretendard"/>
                <a:ea typeface="Pretendard"/>
              </a:rPr>
              <a:t>🧩  </a:t>
            </a:r>
            <a:r>
              <a:rPr sz="1200" b="1">
                <a:solidFill>
                  <a:srgbClr val="941035"/>
                </a:solidFill>
                <a:latin typeface="Pretendard"/>
                <a:ea typeface="Pretendard"/>
              </a:rPr>
              <a:t>정보가 여기저기 흩어져 있습니다</a:t>
            </a: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복지정책은 중앙부처와 지자체에, 장학금·행복주택·서민금융은 또 각각 다른 사이트에 있습니다. 특히 민간재단의 지원은 어떤 정부 포털에서도 한 번에 찾아볼 수 없습니다.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4453128" y="1956816"/>
            <a:ext cx="3401568" cy="1810512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651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700" b="0">
                <a:solidFill>
                  <a:srgbClr val="1E2935"/>
                </a:solidFill>
                <a:latin typeface="Pretendard"/>
                <a:ea typeface="Pretendard"/>
              </a:rPr>
              <a:t>📖  </a:t>
            </a:r>
            <a:r>
              <a:rPr sz="1200" b="1">
                <a:solidFill>
                  <a:srgbClr val="8A3D0E"/>
                </a:solidFill>
                <a:latin typeface="Pretendard"/>
                <a:ea typeface="Pretendard"/>
              </a:rPr>
              <a:t>말이 너무 어렵습니다</a:t>
            </a: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‘기준 중위소득’, ‘소득인정액’, ‘차상위계층’ 같은 용어가 많아서, 내가 이 제도의 대상이 되는지 스스로 판단하기가 무척 어렵습니다.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8037575" y="1956816"/>
            <a:ext cx="3401568" cy="1810512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651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1700" b="0">
                <a:solidFill>
                  <a:srgbClr val="1E2935"/>
                </a:solidFill>
                <a:latin typeface="Pretendard"/>
                <a:ea typeface="Pretendard"/>
              </a:rPr>
              <a:t>📝  </a:t>
            </a:r>
            <a:r>
              <a:rPr sz="1200" b="1">
                <a:solidFill>
                  <a:srgbClr val="065078"/>
                </a:solidFill>
                <a:latin typeface="Pretendard"/>
                <a:ea typeface="Pretendard"/>
              </a:rPr>
              <a:t>신청 절차가 복잡합니다</a:t>
            </a:r>
          </a:p>
          <a:p>
            <a:pPr algn="l">
              <a:lnSpc>
                <a:spcPct val="126000"/>
              </a:lnSpc>
              <a:spcAft>
                <a:spcPts val="6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어떤 서류가 필요한지 알아보고, 그 서류를 여기저기서 발급받고, 신청하고, 심사 결과를 확인하기까지 — 단계마다 사이트도 방법도 모두 다릅니다.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868680" y="3931920"/>
            <a:ext cx="10561320" cy="566928"/>
          </a:xfrm>
          <a:prstGeom prst="roundRect">
            <a:avLst>
              <a:gd name="adj" fmla="val 9000"/>
            </a:avLst>
          </a:prstGeom>
          <a:solidFill>
            <a:srgbClr val="1E2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Pretendard"/>
                <a:ea typeface="Pretendard"/>
              </a:rPr>
              <a:t>그 결과, 자격이 있어도 </a:t>
            </a:r>
            <a:r>
              <a:rPr sz="1300" b="1">
                <a:solidFill>
                  <a:srgbClr val="9DF7C0"/>
                </a:solidFill>
                <a:latin typeface="Pretendard"/>
                <a:ea typeface="Pretendard"/>
              </a:rPr>
              <a:t>몰라서 · 어려워서 · 번거로워서 못 받는 일</a:t>
            </a:r>
            <a:r>
              <a:rPr sz="1250" b="0">
                <a:solidFill>
                  <a:srgbClr val="FFFFFF"/>
                </a:solidFill>
                <a:latin typeface="Pretendard"/>
                <a:ea typeface="Pretendard"/>
              </a:rPr>
              <a:t> 이 반복되고 있습니다.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68680" y="4736592"/>
            <a:ext cx="1056132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E2935"/>
                </a:solidFill>
                <a:latin typeface="Pretendard"/>
                <a:ea typeface="Pretendard"/>
              </a:rPr>
              <a:t>그리고 안타깝게도, 이런 어려움은 도움이 가장 필요한 분들에게 더 크게 다가옵니다.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868680" y="5047488"/>
            <a:ext cx="2029968" cy="713232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👵 독거 어르신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80" b="0">
                <a:solidFill>
                  <a:srgbClr val="1E2935"/>
                </a:solidFill>
                <a:latin typeface="Pretendard"/>
                <a:ea typeface="Pretendard"/>
              </a:rPr>
              <a:t>복잡한 웹·용어의 벽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3008376" y="5047488"/>
            <a:ext cx="2029968" cy="713232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♿ 장애인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80" b="0">
                <a:solidFill>
                  <a:srgbClr val="1E2935"/>
                </a:solidFill>
                <a:latin typeface="Pretendard"/>
                <a:ea typeface="Pretendard"/>
              </a:rPr>
              <a:t>정보가 가장 흩어진 영역</a:t>
            </a:r>
          </a:p>
        </p:txBody>
      </p:sp>
      <p:sp>
        <p:nvSpPr>
          <p:cNvPr id="1024" name="Rounded Rectangle 1023"/>
          <p:cNvSpPr/>
          <p:nvPr/>
        </p:nvSpPr>
        <p:spPr>
          <a:xfrm>
            <a:off x="5148072" y="5047488"/>
            <a:ext cx="2029968" cy="713232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👩‍👧 한부모·다문화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80" b="0">
                <a:solidFill>
                  <a:srgbClr val="1E2935"/>
                </a:solidFill>
                <a:latin typeface="Pretendard"/>
                <a:ea typeface="Pretendard"/>
              </a:rPr>
              <a:t>겹치고 놓치기 쉬운 지원</a:t>
            </a:r>
          </a:p>
        </p:txBody>
      </p:sp>
      <p:sp>
        <p:nvSpPr>
          <p:cNvPr id="1025" name="Rounded Rectangle 1024"/>
          <p:cNvSpPr/>
          <p:nvPr/>
        </p:nvSpPr>
        <p:spPr>
          <a:xfrm>
            <a:off x="7287768" y="5047488"/>
            <a:ext cx="2029968" cy="713232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🧑 위기 청년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80" b="0">
                <a:solidFill>
                  <a:srgbClr val="1E2935"/>
                </a:solidFill>
                <a:latin typeface="Pretendard"/>
                <a:ea typeface="Pretendard"/>
              </a:rPr>
              <a:t>제도를 모른 채 고립</a:t>
            </a:r>
          </a:p>
        </p:txBody>
      </p:sp>
      <p:sp>
        <p:nvSpPr>
          <p:cNvPr id="1026" name="Rounded Rectangle 1025"/>
          <p:cNvSpPr/>
          <p:nvPr/>
        </p:nvSpPr>
        <p:spPr>
          <a:xfrm>
            <a:off x="9427463" y="5047488"/>
            <a:ext cx="2029968" cy="713232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🌏 외국인 주민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80" b="0">
                <a:solidFill>
                  <a:srgbClr val="1E2935"/>
                </a:solidFill>
                <a:latin typeface="Pretendard"/>
                <a:ea typeface="Pretendard"/>
              </a:rPr>
              <a:t>언어 장벽까지 이중고</a:t>
            </a:r>
          </a:p>
        </p:txBody>
      </p:sp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6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7ADD4E6-F6E8-97A3-9EA6-04E64C9E771E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E370232A-6652-0B7B-A2D6-F8802B0F42F4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FD4C6A3-A7FF-DCE0-30BE-4532F9F20CD2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875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Pretendard"/>
                <a:ea typeface="Pretendard"/>
                <a:cs typeface="+mj-ea"/>
              </a:rPr>
              <a:t>주제 제안 배경 ② — 직접 만들어 보며 알게 된 것들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2982F96-03E4-48D8-BD6F-F7063C8403CC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003" name="Auto Slide Number">
            <a:extLst>
              <a:ext uri="{FF2B5EF4-FFF2-40B4-BE49-F238E27FC236}">
                <a16:creationId xmlns:a16="http://schemas.microsoft.com/office/drawing/2014/main" id="{C6D880B8-D0AD-4775-B950-A241F3236D3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EC01993F-5AD3-4802-A1CB-F45D0D531D8B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4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EF5474A1-5E3A-44CF-A478-7EEEAFC7DEA0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935"/>
                </a:solidFill>
                <a:latin typeface="Pretendard"/>
                <a:ea typeface="Pretendard"/>
              </a:rPr>
              <a:t>저희는 구상에 그치지 않고 실제로 서비스를 만들어 써 보았습니다. 그 과정에서 이 문제가 얼마나 큰지, 그리고 </a:t>
            </a:r>
            <a:r>
              <a:rPr sz="1250" b="1">
                <a:solidFill>
                  <a:srgbClr val="136A33"/>
                </a:solidFill>
                <a:latin typeface="Pretendard"/>
                <a:ea typeface="Pretendard"/>
              </a:rPr>
              <a:t>어떻게 도울 수 있는지</a:t>
            </a:r>
            <a:r>
              <a:rPr sz="1250" b="0">
                <a:solidFill>
                  <a:srgbClr val="1E2935"/>
                </a:solidFill>
                <a:latin typeface="Pretendard"/>
                <a:ea typeface="Pretendard"/>
              </a:rPr>
              <a:t> 하나씩 확인할 수 있었습니다.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868680" y="1975104"/>
            <a:ext cx="5166360" cy="1536192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651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800" b="1">
                <a:solidFill>
                  <a:srgbClr val="136A33"/>
                </a:solidFill>
                <a:latin typeface="Pretendard"/>
                <a:ea typeface="Pretendard"/>
              </a:rPr>
              <a:t>5,300여 건   </a:t>
            </a: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여러 곳에 흩어진 제도를 한자리에 모아 보았습니다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복지정책(중앙 460건·지자체 4,683건)에 장학금·행복주택·서민금융을 더하고, 정부 포털엔 없는 민간재단 지원 21곳까지 한 번에 찾아볼 수 있게 정리했습니다.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6263640" y="1975104"/>
            <a:ext cx="5166360" cy="1536192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651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800" b="1">
                <a:solidFill>
                  <a:srgbClr val="941035"/>
                </a:solidFill>
                <a:latin typeface="Pretendard"/>
                <a:ea typeface="Pretendard"/>
              </a:rPr>
              <a:t>월 최대 63.9만원   </a:t>
            </a: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한 분이 놓치고 계시던 금액을 찾아드렸습니다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혼자 사시는 어르신(중위소득 25%) 한 분이 모르고 계시던 핵심 현금성 지원을 실제로 찾아드릴 수 있었습니다. 공식 기준으로 검증한 월 최대 금액입니다.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868680" y="3602736"/>
            <a:ext cx="5166360" cy="1536192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651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800" b="1">
                <a:solidFill>
                  <a:srgbClr val="065078"/>
                </a:solidFill>
                <a:latin typeface="Pretendard"/>
                <a:ea typeface="Pretendard"/>
              </a:rPr>
              <a:t>13종 → 클릭 한 번   </a:t>
            </a: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서류의 문턱을 낮춰 보았습니다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복지 신청에 자주 쓰이는 증명서류 13종을, 따로 프로그램을 설치하지 않아도 웹에서 바로 발급받을 수 있도록 연결해 두었습니다.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6263640" y="3602736"/>
            <a:ext cx="5166360" cy="1536192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651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800" b="1">
                <a:solidFill>
                  <a:srgbClr val="5B21B6"/>
                </a:solidFill>
                <a:latin typeface="Pretendard"/>
                <a:ea typeface="Pretendard"/>
              </a:rPr>
              <a:t>7개 언어   </a:t>
            </a: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언어의 벽도 낮출 수 있었습니다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영어·베트남어·중국어 등 여러 언어로 묻고 답을 받을 수 있습니다. 외국인·다문화 가정도 모국어로 복지를 찾아볼 수 있습니다.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868680" y="5321807"/>
            <a:ext cx="10561320" cy="457200"/>
          </a:xfrm>
          <a:prstGeom prst="roundRect">
            <a:avLst>
              <a:gd name="adj" fmla="val 9000"/>
            </a:avLst>
          </a:prstGeom>
          <a:solidFill>
            <a:srgbClr val="F7F9FB"/>
          </a:solidFill>
          <a:ln w="1270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1E2935"/>
                </a:solidFill>
                <a:latin typeface="Pretendard"/>
                <a:ea typeface="Pretendard"/>
              </a:rPr>
              <a:t>주로 도우려는 분들은 </a:t>
            </a: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정보를 접하기 어려운 취약계층</a:t>
            </a:r>
            <a:r>
              <a:rPr sz="1050" b="0">
                <a:solidFill>
                  <a:srgbClr val="1E2935"/>
                </a:solidFill>
                <a:latin typeface="Pretendard"/>
                <a:ea typeface="Pretendard"/>
              </a:rPr>
              <a:t>(어르신·장애인·한부모·다문화·위기청년·외국인)이며, 이분들의 복지를 대신 챙기시는 가족과 사회복지 종사자분들도 함께 돕습니다.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  <a:defRPr/>
            </a:pPr>
            <a:endParaRPr/>
          </a:p>
        </p:txBody>
      </p:sp>
      <p:cxnSp>
        <p:nvCxnSpPr>
          <p:cNvPr id="1006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w="sm" len="sm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/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300" b="1">
                <a:solidFill>
                  <a:schemeClr val="dk1"/>
                </a:solidFill>
                <a:latin typeface="맑은 고딕"/>
                <a:ea typeface="맑은 고딕"/>
                <a:cs typeface="맑은 고딕"/>
              </a:rPr>
              <a:t>예선 산출물 – 아이디어 기획서</a:t>
            </a:r>
          </a:p>
        </p:txBody>
      </p:sp>
      <p:sp>
        <p:nvSpPr>
          <p:cNvPr id="4" name="Google Shape;100;p2"/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000" b="1">
                <a:solidFill>
                  <a:srgbClr val="AEAEAE"/>
                </a:solidFill>
                <a:latin typeface="맑은 고딕"/>
                <a:ea typeface="맑은 고딕"/>
                <a:cs typeface="맑은 고딕"/>
              </a:rPr>
              <a:t>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w="sm" len="sm"/>
            <a:tailEnd w="sm" len="sm"/>
          </a:ln>
        </p:spPr>
      </p:cxnSp>
      <p:sp>
        <p:nvSpPr>
          <p:cNvPr id="14" name="Google Shape;101;p2"/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939333" y="1189703"/>
            <a:ext cx="9875520" cy="360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>
                <a:latin typeface="Pretendard"/>
                <a:ea typeface="Pretendard"/>
                <a:cs typeface="+mj-ea"/>
              </a:rPr>
              <a:t>주제 제안 배경 ③ — 왜 AI 에이전트여야 할까요</a:t>
            </a:r>
          </a:p>
        </p:txBody>
      </p:sp>
      <p:sp>
        <p:nvSpPr>
          <p:cNvPr id="10" name="직선 연결선 3"/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lvl="0">
              <a:defRPr/>
            </a:pPr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003" name="Auto Slide Number"/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/>
            </a:pPr>
            <a:fld id="{EC01993F-5AD3-4802-A1CB-F45D0D531D8B}" type="slidenum">
              <a:rPr lang="en-US" sz="1000">
                <a:solidFill>
                  <a:srgbClr val="757575"/>
                </a:solidFill>
                <a:latin typeface="맑은 고딕"/>
                <a:ea typeface="맑은 고딕"/>
                <a:cs typeface="맑은 고딕"/>
              </a:rPr>
              <a:pPr algn="ctr">
                <a:buNone/>
                <a:defRPr/>
              </a:pPr>
              <a:t>5</a:t>
            </a:fld>
            <a:endParaRPr lang="en-US" sz="1000">
              <a:solidFill>
                <a:srgbClr val="75757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>
              <a:defRPr/>
            </a:pPr>
            <a:fld id="{EF5474A1-5E3A-44CF-A478-7EEEAFC7DEA0}" type="slidenum">
              <a:rPr lang="en-US" altLang="ko-KR" sz="1000">
                <a:solidFill>
                  <a:srgbClr val="757575"/>
                </a:solidFill>
                <a:latin typeface="맑은 고딕"/>
                <a:ea typeface="맑은 고딕"/>
                <a:cs typeface="맑은 고딕"/>
                <a:sym typeface="맑은 고딕"/>
              </a:rPr>
              <a:pPr algn="ctr">
                <a:defRPr/>
              </a:pPr>
              <a:t>5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/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복지 검색 사이트는 이미 있습니다. 하지만 진짜 어려움은 검색이 아니라, </a:t>
            </a:r>
            <a:r>
              <a:rPr sz="1300" b="1">
                <a:solidFill>
                  <a:srgbClr val="941035"/>
                </a:solidFill>
                <a:latin typeface="Pretendard"/>
                <a:ea typeface="Pretendard"/>
              </a:rPr>
              <a:t>‘찾고 · 이해하고 · 신청하고 · 관리하는’ 전 과정</a:t>
            </a: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에 있습니다.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868680" y="1993392"/>
            <a:ext cx="5120640" cy="1664208"/>
          </a:xfrm>
          <a:prstGeom prst="roundRect">
            <a:avLst>
              <a:gd name="adj" fmla="val 9000"/>
            </a:avLst>
          </a:prstGeom>
          <a:solidFill>
            <a:srgbClr val="F2F4F7"/>
          </a:solidFill>
          <a:ln w="15240">
            <a:solidFill>
              <a:srgbClr val="647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anchor="t"/>
          <a:lstStyle/>
          <a:p>
            <a:pPr algn="l">
              <a:lnSpc>
                <a:spcPct val="128000"/>
              </a:lnSpc>
              <a:spcAft>
                <a:spcPts val="400"/>
              </a:spcAft>
              <a:defRPr/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기존 방식 — 정보를 검색해서 보여주기</a:t>
            </a:r>
          </a:p>
          <a:p>
            <a:pPr algn="l">
              <a:lnSpc>
                <a:spcPct val="128000"/>
              </a:lnSpc>
              <a:spcAft>
                <a:spcPts val="400"/>
              </a:spcAft>
              <a:defRPr/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검색 결과를 목록으로 보여줄 뿐, 판단하고 이해하고 신청하고 관리하는 일은 모두 사용자의 몫으로 남습니다.</a:t>
            </a:r>
          </a:p>
          <a:p>
            <a:pPr algn="l">
              <a:lnSpc>
                <a:spcPct val="128000"/>
              </a:lnSpc>
              <a:spcAft>
                <a:spcPts val="400"/>
              </a:spcAft>
              <a:defRPr/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그래서 도움이 가장 필요한 분들이 오히려 가장 쓰기 어려운 구조가 됩니다.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6355080" y="1993392"/>
            <a:ext cx="5074920" cy="1664208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anchor="t"/>
          <a:lstStyle/>
          <a:p>
            <a:pPr algn="l">
              <a:lnSpc>
                <a:spcPct val="128000"/>
              </a:lnSpc>
              <a:spcAft>
                <a:spcPts val="400"/>
              </a:spcAft>
              <a:defRPr/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모두봄 — 전 과정을 대신 도와드리기</a:t>
            </a:r>
          </a:p>
          <a:p>
            <a:pPr algn="l">
              <a:lnSpc>
                <a:spcPct val="128000"/>
              </a:lnSpc>
              <a:spcAft>
                <a:spcPts val="400"/>
              </a:spcAft>
              <a:defRPr/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상황을 </a:t>
            </a:r>
            <a:r>
              <a:rPr sz="1000" b="1">
                <a:solidFill>
                  <a:srgbClr val="136A33"/>
                </a:solidFill>
                <a:latin typeface="Pretendard"/>
                <a:ea typeface="Pretendard"/>
              </a:rPr>
              <a:t>파악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하고, 자격을 </a:t>
            </a:r>
            <a:r>
              <a:rPr sz="1000" b="1">
                <a:solidFill>
                  <a:srgbClr val="136A33"/>
                </a:solidFill>
                <a:latin typeface="Pretendard"/>
                <a:ea typeface="Pretendard"/>
              </a:rPr>
              <a:t>판단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하고, 쉬운 말과 여러 언어로 </a:t>
            </a:r>
            <a:r>
              <a:rPr sz="1000" b="1">
                <a:solidFill>
                  <a:srgbClr val="136A33"/>
                </a:solidFill>
                <a:latin typeface="Pretendard"/>
                <a:ea typeface="Pretendard"/>
              </a:rPr>
              <a:t>설명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해 드립니다.</a:t>
            </a:r>
          </a:p>
          <a:p>
            <a:pPr algn="l">
              <a:lnSpc>
                <a:spcPct val="128000"/>
              </a:lnSpc>
              <a:spcAft>
                <a:spcPts val="400"/>
              </a:spcAft>
              <a:defRPr/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이어서 서류 발급과 신청을 </a:t>
            </a:r>
            <a:r>
              <a:rPr sz="1000" b="1">
                <a:solidFill>
                  <a:srgbClr val="136A33"/>
                </a:solidFill>
                <a:latin typeface="Pretendard"/>
                <a:ea typeface="Pretendard"/>
              </a:rPr>
              <a:t>대신 실행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하고, 마감과 갱신 시기를 계속 </a:t>
            </a:r>
            <a:r>
              <a:rPr sz="1000" b="1">
                <a:solidFill>
                  <a:srgbClr val="136A33"/>
                </a:solidFill>
                <a:latin typeface="Pretendard"/>
                <a:ea typeface="Pretendard"/>
              </a:rPr>
              <a:t>지켜봐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 드립니다.</a:t>
            </a:r>
          </a:p>
          <a:p>
            <a:pPr algn="l">
              <a:lnSpc>
                <a:spcPct val="128000"/>
              </a:lnSpc>
              <a:spcAft>
                <a:spcPts val="400"/>
              </a:spcAft>
              <a:defRPr/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그래서 모두봄은 단순한 챗봇이 아니라, </a:t>
            </a:r>
            <a:r>
              <a:rPr sz="1000" b="1">
                <a:solidFill>
                  <a:srgbClr val="136A33"/>
                </a:solidFill>
                <a:latin typeface="Pretendard"/>
                <a:ea typeface="Pretendard"/>
              </a:rPr>
              <a:t>이 모든 과정을 함께 도는 에이전트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입니다.</a:t>
            </a:r>
          </a:p>
        </p:txBody>
      </p:sp>
      <p:sp>
        <p:nvSpPr>
          <p:cNvPr id="1019" name="Right Arrow 1018"/>
          <p:cNvSpPr/>
          <p:nvPr/>
        </p:nvSpPr>
        <p:spPr>
          <a:xfrm>
            <a:off x="6007608" y="2633472"/>
            <a:ext cx="329184" cy="45720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020" name="Rounded Rectangle 1019"/>
          <p:cNvSpPr/>
          <p:nvPr/>
        </p:nvSpPr>
        <p:spPr>
          <a:xfrm>
            <a:off x="868680" y="3877056"/>
            <a:ext cx="10561320" cy="786384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anchor="ctr"/>
          <a:lstStyle/>
          <a:p>
            <a:pPr algn="l">
              <a:lnSpc>
                <a:spcPct val="120000"/>
              </a:lnSpc>
              <a:spcAft>
                <a:spcPts val="200"/>
              </a:spcAft>
              <a:defRPr/>
            </a:pPr>
            <a:r>
              <a:rPr sz="1100" b="1">
                <a:solidFill>
                  <a:srgbClr val="5B21B6"/>
                </a:solidFill>
                <a:latin typeface="Pretendard"/>
                <a:ea typeface="Pretendard"/>
              </a:rPr>
              <a:t>한 가지 더 — 복지 대상자의 소득·장애·가구 정보는 무척 민감한 개인정보입니다.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  <a:defRPr/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그래서 저희는 이 정보를 서버로 보내지 않고 </a:t>
            </a:r>
            <a:r>
              <a:rPr sz="1000" b="1">
                <a:solidFill>
                  <a:srgbClr val="5B21B6"/>
                </a:solidFill>
                <a:latin typeface="Pretendard"/>
                <a:ea typeface="Pretendard"/>
              </a:rPr>
              <a:t>사용자의 기기 안에서만 처리하는 온디바이스 방식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을 택했습니다. ‘잘 찾아드리는 것’과 ‘안심하고 맡기실 수 있는 것’을 함께 지키기 위해서입니다.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68680" y="4773168"/>
            <a:ext cx="1056132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  <a:defRPr/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그리고 이건 구상이 아니라, 예선 시점에 이미 라이브로 동작하고 있는 서비스입니다.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868680" y="5047488"/>
            <a:ext cx="3401568" cy="822960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anchor="t"/>
          <a:lstStyle/>
          <a:p>
            <a:pPr algn="l">
              <a:lnSpc>
                <a:spcPct val="118000"/>
              </a:lnSpc>
              <a:spcAft>
                <a:spcPts val="400"/>
              </a:spcAft>
              <a:defRPr/>
            </a:pPr>
            <a:r>
              <a:rPr sz="1100" b="1">
                <a:solidFill>
                  <a:srgbClr val="1E2935"/>
                </a:solidFill>
                <a:latin typeface="Pretendard"/>
                <a:ea typeface="Pretendard"/>
              </a:rPr>
              <a:t>🌱 지금 바로 써보실 수 있어요</a:t>
            </a:r>
          </a:p>
          <a:p>
            <a:pPr algn="l">
              <a:lnSpc>
                <a:spcPct val="118000"/>
              </a:lnSpc>
              <a:spcAft>
                <a:spcPts val="400"/>
              </a:spcAft>
              <a:defRPr/>
            </a:pPr>
            <a:r>
              <a:rPr sz="918" b="0">
                <a:solidFill>
                  <a:srgbClr val="1E2935"/>
                </a:solidFill>
                <a:latin typeface="Pretendard"/>
                <a:ea typeface="Pretendard"/>
              </a:rPr>
              <a:t>설치나 로그인 없이 웹에서 즉시 체험하실 수 있습니다.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4453128" y="5047488"/>
            <a:ext cx="3401568" cy="822960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anchor="t"/>
          <a:lstStyle/>
          <a:p>
            <a:pPr algn="l">
              <a:lnSpc>
                <a:spcPct val="118000"/>
              </a:lnSpc>
              <a:spcAft>
                <a:spcPts val="400"/>
              </a:spcAft>
              <a:defRPr/>
            </a:pPr>
            <a:r>
              <a:rPr sz="1100" b="1">
                <a:solidFill>
                  <a:srgbClr val="1E2935"/>
                </a:solidFill>
                <a:latin typeface="Pretendard"/>
                <a:ea typeface="Pretendard"/>
              </a:rPr>
              <a:t>🧪 자동 테스트 426개</a:t>
            </a:r>
          </a:p>
          <a:p>
            <a:pPr algn="l">
              <a:lnSpc>
                <a:spcPct val="118000"/>
              </a:lnSpc>
              <a:spcAft>
                <a:spcPts val="400"/>
              </a:spcAft>
              <a:defRPr/>
            </a:pPr>
            <a:r>
              <a:rPr sz="918" b="0">
                <a:solidFill>
                  <a:srgbClr val="1E2935"/>
                </a:solidFill>
                <a:latin typeface="Pretendard"/>
                <a:ea typeface="Pretendard"/>
              </a:rPr>
              <a:t>금액과 자격 판정이 어긋나지 않도록 매번 자동으로 검증합니다.</a:t>
            </a:r>
          </a:p>
        </p:txBody>
      </p:sp>
      <p:sp>
        <p:nvSpPr>
          <p:cNvPr id="1024" name="Rounded Rectangle 1023"/>
          <p:cNvSpPr/>
          <p:nvPr/>
        </p:nvSpPr>
        <p:spPr>
          <a:xfrm>
            <a:off x="8037575" y="5047488"/>
            <a:ext cx="3401568" cy="822960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anchor="t"/>
          <a:lstStyle/>
          <a:p>
            <a:pPr algn="l">
              <a:lnSpc>
                <a:spcPct val="118000"/>
              </a:lnSpc>
              <a:spcAft>
                <a:spcPts val="400"/>
              </a:spcAft>
              <a:defRPr/>
            </a:pPr>
            <a:r>
              <a:rPr sz="1100" b="1">
                <a:solidFill>
                  <a:srgbClr val="1E2935"/>
                </a:solidFill>
                <a:latin typeface="Pretendard"/>
                <a:ea typeface="Pretendard"/>
              </a:rPr>
              <a:t>📊 모든 금액을 공식 출처로</a:t>
            </a:r>
          </a:p>
          <a:p>
            <a:pPr algn="l">
              <a:lnSpc>
                <a:spcPct val="118000"/>
              </a:lnSpc>
              <a:spcAft>
                <a:spcPts val="400"/>
              </a:spcAft>
              <a:defRPr/>
            </a:pPr>
            <a:r>
              <a:rPr sz="918" b="0">
                <a:solidFill>
                  <a:srgbClr val="1E2935"/>
                </a:solidFill>
                <a:latin typeface="Pretendard"/>
                <a:ea typeface="Pretendard"/>
              </a:rPr>
              <a:t>기초연금 349,700원 등 2026년 보건복지부 기준으로 전부 확인했습니다.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  <a:defRPr/>
            </a:pPr>
            <a:endParaRPr/>
          </a:p>
        </p:txBody>
      </p:sp>
      <p:cxnSp>
        <p:nvCxnSpPr>
          <p:cNvPr id="1006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w="sm" len="sm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/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300" b="1">
                <a:solidFill>
                  <a:schemeClr val="dk1"/>
                </a:solidFill>
                <a:latin typeface="맑은 고딕"/>
                <a:ea typeface="맑은 고딕"/>
                <a:cs typeface="맑은 고딕"/>
              </a:rPr>
              <a:t>예선 산출물 – 아이디어 기획서</a:t>
            </a:r>
          </a:p>
        </p:txBody>
      </p:sp>
      <p:sp>
        <p:nvSpPr>
          <p:cNvPr id="4" name="Google Shape;100;p2"/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000" b="1">
                <a:solidFill>
                  <a:srgbClr val="AEAEAE"/>
                </a:solidFill>
                <a:latin typeface="맑은 고딕"/>
                <a:ea typeface="맑은 고딕"/>
                <a:cs typeface="맑은 고딕"/>
              </a:rPr>
              <a:t>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w="sm" len="sm"/>
            <a:tailEnd w="sm" len="sm"/>
          </a:ln>
        </p:spPr>
      </p:cxnSp>
      <p:sp>
        <p:nvSpPr>
          <p:cNvPr id="14" name="Google Shape;101;p2"/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939333" y="1189703"/>
            <a:ext cx="9875520" cy="360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>
                <a:latin typeface="Pretendard"/>
                <a:ea typeface="Pretendard"/>
                <a:cs typeface="+mj-ea"/>
              </a:rPr>
              <a:t>주제 제안 배경 ④ — </a:t>
            </a:r>
            <a:r>
              <a:rPr lang="ko-KR" altLang="en-US">
                <a:latin typeface="Pretendard"/>
                <a:ea typeface="Pretendard"/>
                <a:cs typeface="+mj-ea"/>
              </a:rPr>
              <a:t>기존 서비스와 무엇이 다를까요</a:t>
            </a:r>
          </a:p>
        </p:txBody>
      </p:sp>
      <p:sp>
        <p:nvSpPr>
          <p:cNvPr id="10" name="직선 연결선 3"/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lvl="0">
              <a:defRPr/>
            </a:pPr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003" name="Auto Slide Number"/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/>
            </a:pPr>
            <a:fld id="{EC01993F-5AD3-4802-A1CB-F45D0D531D8B}" type="slidenum">
              <a:rPr lang="en-US" sz="1000">
                <a:solidFill>
                  <a:srgbClr val="757575"/>
                </a:solidFill>
                <a:latin typeface="맑은 고딕"/>
                <a:ea typeface="맑은 고딕"/>
                <a:cs typeface="맑은 고딕"/>
              </a:rPr>
              <a:pPr algn="ctr">
                <a:buNone/>
                <a:defRPr/>
              </a:pPr>
              <a:t>6</a:t>
            </a:fld>
            <a:endParaRPr lang="en-US" sz="1000">
              <a:solidFill>
                <a:srgbClr val="757575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ctr">
              <a:defRPr/>
            </a:pPr>
            <a:fld id="{EF5474A1-5E3A-44CF-A478-7EEEAFC7DEA0}" type="slidenum">
              <a:rPr lang="en-US" altLang="ko-KR" sz="1000">
                <a:solidFill>
                  <a:srgbClr val="757575"/>
                </a:solidFill>
                <a:latin typeface="맑은 고딕"/>
                <a:ea typeface="맑은 고딕"/>
                <a:cs typeface="맑은 고딕"/>
                <a:sym typeface="맑은 고딕"/>
              </a:rPr>
              <a:pPr algn="ctr">
                <a:defRPr/>
              </a:pPr>
              <a:t>6</a:t>
            </a:fld>
            <a:endParaRPr lang="en-US" altLang="ko-KR" sz="1000">
              <a:solidFill>
                <a:srgbClr val="757575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1E2935"/>
                </a:solidFill>
                <a:latin typeface="Pretendard"/>
              </a:rPr>
              <a:t>복지 정보를 보여주는 좋은 서비스는 이미 여럿 있습니다. 모두봄은 여기서 한 걸음 더 나아가 </a:t>
            </a:r>
            <a:r>
              <a:rPr sz="1300" b="1">
                <a:solidFill>
                  <a:srgbClr val="941035"/>
                </a:solidFill>
                <a:latin typeface="Pretendard"/>
              </a:rPr>
              <a:t>‘찾고·이해하고·신청하고·관리하는’ 전 과정을 개인정보를 지키며 하나로</a:t>
            </a:r>
            <a:r>
              <a:rPr sz="1300" b="0">
                <a:solidFill>
                  <a:srgbClr val="1E2935"/>
                </a:solidFill>
                <a:latin typeface="Pretendard"/>
              </a:rPr>
              <a:t> 잇습니다.</a:t>
            </a:r>
          </a:p>
        </p:txBody>
      </p:sp>
      <p:graphicFrame>
        <p:nvGraphicFramePr>
          <p:cNvPr id="1017" name="Table 1016"/>
          <p:cNvGraphicFramePr>
            <a:graphicFrameLocks noGrp="1"/>
          </p:cNvGraphicFramePr>
          <p:nvPr/>
        </p:nvGraphicFramePr>
        <p:xfrm>
          <a:off x="868680" y="2212848"/>
          <a:ext cx="10561320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Pretendard"/>
                        </a:rPr>
                        <a:t>비교 항목</a:t>
                      </a:r>
                    </a:p>
                  </a:txBody>
                  <a:tcPr marL="82296" marR="54864" marT="27432" marB="27432" anchor="ctr">
                    <a:solidFill>
                      <a:srgbClr val="1E2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복지로·정부24</a:t>
                      </a:r>
                      <a:br>
                        <a:rPr sz="800" b="0">
                          <a:solidFill>
                            <a:srgbClr val="CBD5E1"/>
                          </a:solidFill>
                          <a:latin typeface="Pretendard"/>
                        </a:rPr>
                      </a:br>
                      <a:r>
                        <a:rPr sz="800" b="0">
                          <a:solidFill>
                            <a:srgbClr val="CBD5E1"/>
                          </a:solidFill>
                          <a:latin typeface="Pretendard"/>
                        </a:rPr>
                        <a:t>공공 서비스</a:t>
                      </a:r>
                    </a:p>
                  </a:txBody>
                  <a:tcPr marL="82296" marR="54864" marT="27432" marB="27432" anchor="ctr">
                    <a:solidFill>
                      <a:srgbClr val="1E2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Pretendard"/>
                        </a:rPr>
                        <a:t>토스·카카오뱅크</a:t>
                      </a:r>
                      <a:br>
                        <a:rPr sz="800" b="0">
                          <a:solidFill>
                            <a:srgbClr val="CBD5E1"/>
                          </a:solidFill>
                          <a:latin typeface="Pretendard"/>
                        </a:rPr>
                      </a:br>
                      <a:r>
                        <a:rPr sz="800" b="0">
                          <a:solidFill>
                            <a:srgbClr val="CBD5E1"/>
                          </a:solidFill>
                          <a:latin typeface="Pretendard"/>
                        </a:rPr>
                        <a:t>민간 앱</a:t>
                      </a:r>
                    </a:p>
                  </a:txBody>
                  <a:tcPr marL="82296" marR="54864" marT="27432" marB="27432" anchor="ctr">
                    <a:solidFill>
                      <a:srgbClr val="1E29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</a:rPr>
                        <a:t>모두봄</a:t>
                      </a:r>
                    </a:p>
                  </a:txBody>
                  <a:tcPr marL="82296" marR="54864" marT="27432" marB="27432" anchor="ctr"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000" b="1">
                          <a:solidFill>
                            <a:srgbClr val="1E2935"/>
                          </a:solidFill>
                          <a:latin typeface="Pretendard"/>
                        </a:rPr>
                        <a:t>정보 통합 범위</a:t>
                      </a:r>
                    </a:p>
                  </a:txBody>
                  <a:tcPr marL="82296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50" b="0">
                          <a:solidFill>
                            <a:srgbClr val="475467"/>
                          </a:solidFill>
                          <a:latin typeface="Pretendard"/>
                        </a:rPr>
                        <a:t>정부·공공 제도 대규모 통합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50" b="0">
                          <a:solidFill>
                            <a:srgbClr val="475467"/>
                          </a:solidFill>
                          <a:latin typeface="Pretendard"/>
                        </a:rPr>
                        <a:t>정부·지자체 지원금 맞춤 조회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50" b="1">
                          <a:solidFill>
                            <a:srgbClr val="136A33"/>
                          </a:solidFill>
                          <a:latin typeface="Pretendard"/>
                        </a:rPr>
                        <a:t>✓ </a:t>
                      </a:r>
                      <a:r>
                        <a:rPr sz="950" b="1">
                          <a:solidFill>
                            <a:srgbClr val="1E2935"/>
                          </a:solidFill>
                          <a:latin typeface="Pretendard"/>
                        </a:rPr>
                        <a:t>정부·지자체+민간재단 5,300여 건</a:t>
                      </a:r>
                    </a:p>
                  </a:txBody>
                  <a:tcPr marL="82296" marR="54864" marT="27432" marB="27432" anchor="ctr">
                    <a:solidFill>
                      <a:srgbClr val="ECF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000" b="1">
                          <a:solidFill>
                            <a:srgbClr val="1E2935"/>
                          </a:solidFill>
                          <a:latin typeface="Pretendard"/>
                        </a:rPr>
                        <a:t>맞춤 자격 안내</a:t>
                      </a:r>
                    </a:p>
                  </a:txBody>
                  <a:tcPr marL="82296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50" b="0">
                          <a:solidFill>
                            <a:srgbClr val="475467"/>
                          </a:solidFill>
                          <a:latin typeface="Pretendard"/>
                        </a:rPr>
                        <a:t>복지멤버십·보조금24 맞춤 안내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50" b="0">
                          <a:solidFill>
                            <a:srgbClr val="475467"/>
                          </a:solidFill>
                          <a:latin typeface="Pretendard"/>
                        </a:rPr>
                        <a:t>간단한 입력으로 맞춤 추천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50" b="1">
                          <a:solidFill>
                            <a:srgbClr val="136A33"/>
                          </a:solidFill>
                          <a:latin typeface="Pretendard"/>
                        </a:rPr>
                        <a:t>✓ </a:t>
                      </a:r>
                      <a:r>
                        <a:rPr sz="950" b="1">
                          <a:solidFill>
                            <a:srgbClr val="1E2935"/>
                          </a:solidFill>
                          <a:latin typeface="Pretendard"/>
                        </a:rPr>
                        <a:t>2026 공식기준 자동 판정</a:t>
                      </a:r>
                    </a:p>
                  </a:txBody>
                  <a:tcPr marL="82296" marR="54864" marT="27432" marB="27432" anchor="ctr">
                    <a:solidFill>
                      <a:srgbClr val="ECF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000" b="1">
                          <a:solidFill>
                            <a:srgbClr val="1E2935"/>
                          </a:solidFill>
                          <a:latin typeface="Pretendard"/>
                        </a:rPr>
                        <a:t>쉬운 이해·다국어</a:t>
                      </a:r>
                    </a:p>
                  </a:txBody>
                  <a:tcPr marL="82296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50" b="0">
                          <a:solidFill>
                            <a:srgbClr val="475467"/>
                          </a:solidFill>
                          <a:latin typeface="Pretendard"/>
                        </a:rPr>
                        <a:t>정확한 공식 안내 (일부 다국어)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50" b="0">
                          <a:solidFill>
                            <a:srgbClr val="475467"/>
                          </a:solidFill>
                          <a:latin typeface="Pretendard"/>
                        </a:rPr>
                        <a:t>친숙한 앱으로 쉬운 탐색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50" b="1">
                          <a:solidFill>
                            <a:srgbClr val="136A33"/>
                          </a:solidFill>
                          <a:latin typeface="Pretendard"/>
                        </a:rPr>
                        <a:t>✓ </a:t>
                      </a:r>
                      <a:r>
                        <a:rPr sz="950" b="1">
                          <a:solidFill>
                            <a:srgbClr val="1E2935"/>
                          </a:solidFill>
                          <a:latin typeface="Pretendard"/>
                        </a:rPr>
                        <a:t>쉬운 말 풀이·7개 언어</a:t>
                      </a:r>
                    </a:p>
                  </a:txBody>
                  <a:tcPr marL="82296" marR="54864" marT="27432" marB="27432" anchor="ctr">
                    <a:solidFill>
                      <a:srgbClr val="ECF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000" b="1">
                          <a:solidFill>
                            <a:srgbClr val="1E2935"/>
                          </a:solidFill>
                          <a:latin typeface="Pretendard"/>
                        </a:rPr>
                        <a:t>신청 경험</a:t>
                      </a:r>
                    </a:p>
                  </a:txBody>
                  <a:tcPr marL="82296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50" b="0">
                          <a:solidFill>
                            <a:srgbClr val="475467"/>
                          </a:solidFill>
                          <a:latin typeface="Pretendard"/>
                        </a:rPr>
                        <a:t>온라인 발급·신청 제공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50" b="0">
                          <a:solidFill>
                            <a:srgbClr val="475467"/>
                          </a:solidFill>
                          <a:latin typeface="Pretendard"/>
                        </a:rPr>
                        <a:t>신청 창구로 연결·안내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50" b="1">
                          <a:solidFill>
                            <a:srgbClr val="136A33"/>
                          </a:solidFill>
                          <a:latin typeface="Pretendard"/>
                        </a:rPr>
                        <a:t>✓ </a:t>
                      </a:r>
                      <a:r>
                        <a:rPr sz="950" b="1">
                          <a:solidFill>
                            <a:srgbClr val="1E2935"/>
                          </a:solidFill>
                          <a:latin typeface="Pretendard"/>
                        </a:rPr>
                        <a:t>발급~작성~제출 통합</a:t>
                      </a:r>
                    </a:p>
                  </a:txBody>
                  <a:tcPr marL="82296" marR="54864" marT="27432" marB="27432" anchor="ctr">
                    <a:solidFill>
                      <a:srgbClr val="ECF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000" b="1">
                          <a:solidFill>
                            <a:srgbClr val="1E2935"/>
                          </a:solidFill>
                          <a:latin typeface="Pretendard"/>
                        </a:rPr>
                        <a:t>마감·갱신 관리</a:t>
                      </a:r>
                    </a:p>
                  </a:txBody>
                  <a:tcPr marL="82296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50" b="0">
                          <a:solidFill>
                            <a:srgbClr val="475467"/>
                          </a:solidFill>
                          <a:latin typeface="Pretendard"/>
                        </a:rPr>
                        <a:t>국민비서 마감·갱신 알림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50" b="0">
                          <a:solidFill>
                            <a:srgbClr val="475467"/>
                          </a:solidFill>
                          <a:latin typeface="Pretendard"/>
                        </a:rPr>
                        <a:t>관심 지원금 마감 임박 알림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50" b="1">
                          <a:solidFill>
                            <a:srgbClr val="136A33"/>
                          </a:solidFill>
                          <a:latin typeface="Pretendard"/>
                        </a:rPr>
                        <a:t>✓ </a:t>
                      </a:r>
                      <a:r>
                        <a:rPr sz="950" b="1">
                          <a:solidFill>
                            <a:srgbClr val="1E2935"/>
                          </a:solidFill>
                          <a:latin typeface="Pretendard"/>
                        </a:rPr>
                        <a:t>D-day·캘린더·선제 알림</a:t>
                      </a:r>
                    </a:p>
                  </a:txBody>
                  <a:tcPr marL="82296" marR="54864" marT="27432" marB="27432" anchor="ctr">
                    <a:solidFill>
                      <a:srgbClr val="ECF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000" b="1">
                          <a:solidFill>
                            <a:srgbClr val="1E2935"/>
                          </a:solidFill>
                          <a:latin typeface="Pretendard"/>
                        </a:rPr>
                        <a:t>개인정보 보호</a:t>
                      </a:r>
                    </a:p>
                  </a:txBody>
                  <a:tcPr marL="82296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50" b="0">
                          <a:solidFill>
                            <a:srgbClr val="475467"/>
                          </a:solidFill>
                          <a:latin typeface="Pretendard"/>
                        </a:rPr>
                        <a:t>공식 보안·본인인증 (서버)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950" b="0">
                          <a:solidFill>
                            <a:srgbClr val="475467"/>
                          </a:solidFill>
                          <a:latin typeface="Pretendard"/>
                        </a:rPr>
                        <a:t>마이데이터 보안 (서버)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050" b="1">
                          <a:solidFill>
                            <a:srgbClr val="136A33"/>
                          </a:solidFill>
                          <a:latin typeface="Pretendard"/>
                        </a:rPr>
                        <a:t>✓ </a:t>
                      </a:r>
                      <a:r>
                        <a:rPr sz="950" b="1">
                          <a:solidFill>
                            <a:srgbClr val="1E2935"/>
                          </a:solidFill>
                          <a:latin typeface="Pretendard"/>
                        </a:rPr>
                        <a:t>기기 안에서 처리 (온디바이스)</a:t>
                      </a:r>
                    </a:p>
                  </a:txBody>
                  <a:tcPr marL="82296" marR="54864" marT="27432" marB="27432" anchor="ctr">
                    <a:solidFill>
                      <a:srgbClr val="ECF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18" name="Rounded Rectangle 1017"/>
          <p:cNvSpPr/>
          <p:nvPr/>
        </p:nvSpPr>
        <p:spPr>
          <a:xfrm>
            <a:off x="868680" y="4992624"/>
            <a:ext cx="10561320" cy="475488"/>
          </a:xfrm>
          <a:prstGeom prst="roundRect">
            <a:avLst>
              <a:gd name="adj" fmla="val 16667"/>
            </a:avLst>
          </a:prstGeom>
          <a:solidFill>
            <a:srgbClr val="1E2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anchor="ctr"/>
          <a:lstStyle/>
          <a:p>
            <a:pPr algn="ctr">
              <a:defRPr/>
            </a:pPr>
            <a:r>
              <a:rPr sz="1250" b="0">
                <a:solidFill>
                  <a:srgbClr val="FFFFFF"/>
                </a:solidFill>
                <a:latin typeface="Pretendard"/>
              </a:rPr>
              <a:t>검색을 넘어 </a:t>
            </a:r>
            <a:r>
              <a:rPr sz="1300" b="1">
                <a:solidFill>
                  <a:srgbClr val="9DF7C0"/>
                </a:solidFill>
                <a:latin typeface="Pretendard"/>
              </a:rPr>
              <a:t>전 과정 대행</a:t>
            </a:r>
            <a:r>
              <a:rPr sz="1250" b="0">
                <a:solidFill>
                  <a:srgbClr val="FFFFFF"/>
                </a:solidFill>
                <a:latin typeface="Pretendard"/>
              </a:rPr>
              <a:t> 과 </a:t>
            </a:r>
            <a:r>
              <a:rPr sz="1300" b="1">
                <a:solidFill>
                  <a:srgbClr val="9DF7C0"/>
                </a:solidFill>
                <a:latin typeface="Pretendard"/>
              </a:rPr>
              <a:t>온디바이스 프라이버시</a:t>
            </a:r>
            <a:r>
              <a:rPr sz="1250" b="0">
                <a:solidFill>
                  <a:srgbClr val="FFFFFF"/>
                </a:solidFill>
                <a:latin typeface="Pretendard"/>
              </a:rPr>
              <a:t> 를 함께 제공하는 것 — 이것이 모두봄만의 자리입니다.</a:t>
            </a:r>
          </a:p>
        </p:txBody>
      </p:sp>
      <p:sp>
        <p:nvSpPr>
          <p:cNvPr id="1030" name="Sources"/>
          <p:cNvSpPr txBox="1"/>
          <p:nvPr/>
        </p:nvSpPr>
        <p:spPr>
          <a:xfrm>
            <a:off x="868680" y="5541264"/>
            <a:ext cx="1056132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defRPr/>
            </a:pPr>
            <a:r>
              <a:rPr sz="750" b="0">
                <a:solidFill>
                  <a:srgbClr val="94A3B8"/>
                </a:solidFill>
                <a:latin typeface="Pretendard"/>
              </a:rPr>
              <a:t>출처: 복지로·보건복지부 보도자료, 정부24·보조금24·국민비서(ips.go.kr), 토스피드(toss.im), 카카오뱅크 정부지원금찾기 공식페이지 — 2024~2026년 공개 자료 기준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Pretendard"/>
                <a:ea typeface="Pretendard"/>
                <a:cs typeface="+mj-ea"/>
              </a:rPr>
              <a:t>AI 에이전트 기능 및 구조 ① — 다섯 단계로 도와드립니다</a:t>
            </a:r>
            <a:endParaRPr dirty="0">
              <a:latin typeface="+mj-ea"/>
              <a:ea typeface="+mj-ea"/>
              <a:cs typeface="+mj-ea"/>
            </a:endParaRP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1D5857E-B5B3-4166-9BA0-61884A23F3AB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43F181DE-E08B-4CAA-5763-102919945158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4" name="Auto Slide Number">
            <a:extLst>
              <a:ext uri="{FF2B5EF4-FFF2-40B4-BE49-F238E27FC236}">
                <a16:creationId xmlns:a16="http://schemas.microsoft.com/office/drawing/2014/main" id="{37BA7BA5-5347-4F51-A5DE-8F2C0D352C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E847D6B-B1E4-40A3-BA88-394742D024FD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7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7C926C7-D81F-498A-BF9E-7537AA58E057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모두봄은 사용자를 대신해 </a:t>
            </a:r>
            <a:r>
              <a:rPr sz="1300" b="1">
                <a:solidFill>
                  <a:srgbClr val="136A33"/>
                </a:solidFill>
                <a:latin typeface="Pretendard"/>
                <a:ea typeface="Pretendard"/>
              </a:rPr>
              <a:t>파악 → 판단 → 설명 → 실행 → 관찰</a:t>
            </a: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 의 다섯 단계를 스스로 돌면서 복지를 챙겨 드립니다.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868680" y="2011680"/>
            <a:ext cx="1956816" cy="2377440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651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350" b="1">
                <a:solidFill>
                  <a:srgbClr val="136A33"/>
                </a:solidFill>
                <a:latin typeface="Pretendard"/>
                <a:ea typeface="Pretendard"/>
              </a:rPr>
              <a:t>① 파악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000" b="1">
                <a:solidFill>
                  <a:srgbClr val="1E2935"/>
                </a:solidFill>
                <a:latin typeface="Pretendard"/>
                <a:ea typeface="Pretendard"/>
              </a:rPr>
              <a:t>상황을 읽습니다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대화형 프로필로 1분 만에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647482"/>
                </a:solidFill>
                <a:latin typeface="Pretendard"/>
                <a:ea typeface="Pretendard"/>
              </a:rPr>
              <a:t>“72세인데 혼자 살고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647482"/>
                </a:solidFill>
                <a:latin typeface="Pretendard"/>
                <a:ea typeface="Pretendard"/>
              </a:rPr>
              <a:t>  소득이 적어요” 같은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한 문장·음성도 이해</a:t>
            </a:r>
          </a:p>
        </p:txBody>
      </p:sp>
      <p:sp>
        <p:nvSpPr>
          <p:cNvPr id="1018" name="Right Arrow 1017"/>
          <p:cNvSpPr/>
          <p:nvPr/>
        </p:nvSpPr>
        <p:spPr>
          <a:xfrm>
            <a:off x="2811779" y="3072384"/>
            <a:ext cx="219456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Rounded Rectangle 1018"/>
          <p:cNvSpPr/>
          <p:nvPr/>
        </p:nvSpPr>
        <p:spPr>
          <a:xfrm>
            <a:off x="3017520" y="2011680"/>
            <a:ext cx="1956816" cy="2377440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651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350" b="1">
                <a:solidFill>
                  <a:srgbClr val="065078"/>
                </a:solidFill>
                <a:latin typeface="Pretendard"/>
                <a:ea typeface="Pretendard"/>
              </a:rPr>
              <a:t>② 판단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000" b="1">
                <a:solidFill>
                  <a:srgbClr val="1E2935"/>
                </a:solidFill>
                <a:latin typeface="Pretendard"/>
                <a:ea typeface="Pretendard"/>
              </a:rPr>
              <a:t>자격을 가립니다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5,300여 건에서 선별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2026년 공식 기준 적용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확실한 것과 참고할 것을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신뢰도로 나눠 표시</a:t>
            </a:r>
          </a:p>
        </p:txBody>
      </p:sp>
      <p:sp>
        <p:nvSpPr>
          <p:cNvPr id="1020" name="Right Arrow 1019"/>
          <p:cNvSpPr/>
          <p:nvPr/>
        </p:nvSpPr>
        <p:spPr>
          <a:xfrm>
            <a:off x="4960620" y="3072384"/>
            <a:ext cx="219456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ounded Rectangle 1020"/>
          <p:cNvSpPr/>
          <p:nvPr/>
        </p:nvSpPr>
        <p:spPr>
          <a:xfrm>
            <a:off x="5166360" y="2011680"/>
            <a:ext cx="1956816" cy="2377440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651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350" b="1">
                <a:solidFill>
                  <a:srgbClr val="5B21B6"/>
                </a:solidFill>
                <a:latin typeface="Pretendard"/>
                <a:ea typeface="Pretendard"/>
              </a:rPr>
              <a:t>③ 설명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000" b="1">
                <a:solidFill>
                  <a:srgbClr val="1E2935"/>
                </a:solidFill>
                <a:latin typeface="Pretendard"/>
                <a:ea typeface="Pretendard"/>
              </a:rPr>
              <a:t>쉽게 풀어줍니다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어려운 말을 쉬운 말로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용어 사전·7개 언어 답변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화면을 소리로 읽어주는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음성 안내까지</a:t>
            </a:r>
          </a:p>
        </p:txBody>
      </p:sp>
      <p:sp>
        <p:nvSpPr>
          <p:cNvPr id="1022" name="Right Arrow 1021"/>
          <p:cNvSpPr/>
          <p:nvPr/>
        </p:nvSpPr>
        <p:spPr>
          <a:xfrm>
            <a:off x="7109460" y="3072384"/>
            <a:ext cx="219456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Rounded Rectangle 1022"/>
          <p:cNvSpPr/>
          <p:nvPr/>
        </p:nvSpPr>
        <p:spPr>
          <a:xfrm>
            <a:off x="7315200" y="2011680"/>
            <a:ext cx="1956816" cy="2377440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651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350" b="1">
                <a:solidFill>
                  <a:srgbClr val="8A3D0E"/>
                </a:solidFill>
                <a:latin typeface="Pretendard"/>
                <a:ea typeface="Pretendard"/>
              </a:rPr>
              <a:t>④ 실행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000" b="1">
                <a:solidFill>
                  <a:srgbClr val="1E2935"/>
                </a:solidFill>
                <a:latin typeface="Pretendard"/>
                <a:ea typeface="Pretendard"/>
              </a:rPr>
              <a:t>대신 처리합니다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필요 서류 자동 정리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서류 발급 바로 연결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신청서 정보 자동 준비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647482"/>
                </a:solidFill>
                <a:latin typeface="Pretendard"/>
                <a:ea typeface="Pretendard"/>
              </a:rPr>
              <a:t>“다 담아줘” 한마디로 저장</a:t>
            </a:r>
          </a:p>
        </p:txBody>
      </p:sp>
      <p:sp>
        <p:nvSpPr>
          <p:cNvPr id="1024" name="Right Arrow 1023"/>
          <p:cNvSpPr/>
          <p:nvPr/>
        </p:nvSpPr>
        <p:spPr>
          <a:xfrm>
            <a:off x="9258300" y="3072384"/>
            <a:ext cx="219456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Rounded Rectangle 1024"/>
          <p:cNvSpPr/>
          <p:nvPr/>
        </p:nvSpPr>
        <p:spPr>
          <a:xfrm>
            <a:off x="9464040" y="2011680"/>
            <a:ext cx="1956816" cy="2377440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651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350" b="1">
                <a:solidFill>
                  <a:srgbClr val="941035"/>
                </a:solidFill>
                <a:latin typeface="Pretendard"/>
                <a:ea typeface="Pretendard"/>
              </a:rPr>
              <a:t>⑤ 관찰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1000" b="1">
                <a:solidFill>
                  <a:srgbClr val="1E2935"/>
                </a:solidFill>
                <a:latin typeface="Pretendard"/>
                <a:ea typeface="Pretendard"/>
              </a:rPr>
              <a:t>계속 지켜봅니다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신청 마감 D-day 알림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갱신 시기·빠진 서류 점검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앱을 열면 먼저 브리핑</a:t>
            </a:r>
          </a:p>
          <a:p>
            <a:pPr algn="l">
              <a:lnSpc>
                <a:spcPct val="118000"/>
              </a:lnSpc>
              <a:spcAft>
                <a:spcPts val="2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복지 캘린더로 정리</a:t>
            </a:r>
          </a:p>
        </p:txBody>
      </p:sp>
      <p:sp>
        <p:nvSpPr>
          <p:cNvPr id="1026" name="TextBox 1025"/>
          <p:cNvSpPr txBox="1"/>
          <p:nvPr/>
        </p:nvSpPr>
        <p:spPr>
          <a:xfrm>
            <a:off x="868680" y="4535424"/>
            <a:ext cx="1056132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sz="1030" b="1">
                <a:solidFill>
                  <a:srgbClr val="647482"/>
                </a:solidFill>
                <a:latin typeface="Pretendard"/>
                <a:ea typeface="Pretendard"/>
              </a:rPr>
              <a:t>↻ 관찰에서 발견한 변화(마감 임박·새로 생긴 자격)는 다시 파악 단계로 이어져, 사용자가 묻기 전에 먼저 알려 드립니다.</a:t>
            </a:r>
          </a:p>
        </p:txBody>
      </p:sp>
      <p:sp>
        <p:nvSpPr>
          <p:cNvPr id="1027" name="Rounded Rectangle 1026"/>
          <p:cNvSpPr/>
          <p:nvPr/>
        </p:nvSpPr>
        <p:spPr>
          <a:xfrm>
            <a:off x="868680" y="4846320"/>
            <a:ext cx="10561320" cy="786384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651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8A3D0E"/>
                </a:solidFill>
                <a:latin typeface="Pretendard"/>
                <a:ea typeface="Pretendard"/>
              </a:rPr>
              <a:t>🙋 안심하셔도 됩니다 — 본인인증과 최종 제출처럼 ‘법적으로 본인이 해야 하는 일’은 반드시 사용자가 직접 하십니다.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1E2935"/>
                </a:solidFill>
                <a:latin typeface="Pretendard"/>
                <a:ea typeface="Pretendard"/>
              </a:rPr>
              <a:t>에이전트는 그 직전까지 필요한 준비를 모두 마쳐 드리고, 마지막 확인 버튼만 사용자가 누르시면 됩니다. 되돌릴 수 없는 일은 사람이 결정하도록 설계했습니다.</a:t>
            </a:r>
          </a:p>
        </p:txBody>
      </p:sp>
    </p:spTree>
    <p:extLst>
      <p:ext uri="{BB962C8B-B14F-4D97-AF65-F5344CB8AC3E}">
        <p14:creationId xmlns:p14="http://schemas.microsoft.com/office/powerpoint/2010/main" val="4027285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Pretendard"/>
                <a:ea typeface="Pretendard"/>
                <a:cs typeface="+mj-ea"/>
              </a:rPr>
              <a:t>AI 에이전트 기능 및 구조 ② — 어렵게 입력하지 않아도 됩니다</a:t>
            </a:r>
            <a:endParaRPr dirty="0">
              <a:latin typeface="+mj-ea"/>
              <a:ea typeface="+mj-ea"/>
              <a:cs typeface="+mj-ea"/>
            </a:endParaRP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1D5857E-B5B3-4166-9BA0-61884A23F3AB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43F181DE-E08B-4CAA-5763-102919945158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4" name="Auto Slide Number">
            <a:extLst>
              <a:ext uri="{FF2B5EF4-FFF2-40B4-BE49-F238E27FC236}">
                <a16:creationId xmlns:a16="http://schemas.microsoft.com/office/drawing/2014/main" id="{37BA7BA5-5347-4F51-A5DE-8F2C0D352C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E847D6B-B1E4-40A3-BA88-394742D024FD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8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7C926C7-D81F-498A-BF9E-7537AA58E057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딱딱한 서식을 채우는 대신, 마스코트 ‘새싹이’와 </a:t>
            </a:r>
            <a:r>
              <a:rPr sz="1300" b="1">
                <a:solidFill>
                  <a:srgbClr val="136A33"/>
                </a:solidFill>
                <a:latin typeface="Pretendard"/>
                <a:ea typeface="Pretendard"/>
              </a:rPr>
              <a:t>대화하듯</a:t>
            </a: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 답만 고르시면 됩니다. 어르신도 1분이면 충분합니다.</a:t>
            </a:r>
          </a:p>
        </p:txBody>
      </p:sp>
      <p:pic>
        <p:nvPicPr>
          <p:cNvPr id="1017" name="Picture 1016" descr="shot-di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48256"/>
            <a:ext cx="4800600" cy="3375422"/>
          </a:xfrm>
          <a:prstGeom prst="rect">
            <a:avLst/>
          </a:prstGeom>
        </p:spPr>
      </p:pic>
      <p:sp>
        <p:nvSpPr>
          <p:cNvPr id="1018" name="Rectangle 1017"/>
          <p:cNvSpPr/>
          <p:nvPr/>
        </p:nvSpPr>
        <p:spPr>
          <a:xfrm>
            <a:off x="841247" y="2020824"/>
            <a:ext cx="4855464" cy="3430286"/>
          </a:xfrm>
          <a:prstGeom prst="rect">
            <a:avLst/>
          </a:prstGeom>
          <a:noFill/>
          <a:ln w="1778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19" name="TextBox 1018"/>
          <p:cNvSpPr txBox="1"/>
          <p:nvPr/>
        </p:nvSpPr>
        <p:spPr>
          <a:xfrm>
            <a:off x="868680" y="5478541"/>
            <a:ext cx="484632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860" b="0">
                <a:solidFill>
                  <a:srgbClr val="647482"/>
                </a:solidFill>
                <a:latin typeface="Pretendard"/>
                <a:ea typeface="Pretendard"/>
              </a:rPr>
              <a:t>실제 화면 — 마스코트 ‘새싹이’와 대화하며 프로필을 만듭니다.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6035040" y="2048256"/>
            <a:ext cx="5349240" cy="877824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💬 대화형 프로필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복잡한 양식 대신 새싹이와 짧은 대화로 시작합니다. 디지털이 익숙하지 않은 분도 부담 없이 시작하실 수 있습니다.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6035040" y="3017520"/>
            <a:ext cx="5349240" cy="877824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⚡ 한 문장이면 됩니다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“72세인데 혼자 살고 소득이 적어요” 한 문장이나 음성만으로도, 바로 맞는 복지를 찾아 드립니다.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6035040" y="3986784"/>
            <a:ext cx="5349240" cy="877824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🌏 7개 언어를 지원합니다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영어·베트남어·중국어 등으로 물어보시면 그 언어로 답해 드립니다. 외국인·다문화 가정도 모국어로 이용하실 수 있습니다.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6035040" y="4956048"/>
            <a:ext cx="5349240" cy="877824"/>
          </a:xfrm>
          <a:prstGeom prst="roundRect">
            <a:avLst>
              <a:gd name="adj" fmla="val 9000"/>
            </a:avLst>
          </a:prstGeom>
          <a:solidFill>
            <a:srgbClr val="ECFDFA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🧠 기기 안에서 뜻을 이해합니다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AI가 기기 안에서 직접 동작해, ‘일자리를 잃었어요’ 같은 말도 실업급여로 연결합니다. 정보가 밖으로 나가지 않습니다.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Pretendard"/>
                <a:ea typeface="Pretendard"/>
                <a:cs typeface="+mj-ea"/>
              </a:rPr>
              <a:t>AI 에이전트 기능 및 구조 ③ — 설치 없이 서류부터 신청까지</a:t>
            </a:r>
            <a:endParaRPr dirty="0">
              <a:latin typeface="+mj-ea"/>
              <a:ea typeface="+mj-ea"/>
              <a:cs typeface="+mj-ea"/>
            </a:endParaRP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1D5857E-B5B3-4166-9BA0-61884A23F3AB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43F181DE-E08B-4CAA-5763-102919945158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4" name="Auto Slide Number">
            <a:extLst>
              <a:ext uri="{FF2B5EF4-FFF2-40B4-BE49-F238E27FC236}">
                <a16:creationId xmlns:a16="http://schemas.microsoft.com/office/drawing/2014/main" id="{37BA7BA5-5347-4F51-A5DE-8F2C0D352C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E847D6B-B1E4-40A3-BA88-394742D024FD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9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7C926C7-D81F-498A-BF9E-7537AA58E057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따로 프로그램을 설치하지 않아도, 웹에서 바로 </a:t>
            </a:r>
            <a:r>
              <a:rPr sz="1300" b="1">
                <a:solidFill>
                  <a:srgbClr val="8A3D0E"/>
                </a:solidFill>
                <a:latin typeface="Pretendard"/>
                <a:ea typeface="Pretendard"/>
              </a:rPr>
              <a:t>서류 발급부터 신청서 작성·제출까지</a:t>
            </a: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 에이전트가 함께 진행해 드립니다.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868680" y="2048256"/>
            <a:ext cx="457200" cy="676656"/>
          </a:xfrm>
          <a:prstGeom prst="roundRect">
            <a:avLst>
              <a:gd name="adj" fmla="val 9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1435607" y="2048256"/>
            <a:ext cx="5074920" cy="676656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397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00" b="1">
                <a:solidFill>
                  <a:srgbClr val="136A33"/>
                </a:solidFill>
                <a:latin typeface="Pretendard"/>
                <a:ea typeface="Pretendard"/>
              </a:rPr>
              <a:t>필요한 서류를 자동으로 정리합니다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담아 두신 복지들에 필요한 서류를 한데 모아, 겹치는 서류부터 순서대로 안내합니다. 현재 13종을 지원합니다.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868680" y="2834640"/>
            <a:ext cx="457200" cy="676656"/>
          </a:xfrm>
          <a:prstGeom prst="roundRect">
            <a:avLst>
              <a:gd name="adj" fmla="val 9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1435607" y="2834640"/>
            <a:ext cx="5074920" cy="676656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397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00" b="1">
                <a:solidFill>
                  <a:srgbClr val="065078"/>
                </a:solidFill>
                <a:latin typeface="Pretendard"/>
                <a:ea typeface="Pretendard"/>
              </a:rPr>
              <a:t>서류를 자동으로 발급받습니다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정부 전자문서(전자증명서)로 즉시 발급받아, 종이 없이 전자 파일로 제출까지 이어집니다.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868680" y="3621024"/>
            <a:ext cx="457200" cy="676656"/>
          </a:xfrm>
          <a:prstGeom prst="roundRect">
            <a:avLst>
              <a:gd name="adj" fmla="val 9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1435607" y="3621024"/>
            <a:ext cx="5074920" cy="676656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397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00" b="1">
                <a:solidFill>
                  <a:srgbClr val="8A3D0E"/>
                </a:solidFill>
                <a:latin typeface="Pretendard"/>
                <a:ea typeface="Pretendard"/>
              </a:rPr>
              <a:t>신청서를 자동으로 작성합니다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입력해 두신 정보를 신청서 양식에 맞게 미리 정리해 드려서, 붙여넣기 한 번으로 끝납니다.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868680" y="4407408"/>
            <a:ext cx="457200" cy="676656"/>
          </a:xfrm>
          <a:prstGeom prst="roundRect">
            <a:avLst>
              <a:gd name="adj" fmla="val 9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1024" name="Rounded Rectangle 1023"/>
          <p:cNvSpPr/>
          <p:nvPr/>
        </p:nvSpPr>
        <p:spPr>
          <a:xfrm>
            <a:off x="1435607" y="4407408"/>
            <a:ext cx="5074920" cy="676656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397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1100" b="1">
                <a:solidFill>
                  <a:srgbClr val="941035"/>
                </a:solidFill>
                <a:latin typeface="Pretendard"/>
                <a:ea typeface="Pretendard"/>
              </a:rPr>
              <a:t>제출하고 결과까지 추적합니다</a:t>
            </a:r>
          </a:p>
          <a:p>
            <a:pPr algn="l">
              <a:lnSpc>
                <a:spcPct val="112000"/>
              </a:lnSpc>
              <a:spcAft>
                <a:spcPts val="150"/>
              </a:spcAft>
            </a:pPr>
            <a:r>
              <a:rPr sz="900" b="0">
                <a:solidFill>
                  <a:srgbClr val="1E2935"/>
                </a:solidFill>
                <a:latin typeface="Pretendard"/>
                <a:ea typeface="Pretendard"/>
              </a:rPr>
              <a:t>본인 확인만 거치면 제출이 끝나고, 이후 심사가 어떻게 진행되는지도 에이전트가 함께 확인합니다.</a:t>
            </a:r>
          </a:p>
        </p:txBody>
      </p:sp>
      <p:pic>
        <p:nvPicPr>
          <p:cNvPr id="1025" name="Picture 1024" descr="shot-applyk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048256"/>
            <a:ext cx="1400476" cy="2743200"/>
          </a:xfrm>
          <a:prstGeom prst="rect">
            <a:avLst/>
          </a:prstGeom>
        </p:spPr>
      </p:pic>
      <p:sp>
        <p:nvSpPr>
          <p:cNvPr id="1026" name="Rectangle 1025"/>
          <p:cNvSpPr/>
          <p:nvPr/>
        </p:nvSpPr>
        <p:spPr>
          <a:xfrm>
            <a:off x="6830568" y="2020824"/>
            <a:ext cx="1455340" cy="2798064"/>
          </a:xfrm>
          <a:prstGeom prst="rect">
            <a:avLst/>
          </a:prstGeom>
          <a:noFill/>
          <a:ln w="1778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27" name="TextBox 1026"/>
          <p:cNvSpPr txBox="1"/>
          <p:nvPr/>
        </p:nvSpPr>
        <p:spPr>
          <a:xfrm>
            <a:off x="6858000" y="4864608"/>
            <a:ext cx="45720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860" b="0">
                <a:solidFill>
                  <a:srgbClr val="647482"/>
                </a:solidFill>
                <a:latin typeface="Pretendard"/>
                <a:ea typeface="Pretendard"/>
              </a:rPr>
              <a:t>실제 화면 — 정책 상세의 ‘신청 키트’입니다. 추천 → 정보 준비 → 서류 → 본인 확인 순서를 한눈에 보여 드립니다.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868680" y="5394959"/>
            <a:ext cx="10561320" cy="438912"/>
          </a:xfrm>
          <a:prstGeom prst="roundRect">
            <a:avLst>
              <a:gd name="adj" fmla="val 9000"/>
            </a:avLst>
          </a:prstGeom>
          <a:solidFill>
            <a:srgbClr val="1E2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</a:rPr>
              <a:t>복지정책 · 복지서비스 · 장학금 · 행복주택 등 주택 공고 · 서민금융 · 민간재단 지원까지, </a:t>
            </a:r>
            <a:r>
              <a:rPr sz="1050" b="1">
                <a:solidFill>
                  <a:srgbClr val="9DF7C0"/>
                </a:solidFill>
                <a:latin typeface="Pretendard"/>
                <a:ea typeface="Pretendard"/>
              </a:rPr>
              <a:t>모두 한곳에서 찾고 신청하실 수 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Pretendard"/>
                <a:ea typeface="Pretendard"/>
                <a:cs typeface="+mj-ea"/>
              </a:rPr>
              <a:t>AI 에이전트 기능 및 구조 ④ — 신청 후에도 계속 지켜봅니다</a:t>
            </a:r>
            <a:endParaRPr dirty="0">
              <a:latin typeface="+mj-ea"/>
              <a:ea typeface="+mj-ea"/>
              <a:cs typeface="+mj-ea"/>
            </a:endParaRP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1D5857E-B5B3-4166-9BA0-61884A23F3AB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43F181DE-E08B-4CAA-5763-102919945158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4" name="Auto Slide Number">
            <a:extLst>
              <a:ext uri="{FF2B5EF4-FFF2-40B4-BE49-F238E27FC236}">
                <a16:creationId xmlns:a16="http://schemas.microsoft.com/office/drawing/2014/main" id="{37BA7BA5-5347-4F51-A5DE-8F2C0D352C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E847D6B-B1E4-40A3-BA88-394742D024FD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10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7C926C7-D81F-498A-BF9E-7537AA58E057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복지는 받는 순간보다 </a:t>
            </a:r>
            <a:r>
              <a:rPr sz="1300" b="1">
                <a:solidFill>
                  <a:srgbClr val="941035"/>
                </a:solidFill>
                <a:latin typeface="Pretendard"/>
                <a:ea typeface="Pretendard"/>
              </a:rPr>
              <a:t>놓치는 순간이 더 큰 문제</a:t>
            </a: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입니다. 그래서 마감·갱신·서류를 에이전트가 대신 계속 챙깁니다.</a:t>
            </a:r>
          </a:p>
        </p:txBody>
      </p:sp>
      <p:pic>
        <p:nvPicPr>
          <p:cNvPr id="1017" name="Picture 1016" descr="shot-result-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48256"/>
            <a:ext cx="5486400" cy="3343275"/>
          </a:xfrm>
          <a:prstGeom prst="rect">
            <a:avLst/>
          </a:prstGeom>
        </p:spPr>
      </p:pic>
      <p:sp>
        <p:nvSpPr>
          <p:cNvPr id="1018" name="Rectangle 1017"/>
          <p:cNvSpPr/>
          <p:nvPr/>
        </p:nvSpPr>
        <p:spPr>
          <a:xfrm>
            <a:off x="841247" y="2020824"/>
            <a:ext cx="5541264" cy="3398139"/>
          </a:xfrm>
          <a:prstGeom prst="rect">
            <a:avLst/>
          </a:prstGeom>
          <a:noFill/>
          <a:ln w="1778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endParaRPr/>
          </a:p>
        </p:txBody>
      </p:sp>
      <p:sp>
        <p:nvSpPr>
          <p:cNvPr id="1019" name="TextBox 1018"/>
          <p:cNvSpPr txBox="1"/>
          <p:nvPr/>
        </p:nvSpPr>
        <p:spPr>
          <a:xfrm>
            <a:off x="868680" y="5446395"/>
            <a:ext cx="548640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860" b="0">
                <a:solidFill>
                  <a:srgbClr val="647482"/>
                </a:solidFill>
                <a:latin typeface="Pretendard"/>
                <a:ea typeface="Pretendard"/>
              </a:rPr>
              <a:t>실제 화면 — 분석이 끝나면 에이전트가 직접 정리해 드립니다. 우선순위·기한·다음 할 일까지 안내합니다.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6720840" y="2048256"/>
            <a:ext cx="4663440" cy="877824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524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⏰ 마감·갱신을 지켜봅니다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19" b="0">
                <a:solidFill>
                  <a:srgbClr val="1E2935"/>
                </a:solidFill>
                <a:latin typeface="Pretendard"/>
                <a:ea typeface="Pretendard"/>
              </a:rPr>
              <a:t>신청 마감 D-day, 해마다 다시 확인해야 하는 갱신 시기, 빠진 서류를 계산해서 앱을 열면 먼저 알려 드립니다.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6720840" y="3017520"/>
            <a:ext cx="4663440" cy="877824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📅 복지 캘린더로 정리합니다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19" b="0">
                <a:solidFill>
                  <a:srgbClr val="1E2935"/>
                </a:solidFill>
                <a:latin typeface="Pretendard"/>
                <a:ea typeface="Pretendard"/>
              </a:rPr>
              <a:t>준비·점검·갱신 일정을 사용자의 휴대폰 캘린더로 내보낼 수 있고, 하루 전에 미리 알려 드립니다.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6720840" y="3986784"/>
            <a:ext cx="4663440" cy="877824"/>
          </a:xfrm>
          <a:prstGeom prst="roundRect">
            <a:avLst>
              <a:gd name="adj" fmla="val 9000"/>
            </a:avLst>
          </a:prstGeom>
          <a:solidFill>
            <a:srgbClr val="ECFDFA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🤝 가족이 대신 챙길 수 있습니다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19" b="0">
                <a:solidFill>
                  <a:srgbClr val="1E2935"/>
                </a:solidFill>
                <a:latin typeface="Pretendard"/>
                <a:ea typeface="Pretendard"/>
              </a:rPr>
              <a:t>링크 하나로 부모님의 복지를 자녀나 사회복지사가 대신 확인할 수 있습니다. 이때 이름은 자동으로 지워 개인정보를 보호합니다.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6720840" y="4956048"/>
            <a:ext cx="4663440" cy="877824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🔮 앞일까지 미리 챙깁니다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19" b="0">
                <a:solidFill>
                  <a:srgbClr val="1E2935"/>
                </a:solidFill>
                <a:latin typeface="Pretendard"/>
                <a:ea typeface="Pretendard"/>
              </a:rPr>
              <a:t>만 65세가 되거나 자녀가 학교에 갈 때처럼, 앞으로 열리고 닫히는 복지를 몇 년 전부터 미리 알려 드립니다.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Pretendard"/>
                <a:ea typeface="Pretendard"/>
                <a:cs typeface="+mj-ea"/>
              </a:rPr>
              <a:t>AI 에이전트 기능 및 구조 ⑤ — 이렇게 만들었습니다</a:t>
            </a:r>
            <a:endParaRPr dirty="0">
              <a:latin typeface="+mj-ea"/>
              <a:ea typeface="+mj-ea"/>
              <a:cs typeface="+mj-ea"/>
            </a:endParaRP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1D5857E-B5B3-4166-9BA0-61884A23F3AB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43F181DE-E08B-4CAA-5763-102919945158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4" name="Auto Slide Number">
            <a:extLst>
              <a:ext uri="{FF2B5EF4-FFF2-40B4-BE49-F238E27FC236}">
                <a16:creationId xmlns:a16="http://schemas.microsoft.com/office/drawing/2014/main" id="{37BA7BA5-5347-4F51-A5DE-8F2C0D352C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E847D6B-B1E4-40A3-BA88-394742D024FD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11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7C926C7-D81F-498A-BF9E-7537AA58E057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모두봄은 세 개의 층으로 이루어져 있습니다. 개인정보는 1층(사용자 기기)을 벗어나지 않고, 더 깊은 지식이나 실행이 필요할 때만 2·3층이 도와줍니다.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868680" y="2011680"/>
            <a:ext cx="10561320" cy="822960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651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136A33"/>
                </a:solidFill>
                <a:latin typeface="Pretendard"/>
                <a:ea typeface="Pretendard"/>
              </a:rPr>
              <a:t>1층 · 사용자 기기 (기본 — 서버 없이도 모든 기능이 동작합니다)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복지 자격을 판정하는 엔진, 뜻으로 찾아주는 </a:t>
            </a:r>
            <a:r>
              <a:rPr sz="1000" b="1">
                <a:solidFill>
                  <a:srgbClr val="136A33"/>
                </a:solidFill>
                <a:latin typeface="Pretendard"/>
                <a:ea typeface="Pretendard"/>
              </a:rPr>
              <a:t>AI 의미 검색(브라우저 안에서 직접 실행)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, 마감을 지켜보는 모니터링이 모두 여기서 돕니다.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프로필·분석 결과·관심 목록은 전부 사용자의 기기에만 저장되어, </a:t>
            </a:r>
            <a:r>
              <a:rPr sz="1000" b="1">
                <a:solidFill>
                  <a:srgbClr val="136A33"/>
                </a:solidFill>
                <a:latin typeface="Pretendard"/>
                <a:ea typeface="Pretendard"/>
              </a:rPr>
              <a:t>정보가 밖으로 나가지 않습니다.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868680" y="2926080"/>
            <a:ext cx="10561320" cy="822960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651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065078"/>
                </a:solidFill>
                <a:latin typeface="Pretendard"/>
                <a:ea typeface="Pretendard"/>
              </a:rPr>
              <a:t>2층 · 백엔드 에이전트 (선택 — 연결되면 더 깊이 있는 상담을 제공합니다)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FastAPI와 </a:t>
            </a:r>
            <a:r>
              <a:rPr sz="1000" b="1">
                <a:solidFill>
                  <a:srgbClr val="065078"/>
                </a:solidFill>
                <a:latin typeface="Pretendard"/>
                <a:ea typeface="Pretendard"/>
              </a:rPr>
              <a:t>LangGraph 10노드 에이전트, Claude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가 프로필 분석부터 검색·자격 판별·가이드 작성까지 이어서 처리합니다.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연결이 없어도 기기 안의 규칙 엔진으로 똑같이 동작하므로, </a:t>
            </a:r>
            <a:r>
              <a:rPr sz="1000" b="1">
                <a:solidFill>
                  <a:srgbClr val="065078"/>
                </a:solidFill>
                <a:latin typeface="Pretendard"/>
                <a:ea typeface="Pretendard"/>
              </a:rPr>
              <a:t>어떤 상황에서도 멈추지 않습니다.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868680" y="3840480"/>
            <a:ext cx="10561320" cy="822960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651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>
                <a:solidFill>
                  <a:srgbClr val="8A3D0E"/>
                </a:solidFill>
                <a:latin typeface="Pretendard"/>
                <a:ea typeface="Pretendard"/>
              </a:rPr>
              <a:t>3층 · 실행 연결 (서류·신청 — 정부 공식 경로를 이용합니다)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정부24 전자증명서·전자문서지갑과 연계해 </a:t>
            </a:r>
            <a:r>
              <a:rPr sz="1000" b="1">
                <a:solidFill>
                  <a:srgbClr val="8A3D0E"/>
                </a:solidFill>
                <a:latin typeface="Pretendard"/>
                <a:ea typeface="Pretendard"/>
              </a:rPr>
              <a:t>설치 없이 서류를 발급하고 전자로 제출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합니다. 네이버·카카오·토스도 쓰는 정부 공식 방식입니다.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앞으로 공공 마이데이터와 연결해, 서류 없이 신청하는 단계까지 넓혀갈 계획입니다.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868680" y="4846320"/>
            <a:ext cx="1056132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1E2935"/>
                </a:solidFill>
                <a:latin typeface="Pretendard"/>
                <a:ea typeface="Pretendard"/>
              </a:rPr>
              <a:t>이 모든 것은 실제 데이터로만 만들었습니다. 지어낸 정보는 하나도 넣지 않았습니다.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868680" y="5120640"/>
            <a:ext cx="2432304" cy="621792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공공데이터포털 API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40" b="0">
                <a:solidFill>
                  <a:srgbClr val="1E2935"/>
                </a:solidFill>
                <a:latin typeface="Pretendard"/>
                <a:ea typeface="Pretendard"/>
              </a:rPr>
              <a:t>중앙 460 · 지자체 4,683건 (매주 자동 갱신)</a:t>
            </a:r>
          </a:p>
        </p:txBody>
      </p:sp>
      <p:sp>
        <p:nvSpPr>
          <p:cNvPr id="1022" name="Right Arrow 1021"/>
          <p:cNvSpPr/>
          <p:nvPr/>
        </p:nvSpPr>
        <p:spPr>
          <a:xfrm>
            <a:off x="3319272" y="5358383"/>
            <a:ext cx="237744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47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Rounded Rectangle 1022"/>
          <p:cNvSpPr/>
          <p:nvPr/>
        </p:nvSpPr>
        <p:spPr>
          <a:xfrm>
            <a:off x="3575304" y="5120640"/>
            <a:ext cx="2432304" cy="621792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정리·검증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40" b="0">
                <a:solidFill>
                  <a:srgbClr val="1E2935"/>
                </a:solidFill>
                <a:latin typeface="Pretendard"/>
                <a:ea typeface="Pretendard"/>
              </a:rPr>
              <a:t>중복 제거·주소 살아있는지 확인</a:t>
            </a:r>
          </a:p>
        </p:txBody>
      </p:sp>
      <p:sp>
        <p:nvSpPr>
          <p:cNvPr id="1024" name="Right Arrow 1023"/>
          <p:cNvSpPr/>
          <p:nvPr/>
        </p:nvSpPr>
        <p:spPr>
          <a:xfrm>
            <a:off x="6025896" y="5358383"/>
            <a:ext cx="237744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47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Rounded Rectangle 1024"/>
          <p:cNvSpPr/>
          <p:nvPr/>
        </p:nvSpPr>
        <p:spPr>
          <a:xfrm>
            <a:off x="6281928" y="5120640"/>
            <a:ext cx="2432304" cy="621792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정밀 검증 190건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40" b="0">
                <a:solidFill>
                  <a:srgbClr val="1E2935"/>
                </a:solidFill>
                <a:latin typeface="Pretendard"/>
                <a:ea typeface="Pretendard"/>
              </a:rPr>
              <a:t>2026년 공식 고시값으로 확인</a:t>
            </a:r>
          </a:p>
        </p:txBody>
      </p:sp>
      <p:sp>
        <p:nvSpPr>
          <p:cNvPr id="1026" name="Right Arrow 1025"/>
          <p:cNvSpPr/>
          <p:nvPr/>
        </p:nvSpPr>
        <p:spPr>
          <a:xfrm>
            <a:off x="8732519" y="5358383"/>
            <a:ext cx="237744" cy="20116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47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7" name="Rounded Rectangle 1026"/>
          <p:cNvSpPr/>
          <p:nvPr/>
        </p:nvSpPr>
        <p:spPr>
          <a:xfrm>
            <a:off x="8988551" y="5120640"/>
            <a:ext cx="2432304" cy="621792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524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050" b="1">
                <a:solidFill>
                  <a:srgbClr val="1E2935"/>
                </a:solidFill>
                <a:latin typeface="Pretendard"/>
                <a:ea typeface="Pretendard"/>
              </a:rPr>
              <a:t>민간재단 21곳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40" b="0">
                <a:solidFill>
                  <a:srgbClr val="1E2935"/>
                </a:solidFill>
                <a:latin typeface="Pretendard"/>
                <a:ea typeface="Pretendard"/>
              </a:rPr>
              <a:t>공식 사이트를 직접 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7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09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875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Pretendard"/>
                <a:ea typeface="Pretendard"/>
                <a:cs typeface="+mj-ea"/>
              </a:rPr>
              <a:t>AI 에이전트 기능 및 구조 ⑥ — 신뢰를 코드로 지킵니다</a:t>
            </a:r>
            <a:endParaRPr dirty="0">
              <a:latin typeface="+mj-ea"/>
              <a:ea typeface="+mj-ea"/>
              <a:cs typeface="+mj-ea"/>
            </a:endParaRP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C1D5857E-B5B3-4166-9BA0-61884A23F3AB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4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43F181DE-E08B-4CAA-5763-102919945158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4" name="Auto Slide Number">
            <a:extLst>
              <a:ext uri="{FF2B5EF4-FFF2-40B4-BE49-F238E27FC236}">
                <a16:creationId xmlns:a16="http://schemas.microsoft.com/office/drawing/2014/main" id="{37BA7BA5-5347-4F51-A5DE-8F2C0D352C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9E847D6B-B1E4-40A3-BA88-394742D024FD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12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5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77C926C7-D81F-498A-BF9E-7537AA58E057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fld>
            <a:endParaRPr lang="ko-KR" sz="1000"/>
          </a:p>
        </p:txBody>
      </p:sp>
      <p:sp>
        <p:nvSpPr>
          <p:cNvPr id="1016" name="TextBox 1015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복지 정보에서 과장이나 오류는 취약계층에게 특히 위험합니다. 그래서 모두봄은 </a:t>
            </a:r>
            <a:r>
              <a:rPr sz="1300" b="1">
                <a:solidFill>
                  <a:srgbClr val="136A33"/>
                </a:solidFill>
                <a:latin typeface="Pretendard"/>
                <a:ea typeface="Pretendard"/>
              </a:rPr>
              <a:t>정직함을 다짐이 아니라 코드와 테스트로 지킵니다.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868680" y="2029968"/>
            <a:ext cx="5166360" cy="1444752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250" b="1">
                <a:solidFill>
                  <a:srgbClr val="136A33"/>
                </a:solidFill>
                <a:latin typeface="Pretendard"/>
                <a:ea typeface="Pretendard"/>
              </a:rPr>
              <a:t>🔒 개인정보는 기기 안에서만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프로필과 분석 결과는 서버로 보내지 않습니다. 이름은 기기에도 남기지 않고, 가족과 공유하는 링크에서도 자동으로 지웁니다. 이 규칙을 테스트가 늘 확인합니다.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6263640" y="2029968"/>
            <a:ext cx="5166360" cy="1444752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250" b="1">
                <a:solidFill>
                  <a:srgbClr val="065078"/>
                </a:solidFill>
                <a:latin typeface="Pretendard"/>
                <a:ea typeface="Pretendard"/>
              </a:rPr>
              <a:t>⚖️ 과장하지 않도록 못 박았습니다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상품권·서비스 한도를 ‘현금’처럼 부풀려 더하면 자동 테스트가 배포를 막습니다. 심사로 뽑는 민간 지원을 ‘받을 수 있다’처럼 단정하지 못하게 했습니다.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868680" y="3602736"/>
            <a:ext cx="5166360" cy="1444752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250" b="1">
                <a:solidFill>
                  <a:srgbClr val="8A3D0E"/>
                </a:solidFill>
                <a:latin typeface="Pretendard"/>
                <a:ea typeface="Pretendard"/>
              </a:rPr>
              <a:t>📊 모든 금액을 공식 출처로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기초연금 349,700원, 생계급여 기준 32% 등 2026년 보건복지부 기준으로 전부 확인했습니다. 정책마다 출처와 문의처를 화면에 함께 보여 드립니다.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6263640" y="3602736"/>
            <a:ext cx="5166360" cy="1444752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524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250" b="1">
                <a:solidFill>
                  <a:srgbClr val="941035"/>
                </a:solidFill>
                <a:latin typeface="Pretendard"/>
                <a:ea typeface="Pretendard"/>
              </a:rPr>
              <a:t>🙋 마지막 결정은 사람이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본인인증과 최종 제출처럼 법으로 정해진 확인은 늘 사용자가 직접 하십니다. 에이전트는 그 직전까지 준비를 마치고, 되돌릴 수 없는 일은 사람이 결정합니다.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868680" y="5321807"/>
            <a:ext cx="10561320" cy="457200"/>
          </a:xfrm>
          <a:prstGeom prst="roundRect">
            <a:avLst>
              <a:gd name="adj" fmla="val 9000"/>
            </a:avLst>
          </a:prstGeom>
          <a:solidFill>
            <a:srgbClr val="1E2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9DF7C0"/>
                </a:solidFill>
                <a:latin typeface="Pretendard"/>
                <a:ea typeface="Pretendard"/>
              </a:rPr>
              <a:t>이 네 가지 약속이 지켜지는지 자동 테스트 426개가 배포 때마다 검사합니다. 어기면 배포 자체가 되지 않도록 만들었습니다.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22BAF9-7DA8-2CEB-0389-8E3F6CFC4B2D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8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10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875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Pretendard"/>
                <a:ea typeface="Pretendard"/>
                <a:cs typeface="+mj-ea"/>
              </a:rPr>
              <a:t>기대효과 ① — 한 사람에게 생기는 변화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1531CCBE-416B-40DA-973B-E7D076437643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5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8AAB5161-91C3-B8D3-C3D2-783097542A7A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5" name="Auto Slide Number">
            <a:extLst>
              <a:ext uri="{FF2B5EF4-FFF2-40B4-BE49-F238E27FC236}">
                <a16:creationId xmlns:a16="http://schemas.microsoft.com/office/drawing/2014/main" id="{E7888A82-BDB0-4FC2-B3C2-7DDEC35A54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81A4601E-17B6-43AB-AE80-175BABD0F04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13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6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C793FBA1-325E-47EB-AA4B-EA6035094169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fld>
            <a:endParaRPr lang="ko-KR" sz="1000"/>
          </a:p>
        </p:txBody>
      </p:sp>
      <p:sp>
        <p:nvSpPr>
          <p:cNvPr id="1017" name="TextBox 1016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E2935"/>
                </a:solidFill>
                <a:latin typeface="Pretendard"/>
                <a:ea typeface="Pretendard"/>
              </a:rPr>
              <a:t>라이브 서비스에서 실제로 측정한, 대표적인 세 분의 사례입니다. </a:t>
            </a:r>
            <a:r>
              <a:rPr sz="1050" b="0">
                <a:solidFill>
                  <a:srgbClr val="647482"/>
                </a:solidFill>
                <a:latin typeface="Pretendard"/>
                <a:ea typeface="Pretendard"/>
              </a:rPr>
              <a:t>모든 금액은 ‘월 최대·중복수급 미반영’ 기준으로, 부풀리지 않았습니다.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868680" y="2066544"/>
            <a:ext cx="3401568" cy="2212848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651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E2935"/>
                </a:solidFill>
                <a:latin typeface="Pretendard"/>
                <a:ea typeface="Pretendard"/>
              </a:rPr>
              <a:t>👵 혼자 사시는 어르신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647482"/>
                </a:solidFill>
                <a:latin typeface="Pretendard"/>
                <a:ea typeface="Pretendard"/>
              </a:rPr>
              <a:t>중위소득 25% · 72세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100" b="1">
                <a:solidFill>
                  <a:srgbClr val="136A33"/>
                </a:solidFill>
                <a:latin typeface="Pretendard"/>
                <a:ea typeface="Pretendard"/>
              </a:rPr>
              <a:t>월 최대 63.9만원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기초연금·생계급여 같은 핵심 현금성 지원을 찾아 드리고,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함께 받을 때 줄어드는 관계까지 알려 드립니다.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돌봄·의료 서비스도 여러 건 안내합니다.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4453128" y="2066544"/>
            <a:ext cx="3401568" cy="2212848"/>
          </a:xfrm>
          <a:prstGeom prst="roundRect">
            <a:avLst>
              <a:gd name="adj" fmla="val 9000"/>
            </a:avLst>
          </a:prstGeom>
          <a:solidFill>
            <a:srgbClr val="FFF0F2"/>
          </a:solidFill>
          <a:ln w="16510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E2935"/>
                </a:solidFill>
                <a:latin typeface="Pretendard"/>
                <a:ea typeface="Pretendard"/>
              </a:rPr>
              <a:t>🤰 아이를 낳은 가정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647482"/>
                </a:solidFill>
                <a:latin typeface="Pretendard"/>
                <a:ea typeface="Pretendard"/>
              </a:rPr>
              <a:t>0세 자녀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100" b="1">
                <a:solidFill>
                  <a:srgbClr val="941035"/>
                </a:solidFill>
                <a:latin typeface="Pretendard"/>
                <a:ea typeface="Pretendard"/>
              </a:rPr>
              <a:t>월 최대 119.3만원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부모급여·아동수당 등을 안내하고,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‘출생 후 60일 안에 신청’ 같은 기한을 먼저 챙겨,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놓치면 사라지는 돈을 지켜 드립니다.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8037575" y="2066544"/>
            <a:ext cx="3401568" cy="2212848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651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E2935"/>
                </a:solidFill>
                <a:latin typeface="Pretendard"/>
                <a:ea typeface="Pretendard"/>
              </a:rPr>
              <a:t>♿ 중증 장애가 있는 분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647482"/>
                </a:solidFill>
                <a:latin typeface="Pretendard"/>
                <a:ea typeface="Pretendard"/>
              </a:rPr>
              <a:t>1급 · 45세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100" b="1">
                <a:solidFill>
                  <a:srgbClr val="065078"/>
                </a:solidFill>
                <a:latin typeface="Pretendard"/>
                <a:ea typeface="Pretendard"/>
              </a:rPr>
              <a:t>월 최대 34.9만원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장애인연금 같은 법정 급여를 안내하고,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정부 포털에는 없는 민간 의료·재활 재단의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30" b="0">
                <a:solidFill>
                  <a:srgbClr val="1E2935"/>
                </a:solidFill>
                <a:latin typeface="Pretendard"/>
                <a:ea typeface="Pretendard"/>
              </a:rPr>
              <a:t>지원까지 연결해 드립니다.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868680" y="4553712"/>
            <a:ext cx="1056132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1E2935"/>
                </a:solidFill>
                <a:latin typeface="Pretendard"/>
                <a:ea typeface="Pretendard"/>
              </a:rPr>
              <a:t>이 숫자가 뜻하는 것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868680" y="4846320"/>
            <a:ext cx="10561320" cy="932688"/>
          </a:xfrm>
          <a:prstGeom prst="roundRect">
            <a:avLst>
              <a:gd name="adj" fmla="val 9000"/>
            </a:avLst>
          </a:prstGeom>
          <a:solidFill>
            <a:srgbClr val="F7F9FB"/>
          </a:solidFill>
          <a:ln w="13970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50" b="0">
                <a:solidFill>
                  <a:srgbClr val="1E2935"/>
                </a:solidFill>
                <a:latin typeface="Pretendard"/>
                <a:ea typeface="Pretendard"/>
              </a:rPr>
              <a:t>혼자 사시는 어르신 한 분 기준으로 1년이면 약 </a:t>
            </a:r>
            <a:r>
              <a:rPr sz="1300" b="1">
                <a:solidFill>
                  <a:srgbClr val="136A33"/>
                </a:solidFill>
                <a:latin typeface="Pretendard"/>
                <a:ea typeface="Pretendard"/>
              </a:rPr>
              <a:t>767만원</a:t>
            </a:r>
            <a:r>
              <a:rPr sz="1150" b="0">
                <a:solidFill>
                  <a:srgbClr val="1E2935"/>
                </a:solidFill>
                <a:latin typeface="Pretendard"/>
                <a:ea typeface="Pretendard"/>
              </a:rPr>
              <a:t>입니다. 이 돈은 새로 만든 예산이 아니라, </a:t>
            </a:r>
            <a:r>
              <a:rPr sz="1150" b="1">
                <a:solidFill>
                  <a:srgbClr val="1E2935"/>
                </a:solidFill>
                <a:latin typeface="Pretendard"/>
                <a:ea typeface="Pretendard"/>
              </a:rPr>
              <a:t>이미 마련되어 있었지만 주인을 찾지 못하던 돈</a:t>
            </a:r>
            <a:r>
              <a:rPr sz="1150" b="0">
                <a:solidFill>
                  <a:srgbClr val="1E2935"/>
                </a:solidFill>
                <a:latin typeface="Pretendard"/>
                <a:ea typeface="Pretendard"/>
              </a:rPr>
              <a:t>입니다.</a:t>
            </a:r>
          </a:p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00" b="0">
                <a:solidFill>
                  <a:srgbClr val="1E2935"/>
                </a:solidFill>
                <a:latin typeface="Pretendard"/>
                <a:ea typeface="Pretendard"/>
              </a:rPr>
              <a:t>그래서 모두봄은 복지를 늘리는 서비스가 아니라, </a:t>
            </a:r>
            <a:r>
              <a:rPr sz="1100" b="1">
                <a:solidFill>
                  <a:srgbClr val="136A33"/>
                </a:solidFill>
                <a:latin typeface="Pretendard"/>
                <a:ea typeface="Pretendard"/>
              </a:rPr>
              <a:t>이미 있는 권리를 제 주인에게 돌려드리는 서비스</a:t>
            </a:r>
            <a:r>
              <a:rPr sz="1100" b="0">
                <a:solidFill>
                  <a:srgbClr val="1E2935"/>
                </a:solidFill>
                <a:latin typeface="Pretendard"/>
                <a:ea typeface="Pretendard"/>
              </a:rPr>
              <a:t>입니다.</a:t>
            </a:r>
          </a:p>
        </p:txBody>
      </p:sp>
    </p:spTree>
    <p:extLst>
      <p:ext uri="{BB962C8B-B14F-4D97-AF65-F5344CB8AC3E}">
        <p14:creationId xmlns:p14="http://schemas.microsoft.com/office/powerpoint/2010/main" val="3579705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22BAF9-7DA8-2CEB-0389-8E3F6CFC4B2D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8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10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875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Pretendard"/>
                <a:ea typeface="Pretendard"/>
                <a:cs typeface="+mj-ea"/>
              </a:rPr>
              <a:t>기대효과 ② — 사회적 가치와 현장의 확인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1531CCBE-416B-40DA-973B-E7D076437643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5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8AAB5161-91C3-B8D3-C3D2-783097542A7A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5" name="Auto Slide Number">
            <a:extLst>
              <a:ext uri="{FF2B5EF4-FFF2-40B4-BE49-F238E27FC236}">
                <a16:creationId xmlns:a16="http://schemas.microsoft.com/office/drawing/2014/main" id="{E7888A82-BDB0-4FC2-B3C2-7DDEC35A54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81A4601E-17B6-43AB-AE80-175BABD0F04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14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6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C793FBA1-325E-47EB-AA4B-EA6035094169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fld>
            <a:endParaRPr lang="ko-KR" sz="1000"/>
          </a:p>
        </p:txBody>
      </p:sp>
      <p:sp>
        <p:nvSpPr>
          <p:cNvPr id="1017" name="TextBox 1016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‘몰라서 못 받는’ 일을 줄이는 것 — </a:t>
            </a:r>
            <a:r>
              <a:rPr sz="1300" b="1">
                <a:solidFill>
                  <a:srgbClr val="136A33"/>
                </a:solidFill>
                <a:latin typeface="Pretendard"/>
                <a:ea typeface="Pretendard"/>
              </a:rPr>
              <a:t>찾아다니는 복지에서, 먼저 챙겨주는 복지로 바꾸는 것</a:t>
            </a: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이 목표입니다.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868680" y="1993392"/>
            <a:ext cx="10561320" cy="658368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651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136A33"/>
                </a:solidFill>
                <a:latin typeface="Pretendard"/>
                <a:ea typeface="Pretendard"/>
              </a:rPr>
              <a:t>🏛️ 복지관을 직접 찾아가, 실제 이용자분들과 함께 현장 파일럿 테스트를 진행했습니다.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실제로 써 보시게 하고 반응을 들으며, 화면과 안내 문구를 사용자 눈높이에 맞게 다듬었습니다.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868680" y="2779776"/>
            <a:ext cx="5166360" cy="1005840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524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E2935"/>
                </a:solidFill>
                <a:latin typeface="Pretendard"/>
                <a:ea typeface="Pretendard"/>
              </a:rPr>
              <a:t>🌱 찾아다니지 않아도 됩니다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1E2935"/>
                </a:solidFill>
                <a:latin typeface="Pretendard"/>
                <a:ea typeface="Pretendard"/>
              </a:rPr>
              <a:t>사용자가 직접 찾아다니지 않아도 에이전트가 먼저 챙깁니다. 정보의 격차가 곧 받는 복지의 격차가 되지 않도록 돕습니다.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6263640" y="2779776"/>
            <a:ext cx="5166360" cy="1005840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E2935"/>
                </a:solidFill>
                <a:latin typeface="Pretendard"/>
                <a:ea typeface="Pretendard"/>
              </a:rPr>
              <a:t>🕳️ 사각지대까지 살핍니다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1E2935"/>
                </a:solidFill>
                <a:latin typeface="Pretendard"/>
                <a:ea typeface="Pretendard"/>
              </a:rPr>
              <a:t>민간재단의 장학·의료·위기 지원까지 모아 정부 데이터 밖도 챙기고, 7개 언어로 외국인·다문화 가정도 함께 돕습니다.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868680" y="3877056"/>
            <a:ext cx="5166360" cy="1005840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E2935"/>
                </a:solidFill>
                <a:latin typeface="Pretendard"/>
                <a:ea typeface="Pretendard"/>
              </a:rPr>
              <a:t>🔐 안심하고 쓸 수 있습니다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1E2935"/>
                </a:solidFill>
                <a:latin typeface="Pretendard"/>
                <a:ea typeface="Pretendard"/>
              </a:rPr>
              <a:t>개인정보를 기기 밖으로 보내지 않습니다. 민감한 정보를 맡기지 않아도 되어, 취약계층이 믿고 쓸 수 있습니다.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6263640" y="3877056"/>
            <a:ext cx="5166360" cy="1005840"/>
          </a:xfrm>
          <a:prstGeom prst="roundRect">
            <a:avLst>
              <a:gd name="adj" fmla="val 9000"/>
            </a:avLst>
          </a:prstGeom>
          <a:solidFill>
            <a:srgbClr val="FFFAEB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1E2935"/>
                </a:solidFill>
                <a:latin typeface="Pretendard"/>
                <a:ea typeface="Pretendard"/>
              </a:rPr>
              <a:t>💸 오래 이어갈 수 있습니다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1E2935"/>
                </a:solidFill>
                <a:latin typeface="Pretendard"/>
                <a:ea typeface="Pretendard"/>
              </a:rPr>
              <a:t>기기 안 처리 방식이라 서버 비용이 거의 들지 않습니다. 지자체·복지관에도 부담 없이 보급할 수 있는 구조입니다.</a:t>
            </a:r>
          </a:p>
        </p:txBody>
      </p:sp>
      <p:sp>
        <p:nvSpPr>
          <p:cNvPr id="1023" name="TextBox 1022"/>
          <p:cNvSpPr txBox="1"/>
          <p:nvPr/>
        </p:nvSpPr>
        <p:spPr>
          <a:xfrm>
            <a:off x="868680" y="5047488"/>
            <a:ext cx="1056132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1E2935"/>
                </a:solidFill>
                <a:latin typeface="Pretendard"/>
                <a:ea typeface="Pretendard"/>
              </a:rPr>
              <a:t>그리고 이 모든 것은 예선 시점에 실제로 확인한 수치입니다.</a:t>
            </a:r>
          </a:p>
        </p:txBody>
      </p:sp>
      <p:sp>
        <p:nvSpPr>
          <p:cNvPr id="1024" name="Rounded Rectangle 1023"/>
          <p:cNvSpPr/>
          <p:nvPr/>
        </p:nvSpPr>
        <p:spPr>
          <a:xfrm>
            <a:off x="868680" y="5303520"/>
            <a:ext cx="1700784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1250" b="1">
                <a:solidFill>
                  <a:srgbClr val="136A33"/>
                </a:solidFill>
                <a:latin typeface="Pretendard"/>
                <a:ea typeface="Pretendard"/>
              </a:rPr>
              <a:t>5,300여 건</a:t>
            </a:r>
          </a:p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780" b="0">
                <a:solidFill>
                  <a:srgbClr val="647482"/>
                </a:solidFill>
                <a:latin typeface="Pretendard"/>
                <a:ea typeface="Pretendard"/>
              </a:rPr>
              <a:t>한곳에 모은 실제 제도</a:t>
            </a:r>
          </a:p>
        </p:txBody>
      </p:sp>
      <p:sp>
        <p:nvSpPr>
          <p:cNvPr id="1025" name="Rounded Rectangle 1024"/>
          <p:cNvSpPr/>
          <p:nvPr/>
        </p:nvSpPr>
        <p:spPr>
          <a:xfrm>
            <a:off x="2642616" y="5303520"/>
            <a:ext cx="1700784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1250" b="1">
                <a:solidFill>
                  <a:srgbClr val="136A33"/>
                </a:solidFill>
                <a:latin typeface="Pretendard"/>
                <a:ea typeface="Pretendard"/>
              </a:rPr>
              <a:t>426개</a:t>
            </a:r>
          </a:p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780" b="0">
                <a:solidFill>
                  <a:srgbClr val="647482"/>
                </a:solidFill>
                <a:latin typeface="Pretendard"/>
                <a:ea typeface="Pretendard"/>
              </a:rPr>
              <a:t>항상 통과하는 자동 테스트</a:t>
            </a:r>
          </a:p>
        </p:txBody>
      </p:sp>
      <p:sp>
        <p:nvSpPr>
          <p:cNvPr id="1026" name="Rounded Rectangle 1025"/>
          <p:cNvSpPr/>
          <p:nvPr/>
        </p:nvSpPr>
        <p:spPr>
          <a:xfrm>
            <a:off x="4416552" y="5303520"/>
            <a:ext cx="1700784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1250" b="1">
                <a:solidFill>
                  <a:srgbClr val="136A33"/>
                </a:solidFill>
                <a:latin typeface="Pretendard"/>
                <a:ea typeface="Pretendard"/>
              </a:rPr>
              <a:t>복지관 현장</a:t>
            </a:r>
          </a:p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780" b="0">
                <a:solidFill>
                  <a:srgbClr val="647482"/>
                </a:solidFill>
                <a:latin typeface="Pretendard"/>
                <a:ea typeface="Pretendard"/>
              </a:rPr>
              <a:t>실제 이용자 파일럿</a:t>
            </a:r>
          </a:p>
        </p:txBody>
      </p:sp>
      <p:sp>
        <p:nvSpPr>
          <p:cNvPr id="1027" name="Rounded Rectangle 1026"/>
          <p:cNvSpPr/>
          <p:nvPr/>
        </p:nvSpPr>
        <p:spPr>
          <a:xfrm>
            <a:off x="6190488" y="5303520"/>
            <a:ext cx="1700784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1250" b="1">
                <a:solidFill>
                  <a:srgbClr val="136A33"/>
                </a:solidFill>
                <a:latin typeface="Pretendard"/>
                <a:ea typeface="Pretendard"/>
              </a:rPr>
              <a:t>13종</a:t>
            </a:r>
          </a:p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780" b="0">
                <a:solidFill>
                  <a:srgbClr val="647482"/>
                </a:solidFill>
                <a:latin typeface="Pretendard"/>
                <a:ea typeface="Pretendard"/>
              </a:rPr>
              <a:t>바로 발급되는 서류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7964424" y="5303520"/>
            <a:ext cx="1700784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1250" b="1">
                <a:solidFill>
                  <a:srgbClr val="136A33"/>
                </a:solidFill>
                <a:latin typeface="Pretendard"/>
                <a:ea typeface="Pretendard"/>
              </a:rPr>
              <a:t>7개 언어</a:t>
            </a:r>
          </a:p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780" b="0">
                <a:solidFill>
                  <a:srgbClr val="647482"/>
                </a:solidFill>
                <a:latin typeface="Pretendard"/>
                <a:ea typeface="Pretendard"/>
              </a:rPr>
              <a:t>다국어 안내</a:t>
            </a:r>
          </a:p>
        </p:txBody>
      </p:sp>
      <p:sp>
        <p:nvSpPr>
          <p:cNvPr id="1029" name="Rounded Rectangle 1028"/>
          <p:cNvSpPr/>
          <p:nvPr/>
        </p:nvSpPr>
        <p:spPr>
          <a:xfrm>
            <a:off x="9738360" y="5303520"/>
            <a:ext cx="1700784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C2E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1250" b="1">
                <a:solidFill>
                  <a:srgbClr val="136A33"/>
                </a:solidFill>
                <a:latin typeface="Pretendard"/>
                <a:ea typeface="Pretendard"/>
              </a:rPr>
              <a:t>거의 0원</a:t>
            </a:r>
          </a:p>
          <a:p>
            <a:pPr algn="ctr">
              <a:lnSpc>
                <a:spcPct val="120000"/>
              </a:lnSpc>
              <a:spcAft>
                <a:spcPts val="100"/>
              </a:spcAft>
            </a:pPr>
            <a:r>
              <a:rPr sz="780" b="0">
                <a:solidFill>
                  <a:srgbClr val="647482"/>
                </a:solidFill>
                <a:latin typeface="Pretendard"/>
                <a:ea typeface="Pretendard"/>
              </a:rPr>
              <a:t>월 운영 비용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22BAF9-7DA8-2CEB-0389-8E3F6CFC4B2D}"/>
              </a:ext>
            </a:extLst>
          </p:cNvPr>
          <p:cNvSpPr>
            <a:spLocks noGrp="1"/>
          </p:cNvSpPr>
          <p:nvPr/>
        </p:nvSpPr>
        <p:spPr>
          <a:xfrm>
            <a:off x="564623" y="1012726"/>
            <a:ext cx="11135764" cy="4896457"/>
          </a:xfrm>
          <a:prstGeom prst="rect">
            <a:avLst/>
          </a:prstGeom>
          <a:noFill/>
          <a:ln w="3175" cmpd="sng">
            <a:solidFill>
              <a:srgbClr val="FFFFFF">
                <a:lumMod val="75000"/>
              </a:srgbClr>
            </a:solidFill>
            <a:prstDash val="solid"/>
          </a:ln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000">
                <a:solidFill>
                  <a:schemeClr val="dk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171450" indent="-171450">
              <a:lnSpc>
                <a:spcPct val="114000"/>
              </a:lnSpc>
              <a:spcAft>
                <a:spcPts val="400"/>
              </a:spcAft>
              <a:buChar char="•"/>
            </a:pPr>
            <a:endParaRPr/>
          </a:p>
        </p:txBody>
      </p:sp>
      <p:cxnSp>
        <p:nvCxnSpPr>
          <p:cNvPr id="1008" name="Google Shape;99;p2"/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>
            <a:spLocks noGrp="1"/>
          </p:cNvSpPr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예선 산출물 – 아이디어 기획서</a:t>
            </a:r>
          </a:p>
        </p:txBody>
      </p:sp>
      <p:cxnSp>
        <p:nvCxnSpPr>
          <p:cNvPr id="1010" name="Google Shape;105;p2"/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ln w="19050" cap="flat">
            <a:solidFill>
              <a:srgbClr val="AEAEAE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>
            <a:spLocks noGrp="1"/>
          </p:cNvSpPr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>
            <a:spLocks noGrp="1"/>
          </p:cNvSpPr>
          <p:nvPr/>
        </p:nvSpPr>
        <p:spPr>
          <a:xfrm>
            <a:off x="939333" y="1189703"/>
            <a:ext cx="9875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Pretendard"/>
                <a:ea typeface="Pretendard"/>
                <a:cs typeface="+mj-ea"/>
              </a:rPr>
              <a:t>기대효과 ③ — 여기서 멈추지 않겠습니다</a:t>
            </a:r>
          </a:p>
        </p:txBody>
      </p:sp>
      <p:sp>
        <p:nvSpPr>
          <p:cNvPr id="10" name="직선 연결선 3">
            <a:extLst>
              <a:ext uri="{FF2B5EF4-FFF2-40B4-BE49-F238E27FC236}">
                <a16:creationId xmlns:a16="http://schemas.microsoft.com/office/drawing/2014/main" id="{1531CCBE-416B-40DA-973B-E7D076437643}"/>
              </a:ext>
            </a:extLst>
          </p:cNvPr>
          <p:cNvSpPr>
            <a:spLocks noGrp="1"/>
          </p:cNvSpPr>
          <p:nvPr/>
        </p:nv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015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60" y="6440832"/>
            <a:ext cx="988187" cy="329396"/>
          </a:xfrm>
          <a:prstGeom prst="rect">
            <a:avLst/>
          </a:prstGeom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8AAB5161-91C3-B8D3-C3D2-783097542A7A}"/>
              </a:ext>
            </a:extLst>
          </p:cNvPr>
          <p:cNvSpPr>
            <a:spLocks noGrp="1"/>
          </p:cNvSpPr>
          <p:nvPr/>
        </p:nvSpPr>
        <p:spPr>
          <a:xfrm>
            <a:off x="9887301" y="229867"/>
            <a:ext cx="19329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solidFill>
                  <a:srgbClr val="AEAEAE"/>
                </a:solidFill>
                <a:latin typeface="Malgun Gothic"/>
                <a:ea typeface="Malgun Gothic"/>
                <a:cs typeface="Malgun Gothic"/>
              </a:rPr>
              <a:t>아이디어 기획서</a:t>
            </a:r>
          </a:p>
        </p:txBody>
      </p:sp>
      <p:sp>
        <p:nvSpPr>
          <p:cNvPr id="1005" name="Auto Slide Number">
            <a:extLst>
              <a:ext uri="{FF2B5EF4-FFF2-40B4-BE49-F238E27FC236}">
                <a16:creationId xmlns:a16="http://schemas.microsoft.com/office/drawing/2014/main" id="{E7888A82-BDB0-4FC2-B3C2-7DDEC35A54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fld id="{81A4601E-17B6-43AB-AE80-175BABD0F04E}" type="slidenum">
              <a:rPr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</a:rPr>
              <a:t>15</a:t>
            </a:fld>
            <a:endParaRPr sz="1000">
              <a:solidFill>
                <a:srgbClr val="75757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16" name="Auto Slide Number"/>
          <p:cNvSpPr txBox="1">
            <a:spLocks noGrp="1"/>
          </p:cNvSpPr>
          <p:nvPr>
            <p:ph type="sldNum" idx="12"/>
          </p:nvPr>
        </p:nvSpPr>
        <p:spPr>
          <a:xfrm>
            <a:off x="5638800" y="646176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fld id="{C793FBA1-325E-47EB-AA4B-EA6035094169}" type="slidenum">
              <a:rPr lang="en-US" altLang="ko-KR" sz="1000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fld>
            <a:endParaRPr lang="ko-KR" sz="1000"/>
          </a:p>
        </p:txBody>
      </p:sp>
      <p:sp>
        <p:nvSpPr>
          <p:cNvPr id="1017" name="TextBox 1016"/>
          <p:cNvSpPr txBox="1"/>
          <p:nvPr/>
        </p:nvSpPr>
        <p:spPr>
          <a:xfrm>
            <a:off x="868680" y="1627632"/>
            <a:ext cx="1056132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>
                <a:solidFill>
                  <a:srgbClr val="1E2935"/>
                </a:solidFill>
                <a:latin typeface="Pretendard"/>
                <a:ea typeface="Pretendard"/>
              </a:rPr>
              <a:t>지금도 계속 만들어가고 있습니다. </a:t>
            </a:r>
            <a:r>
              <a:rPr sz="1300" b="1">
                <a:solidFill>
                  <a:srgbClr val="065078"/>
                </a:solidFill>
                <a:latin typeface="Pretendard"/>
                <a:ea typeface="Pretendard"/>
              </a:rPr>
              <a:t>웹과 모바일 앱, 그리고 정부 공식 인프라와의 연결로 완성도를 더 높이겠습니다.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868680" y="202996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" rIns="128016" bIns="9144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지금 · 예선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868680" y="2468880"/>
            <a:ext cx="3401568" cy="1810512"/>
          </a:xfrm>
          <a:prstGeom prst="roundRect">
            <a:avLst>
              <a:gd name="adj" fmla="val 9000"/>
            </a:avLst>
          </a:prstGeom>
          <a:solidFill>
            <a:srgbClr val="ECFDF2"/>
          </a:solidFill>
          <a:ln w="1651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웹으로 서비스를 운영하고 있습니다.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복지·장학금·행복주택·서민금융을 모았습니다.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설치 없이 서류 발급을 연결했습니다.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복지관 현장 파일럿을 마쳤습니다.</a:t>
            </a:r>
          </a:p>
        </p:txBody>
      </p:sp>
      <p:sp>
        <p:nvSpPr>
          <p:cNvPr id="1020" name="Right Arrow 1019"/>
          <p:cNvSpPr/>
          <p:nvPr/>
        </p:nvSpPr>
        <p:spPr>
          <a:xfrm>
            <a:off x="4288536" y="3255264"/>
            <a:ext cx="146304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47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Rounded Rectangle 1020"/>
          <p:cNvSpPr/>
          <p:nvPr/>
        </p:nvSpPr>
        <p:spPr>
          <a:xfrm>
            <a:off x="4453128" y="202996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" rIns="128016" bIns="9144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다음 · 본선까지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4453128" y="2468880"/>
            <a:ext cx="3401568" cy="1810512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651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모바일 앱(설치형)을 출시하겠습니다.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온통청년 등 청년정책 소스를 통합합니다.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신청서 자동 작성 범위를 넓힙니다.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어르신을 위한 음성 화면을 강화합니다.</a:t>
            </a:r>
          </a:p>
        </p:txBody>
      </p:sp>
      <p:sp>
        <p:nvSpPr>
          <p:cNvPr id="1023" name="Right Arrow 1022"/>
          <p:cNvSpPr/>
          <p:nvPr/>
        </p:nvSpPr>
        <p:spPr>
          <a:xfrm>
            <a:off x="7872983" y="3255264"/>
            <a:ext cx="146304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647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Rounded Rectangle 1023"/>
          <p:cNvSpPr/>
          <p:nvPr/>
        </p:nvSpPr>
        <p:spPr>
          <a:xfrm>
            <a:off x="8037575" y="202996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" rIns="128016" bIns="9144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</a:rPr>
              <a:t>앞으로 · 정식 출시</a:t>
            </a:r>
          </a:p>
        </p:txBody>
      </p:sp>
      <p:sp>
        <p:nvSpPr>
          <p:cNvPr id="1025" name="Rounded Rectangle 1024"/>
          <p:cNvSpPr/>
          <p:nvPr/>
        </p:nvSpPr>
        <p:spPr>
          <a:xfrm>
            <a:off x="8037575" y="2468880"/>
            <a:ext cx="3401568" cy="1810512"/>
          </a:xfrm>
          <a:prstGeom prst="roundRect">
            <a:avLst>
              <a:gd name="adj" fmla="val 9000"/>
            </a:avLst>
          </a:prstGeom>
          <a:solidFill>
            <a:srgbClr val="F5F2FF"/>
          </a:solidFill>
          <a:ln w="1651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t"/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전자증명서 API를 정식으로 연계합니다.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공공 마이데이터로 서류 없는 신청까지.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지자체·복지관에 부담 없이 보급합니다.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980" b="0">
                <a:solidFill>
                  <a:srgbClr val="1E2935"/>
                </a:solidFill>
                <a:latin typeface="Pretendard"/>
                <a:ea typeface="Pretendard"/>
              </a:rPr>
              <a:t>· 세금·행정 등 다른 생활 영역으로 넓힙니다.</a:t>
            </a:r>
          </a:p>
        </p:txBody>
      </p:sp>
      <p:sp>
        <p:nvSpPr>
          <p:cNvPr id="1026" name="Rounded Rectangle 1025"/>
          <p:cNvSpPr/>
          <p:nvPr/>
        </p:nvSpPr>
        <p:spPr>
          <a:xfrm>
            <a:off x="868680" y="4462272"/>
            <a:ext cx="10561320" cy="603504"/>
          </a:xfrm>
          <a:prstGeom prst="roundRect">
            <a:avLst>
              <a:gd name="adj" fmla="val 9000"/>
            </a:avLst>
          </a:prstGeom>
          <a:solidFill>
            <a:srgbClr val="EFF9F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065078"/>
                </a:solidFill>
                <a:latin typeface="Pretendard"/>
                <a:ea typeface="Pretendard"/>
              </a:rPr>
              <a:t>든든한 근거가 있습니다 — </a:t>
            </a:r>
            <a:r>
              <a:rPr sz="1000" b="0">
                <a:solidFill>
                  <a:srgbClr val="1E2935"/>
                </a:solidFill>
                <a:latin typeface="Pretendard"/>
                <a:ea typeface="Pretendard"/>
              </a:rPr>
              <a:t>전자증명서와 공공 마이데이터는 네이버·카카오·토스가 이미 쓰는 정부 공식 서비스입니다. 여기에 모두봄의 기기 내 처리 방식을 더하면, ‘개인정보를 맡기지 않고도 자동으로 신청’하는 일이 가능해집니다.</a:t>
            </a:r>
          </a:p>
        </p:txBody>
      </p:sp>
      <p:sp>
        <p:nvSpPr>
          <p:cNvPr id="1027" name="Rounded Rectangle 1026"/>
          <p:cNvSpPr/>
          <p:nvPr/>
        </p:nvSpPr>
        <p:spPr>
          <a:xfrm>
            <a:off x="868680" y="5212080"/>
            <a:ext cx="10561320" cy="457200"/>
          </a:xfrm>
          <a:prstGeom prst="roundRect">
            <a:avLst>
              <a:gd name="adj" fmla="val 9000"/>
            </a:avLst>
          </a:prstGeom>
          <a:solidFill>
            <a:srgbClr val="1E2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Ins="128016" bIns="73152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9DF7C0"/>
                </a:solidFill>
                <a:latin typeface="Pretendard"/>
                <a:ea typeface="Pretendard"/>
              </a:rPr>
              <a:t>모두의 봄날을 위해 — 몰라서 못 받는 복지가 없는 세상을, 모두봄이 만들어 가겠습니다. 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2764</Words>
  <Application>Microsoft Office PowerPoint</Application>
  <PresentationFormat>와이드스크린</PresentationFormat>
  <Paragraphs>331</Paragraphs>
  <Slides>15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Pretendard</vt:lpstr>
      <vt:lpstr>맑은 고딕</vt:lpstr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나준상</cp:lastModifiedBy>
  <cp:revision>9</cp:revision>
  <dcterms:created xsi:type="dcterms:W3CDTF">2026-06-30T07:31:27Z</dcterms:created>
  <dcterms:modified xsi:type="dcterms:W3CDTF">2026-07-07T01:07:57Z</dcterms:modified>
  <cp:version/>
</cp:coreProperties>
</file>