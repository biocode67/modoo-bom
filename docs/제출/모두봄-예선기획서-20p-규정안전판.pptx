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68" r:id="rId19"/>
    <p:sldId id="259" r:id="rId5"/>
    <p:sldId id="269" r:id="rId20"/>
    <p:sldId id="270" r:id="rId21"/>
    <p:sldId id="271" r:id="rId22"/>
    <p:sldId id="272" r:id="rId23"/>
    <p:sldId id="273" r:id="rId24"/>
    <p:sldId id="260" r:id="rId6"/>
    <p:sldId id="274" r:id="rId25"/>
    <p:sldId id="275" r:id="rId2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7A43732-219E-4773-AEE6-7331DB972763}">
  <a:tblStyle styleId="{97A43732-219E-4773-AEE6-7331DB972763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113A9D2-9D6B-4929-AA2D-F23B5EE8CBE7}" styleName="테마 스타일 2 - 강조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>
            <a:extLst>
              <a:ext uri="{FF2B5EF4-FFF2-40B4-BE49-F238E27FC236}">
                <a16:creationId xmlns:a16="http://schemas.microsoft.com/office/drawing/2014/main" id="{D43F976E-03C4-4021-AE11-CF32427C4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>
            <a:extLst>
              <a:ext uri="{FF2B5EF4-FFF2-40B4-BE49-F238E27FC236}">
                <a16:creationId xmlns:a16="http://schemas.microsoft.com/office/drawing/2014/main" id="{C3502992-4EF9-4994-BB1B-A90891BE0A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>
            <a:extLst>
              <a:ext uri="{FF2B5EF4-FFF2-40B4-BE49-F238E27FC236}">
                <a16:creationId xmlns:a16="http://schemas.microsoft.com/office/drawing/2014/main" id="{0F1D35D3-160A-4216-9F78-A725102E4D6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>
            <a:extLst>
              <a:ext uri="{FF2B5EF4-FFF2-40B4-BE49-F238E27FC236}">
                <a16:creationId xmlns:a16="http://schemas.microsoft.com/office/drawing/2014/main" id="{767152CD-DC30-4E7B-87DE-1FC18B1F268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>
            <a:extLst>
              <a:ext uri="{FF2B5EF4-FFF2-40B4-BE49-F238E27FC236}">
                <a16:creationId xmlns:a16="http://schemas.microsoft.com/office/drawing/2014/main" id="{7C7FF883-EF02-477E-9B32-B2FF27DACFB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>
            <a:extLst>
              <a:ext uri="{FF2B5EF4-FFF2-40B4-BE49-F238E27FC236}">
                <a16:creationId xmlns:a16="http://schemas.microsoft.com/office/drawing/2014/main" id="{B47C11B9-B030-41BF-A2E8-05F0929CB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>
            <a:extLst>
              <a:ext uri="{FF2B5EF4-FFF2-40B4-BE49-F238E27FC236}">
                <a16:creationId xmlns:a16="http://schemas.microsoft.com/office/drawing/2014/main" id="{39139773-F131-405E-91DB-4FE1A5FF7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>
            <a:extLst>
              <a:ext uri="{FF2B5EF4-FFF2-40B4-BE49-F238E27FC236}">
                <a16:creationId xmlns:a16="http://schemas.microsoft.com/office/drawing/2014/main" id="{D0745465-9829-4B5E-83BD-F22DD7965E1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>
            <a:extLst>
              <a:ext uri="{FF2B5EF4-FFF2-40B4-BE49-F238E27FC236}">
                <a16:creationId xmlns:a16="http://schemas.microsoft.com/office/drawing/2014/main" id="{30E343C6-F0F2-4D21-AF8C-61FC4A214F8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>
            <a:extLst>
              <a:ext uri="{FF2B5EF4-FFF2-40B4-BE49-F238E27FC236}">
                <a16:creationId xmlns:a16="http://schemas.microsoft.com/office/drawing/2014/main" id="{D5D97858-C2E1-43AD-A12E-E8F9E1D16C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>
            <a:extLst>
              <a:ext uri="{FF2B5EF4-FFF2-40B4-BE49-F238E27FC236}">
                <a16:creationId xmlns:a16="http://schemas.microsoft.com/office/drawing/2014/main" id="{9A1F5219-45DC-41BA-855E-0641A1852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>
            <a:extLst>
              <a:ext uri="{FF2B5EF4-FFF2-40B4-BE49-F238E27FC236}">
                <a16:creationId xmlns:a16="http://schemas.microsoft.com/office/drawing/2014/main" id="{EA7DBE77-74E2-4929-8F34-19778EAC9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>
            <a:extLst>
              <a:ext uri="{FF2B5EF4-FFF2-40B4-BE49-F238E27FC236}">
                <a16:creationId xmlns:a16="http://schemas.microsoft.com/office/drawing/2014/main" id="{747CC00E-0253-4598-A904-89BB612B84C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>
            <a:extLst>
              <a:ext uri="{FF2B5EF4-FFF2-40B4-BE49-F238E27FC236}">
                <a16:creationId xmlns:a16="http://schemas.microsoft.com/office/drawing/2014/main" id="{0DFD3125-DFE8-4CDB-B6EB-CFA661C013F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>
            <a:extLst>
              <a:ext uri="{FF2B5EF4-FFF2-40B4-BE49-F238E27FC236}">
                <a16:creationId xmlns:a16="http://schemas.microsoft.com/office/drawing/2014/main" id="{0CADFCCB-C133-486F-AE90-02EE74B8B3A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>
            <a:extLst>
              <a:ext uri="{FF2B5EF4-FFF2-40B4-BE49-F238E27FC236}">
                <a16:creationId xmlns:a16="http://schemas.microsoft.com/office/drawing/2014/main" id="{8E067876-F1BE-42A7-B8F8-2AEF061B612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>
            <a:extLst>
              <a:ext uri="{FF2B5EF4-FFF2-40B4-BE49-F238E27FC236}">
                <a16:creationId xmlns:a16="http://schemas.microsoft.com/office/drawing/2014/main" id="{8A874D9B-C6BF-4D53-B3ED-12384E8B5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>
            <a:extLst>
              <a:ext uri="{FF2B5EF4-FFF2-40B4-BE49-F238E27FC236}">
                <a16:creationId xmlns:a16="http://schemas.microsoft.com/office/drawing/2014/main" id="{411B361C-4CA1-48CB-A7EE-FB8BBF5630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>
            <a:extLst>
              <a:ext uri="{FF2B5EF4-FFF2-40B4-BE49-F238E27FC236}">
                <a16:creationId xmlns:a16="http://schemas.microsoft.com/office/drawing/2014/main" id="{A47A7033-EA00-45ED-9FCA-1BA99C9DDF8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>
            <a:extLst>
              <a:ext uri="{FF2B5EF4-FFF2-40B4-BE49-F238E27FC236}">
                <a16:creationId xmlns:a16="http://schemas.microsoft.com/office/drawing/2014/main" id="{AF785C25-A308-44FD-ADF6-742AA77BE277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>
            <a:extLst>
              <a:ext uri="{FF2B5EF4-FFF2-40B4-BE49-F238E27FC236}">
                <a16:creationId xmlns:a16="http://schemas.microsoft.com/office/drawing/2014/main" id="{3A8BCFED-5AD8-4432-89C8-F66B3264477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>
            <a:extLst>
              <a:ext uri="{FF2B5EF4-FFF2-40B4-BE49-F238E27FC236}">
                <a16:creationId xmlns:a16="http://schemas.microsoft.com/office/drawing/2014/main" id="{F0AA51E9-B918-455D-A1B3-CF3C82759D4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>
            <a:extLst>
              <a:ext uri="{FF2B5EF4-FFF2-40B4-BE49-F238E27FC236}">
                <a16:creationId xmlns:a16="http://schemas.microsoft.com/office/drawing/2014/main" id="{EDA523A6-9ADF-4612-A8EA-E52BA7E33BE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>
            <a:extLst>
              <a:ext uri="{FF2B5EF4-FFF2-40B4-BE49-F238E27FC236}">
                <a16:creationId xmlns:a16="http://schemas.microsoft.com/office/drawing/2014/main" id="{2CD7695E-396D-4BC0-BFB0-733E3CAE68C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>
            <a:extLst>
              <a:ext uri="{FF2B5EF4-FFF2-40B4-BE49-F238E27FC236}">
                <a16:creationId xmlns:a16="http://schemas.microsoft.com/office/drawing/2014/main" id="{129DD97B-6DED-42F4-88F9-44F8C4666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>
            <a:extLst>
              <a:ext uri="{FF2B5EF4-FFF2-40B4-BE49-F238E27FC236}">
                <a16:creationId xmlns:a16="http://schemas.microsoft.com/office/drawing/2014/main" id="{5CEB85B1-079E-4538-A3D3-0ADC658A782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>
            <a:extLst>
              <a:ext uri="{FF2B5EF4-FFF2-40B4-BE49-F238E27FC236}">
                <a16:creationId xmlns:a16="http://schemas.microsoft.com/office/drawing/2014/main" id="{5FD31133-7FD9-4C23-A2E9-BF37654A98C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>
            <a:extLst>
              <a:ext uri="{FF2B5EF4-FFF2-40B4-BE49-F238E27FC236}">
                <a16:creationId xmlns:a16="http://schemas.microsoft.com/office/drawing/2014/main" id="{C3DBDFFA-0725-4063-8722-35F8AB39BDD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>
            <a:extLst>
              <a:ext uri="{FF2B5EF4-FFF2-40B4-BE49-F238E27FC236}">
                <a16:creationId xmlns:a16="http://schemas.microsoft.com/office/drawing/2014/main" id="{F9FC97F4-CEC2-4F4C-9950-3F39C35D416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>
            <a:extLst>
              <a:ext uri="{FF2B5EF4-FFF2-40B4-BE49-F238E27FC236}">
                <a16:creationId xmlns:a16="http://schemas.microsoft.com/office/drawing/2014/main" id="{04EFA55A-98E7-49C0-95EF-3A870C7DDEA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>
            <a:extLst>
              <a:ext uri="{FF2B5EF4-FFF2-40B4-BE49-F238E27FC236}">
                <a16:creationId xmlns:a16="http://schemas.microsoft.com/office/drawing/2014/main" id="{02474604-AC9B-4128-9D0F-A362778112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>
            <a:extLst>
              <a:ext uri="{FF2B5EF4-FFF2-40B4-BE49-F238E27FC236}">
                <a16:creationId xmlns:a16="http://schemas.microsoft.com/office/drawing/2014/main" id="{E4C3A014-DCC4-4EDF-AF9C-3B75AF42C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>
            <a:extLst>
              <a:ext uri="{FF2B5EF4-FFF2-40B4-BE49-F238E27FC236}">
                <a16:creationId xmlns:a16="http://schemas.microsoft.com/office/drawing/2014/main" id="{827C85C4-B3B2-4D8B-BE38-AE2B14BC31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>
            <a:extLst>
              <a:ext uri="{FF2B5EF4-FFF2-40B4-BE49-F238E27FC236}">
                <a16:creationId xmlns:a16="http://schemas.microsoft.com/office/drawing/2014/main" id="{8C2138EC-877B-444D-9D05-5020782216E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>
            <a:extLst>
              <a:ext uri="{FF2B5EF4-FFF2-40B4-BE49-F238E27FC236}">
                <a16:creationId xmlns:a16="http://schemas.microsoft.com/office/drawing/2014/main" id="{8D9D35F8-044D-4FDE-B4D4-1FE35E85291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>
            <a:extLst>
              <a:ext uri="{FF2B5EF4-FFF2-40B4-BE49-F238E27FC236}">
                <a16:creationId xmlns:a16="http://schemas.microsoft.com/office/drawing/2014/main" id="{5CE87D36-51CC-4F05-9E2C-823E5A89A37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>
            <a:extLst>
              <a:ext uri="{FF2B5EF4-FFF2-40B4-BE49-F238E27FC236}">
                <a16:creationId xmlns:a16="http://schemas.microsoft.com/office/drawing/2014/main" id="{850EF542-0D32-4CF9-AAFA-7E677863E8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>
            <a:extLst>
              <a:ext uri="{FF2B5EF4-FFF2-40B4-BE49-F238E27FC236}">
                <a16:creationId xmlns:a16="http://schemas.microsoft.com/office/drawing/2014/main" id="{4B881F13-5976-43EF-AADB-D887E09C0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>
            <a:extLst>
              <a:ext uri="{FF2B5EF4-FFF2-40B4-BE49-F238E27FC236}">
                <a16:creationId xmlns:a16="http://schemas.microsoft.com/office/drawing/2014/main" id="{44B2752B-0962-4B58-9B9C-AE4C0FD41C60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>
            <a:extLst>
              <a:ext uri="{FF2B5EF4-FFF2-40B4-BE49-F238E27FC236}">
                <a16:creationId xmlns:a16="http://schemas.microsoft.com/office/drawing/2014/main" id="{BCC8A0FC-BBF7-4A21-BC97-8C77AAB34B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>
            <a:extLst>
              <a:ext uri="{FF2B5EF4-FFF2-40B4-BE49-F238E27FC236}">
                <a16:creationId xmlns:a16="http://schemas.microsoft.com/office/drawing/2014/main" id="{CF0B8A79-9C8D-4808-9AB2-2BD7F3BF4F3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225166B2-964F-4A84-A495-85F3AB39767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>
            <a:extLst>
              <a:ext uri="{FF2B5EF4-FFF2-40B4-BE49-F238E27FC236}">
                <a16:creationId xmlns:a16="http://schemas.microsoft.com/office/drawing/2014/main" id="{9B888530-D6E1-4F58-B120-3F6B25BAFC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>
            <a:extLst>
              <a:ext uri="{FF2B5EF4-FFF2-40B4-BE49-F238E27FC236}">
                <a16:creationId xmlns:a16="http://schemas.microsoft.com/office/drawing/2014/main" id="{637424C3-A8D7-4AAC-82F0-36591865E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>
            <a:extLst>
              <a:ext uri="{FF2B5EF4-FFF2-40B4-BE49-F238E27FC236}">
                <a16:creationId xmlns:a16="http://schemas.microsoft.com/office/drawing/2014/main" id="{0E4CF663-6FBA-4039-BC47-B26F372DF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>
            <a:extLst>
              <a:ext uri="{FF2B5EF4-FFF2-40B4-BE49-F238E27FC236}">
                <a16:creationId xmlns:a16="http://schemas.microsoft.com/office/drawing/2014/main" id="{01AB688D-460D-4C98-BCFD-7B9A70E5E39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>
            <a:extLst>
              <a:ext uri="{FF2B5EF4-FFF2-40B4-BE49-F238E27FC236}">
                <a16:creationId xmlns:a16="http://schemas.microsoft.com/office/drawing/2014/main" id="{FED18F07-25C0-4671-A75E-7170618E166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>
            <a:extLst>
              <a:ext uri="{FF2B5EF4-FFF2-40B4-BE49-F238E27FC236}">
                <a16:creationId xmlns:a16="http://schemas.microsoft.com/office/drawing/2014/main" id="{12746E0A-D67B-4B65-9923-A118F822936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>
            <a:extLst>
              <a:ext uri="{FF2B5EF4-FFF2-40B4-BE49-F238E27FC236}">
                <a16:creationId xmlns:a16="http://schemas.microsoft.com/office/drawing/2014/main" id="{47CADDE7-55BC-4388-B704-836733F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>
            <a:extLst>
              <a:ext uri="{FF2B5EF4-FFF2-40B4-BE49-F238E27FC236}">
                <a16:creationId xmlns:a16="http://schemas.microsoft.com/office/drawing/2014/main" id="{F86E7CB2-8F23-4406-8CFF-CF55319DDA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>
            <a:extLst>
              <a:ext uri="{FF2B5EF4-FFF2-40B4-BE49-F238E27FC236}">
                <a16:creationId xmlns:a16="http://schemas.microsoft.com/office/drawing/2014/main" id="{B6702FCE-A7E7-42C3-A8A4-A18A32928D4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>
            <a:extLst>
              <a:ext uri="{FF2B5EF4-FFF2-40B4-BE49-F238E27FC236}">
                <a16:creationId xmlns:a16="http://schemas.microsoft.com/office/drawing/2014/main" id="{7B1580CB-E661-4FDB-A940-C58D946F524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>
            <a:extLst>
              <a:ext uri="{FF2B5EF4-FFF2-40B4-BE49-F238E27FC236}">
                <a16:creationId xmlns:a16="http://schemas.microsoft.com/office/drawing/2014/main" id="{637861BE-9C37-4638-BEF2-CD2BFFB887C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>
            <a:extLst>
              <a:ext uri="{FF2B5EF4-FFF2-40B4-BE49-F238E27FC236}">
                <a16:creationId xmlns:a16="http://schemas.microsoft.com/office/drawing/2014/main" id="{96DB2D43-C681-426A-82F4-C8E1612AB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>
            <a:extLst>
              <a:ext uri="{FF2B5EF4-FFF2-40B4-BE49-F238E27FC236}">
                <a16:creationId xmlns:a16="http://schemas.microsoft.com/office/drawing/2014/main" id="{973774DD-5C39-4422-8A89-752268B56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7">
            <a:extLst>
              <a:ext uri="{FF2B5EF4-FFF2-40B4-BE49-F238E27FC236}">
                <a16:creationId xmlns:a16="http://schemas.microsoft.com/office/drawing/2014/main" id="{3496D5AE-45C8-46C6-83E9-7A17F5E9848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7">
            <a:extLst>
              <a:ext uri="{FF2B5EF4-FFF2-40B4-BE49-F238E27FC236}">
                <a16:creationId xmlns:a16="http://schemas.microsoft.com/office/drawing/2014/main" id="{7405C552-4F90-47C1-A40A-EFE69C0CC3A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7">
            <a:extLst>
              <a:ext uri="{FF2B5EF4-FFF2-40B4-BE49-F238E27FC236}">
                <a16:creationId xmlns:a16="http://schemas.microsoft.com/office/drawing/2014/main" id="{C0877448-5BD5-4FDF-8001-89778AF4DA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4" name="Google Shape;90;p1"/>
          <p:cNvCxnSpPr/>
          <p:nvPr/>
        </p:nvCxnSpPr>
        <p:spPr>
          <a:xfrm>
            <a:off x="388374" y="6415548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1005" name="Google Shape;90;p1"/>
          <p:cNvCxnSpPr/>
          <p:nvPr/>
        </p:nvCxnSpPr>
        <p:spPr>
          <a:xfrm>
            <a:off x="388374" y="364575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88" name="Google Shape;88;p1">
            <a:extLst>
              <a:ext uri="{FF2B5EF4-FFF2-40B4-BE49-F238E27FC236}">
                <a16:creationId xmlns:a16="http://schemas.microsoft.com/office/drawing/2014/main" id="{A348E4FE-D39F-4965-9FEF-1651C969C6D4}"/>
              </a:ext>
            </a:extLst>
          </p:cNvPr>
          <p:cNvSpPr>
            <a:spLocks noGrp="1"/>
          </p:cNvSpPr>
          <p:nvPr/>
        </p:nvSpPr>
        <p:spPr>
          <a:xfrm>
            <a:off x="1501950" y="1882817"/>
            <a:ext cx="91881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algn="ctr">
              <a:buNone/>
            </a:pPr>
            <a:r>
              <a:rPr sz="3600"/>
              <a:t>2026 AI・SW중심대학 디지털 경진대회</a:t>
            </a:r>
          </a:p>
        </p:txBody>
      </p:sp>
      <p:cxnSp>
        <p:nvCxnSpPr>
          <p:cNvPr id="1007" name="Google Shape;94;p1"/>
          <p:cNvCxnSpPr/>
          <p:nvPr/>
        </p:nvCxnSpPr>
        <p:spPr>
          <a:xfrm>
            <a:off x="2310450" y="2662599"/>
            <a:ext cx="7571100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759B1EC-410B-0EF7-0D10-30B750C7561A}"/>
              </a:ext>
            </a:extLst>
          </p:cNvPr>
          <p:cNvSpPr>
            <a:spLocks noGrp="1"/>
          </p:cNvSpPr>
          <p:nvPr/>
        </p:nvSpPr>
        <p:spPr>
          <a:xfrm>
            <a:off x="5554840" y="2877879"/>
            <a:ext cx="108234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buNone/>
            </a:pPr>
            <a:r>
              <a:rPr sz="1800"/>
              <a:t>SW 부문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828BAC-3C3C-DF73-B73D-81DE933F7260}"/>
              </a:ext>
            </a:extLst>
          </p:cNvPr>
          <p:cNvSpPr>
            <a:spLocks noGrp="1"/>
          </p:cNvSpPr>
          <p:nvPr/>
        </p:nvSpPr>
        <p:spPr>
          <a:xfrm>
            <a:off x="3524864" y="3627828"/>
            <a:ext cx="51422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000"/>
              <a:t>예선 산출물</a:t>
            </a:r>
          </a:p>
        </p:txBody>
      </p:sp>
      <p:pic>
        <p:nvPicPr>
          <p:cNvPr id="1010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graphicFrame>
        <p:nvGraphicFramePr>
          <p:cNvPr id="1011" name="표 8"/>
          <p:cNvGraphicFramePr/>
          <p:nvPr/>
        </p:nvGraphicFramePr>
        <p:xfrm>
          <a:off x="3386667" y="4215110"/>
          <a:ext cx="5418666" cy="13484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팀명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대학명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프로젝트명</a:t>
                      </a:r>
                    </a:p>
                  </a:txBody>
                  <a:tcPr anchor="ctr"/>
                </a:tc>
                <a:tc>
                  <a:txBody>
                    <a:bodyPr wrap="square" anchor="ctr"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모두봄(ModooBom)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몰라서 못 받는 복지를 찾아주는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개인 복지 AI 에이전트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C86A7E39-1677-4A30-99E3-4ABB8CCA1913}"/>
              </a:ext>
            </a:extLst>
          </p:cNvPr>
          <p:cNvSpPr>
            <a:spLocks noGrp="1"/>
          </p:cNvSpPr>
          <p:nvPr/>
        </p:nvSpPr>
        <p:spPr>
          <a:xfrm>
            <a:off x="5070985" y="4027938"/>
            <a:ext cx="2050027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001" name="Auto Slide Number">
            <a:extLst>
              <a:ext uri="{FF2B5EF4-FFF2-40B4-BE49-F238E27FC236}">
                <a16:creationId xmlns:a16="http://schemas.microsoft.com/office/drawing/2014/main" id="{4A58937D-3246-4958-9319-0AE8941549E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A043E515-D0BA-45BC-B57F-FC1C2BC8EAA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66ED27A-227C-4430-9872-E1DA9CAE64E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960433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2D8A6A-BAA6-9096-B1E5-F048C86014F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graphicFrame>
        <p:nvGraphicFramePr>
          <p:cNvPr id="1006" name="표 17"/>
          <p:cNvGraphicFramePr/>
          <p:nvPr/>
        </p:nvGraphicFramePr>
        <p:xfrm>
          <a:off x="744427" y="1145754"/>
          <a:ext cx="10776155" cy="4543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3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82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대학명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(대학명 입력)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팀명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(참가접수 팀명 입력)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팀원(학과)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팀장 OOO(OO학과), 팀원 OOO(OO학과), 팀원 OOO(OO학과)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프로젝트명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모두봄(ModooBom) — 몰라서 못 받는 복지를 찾아주는 개인 복지 AI 에이전트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한줄소개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프로필 입력 또는 </a:t>
                      </a:r>
                      <a:r>
                        <a:rPr sz="105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말 한마디</a:t>
                      </a: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면 복지정책·장학금·행복주택·서민금융 등 </a:t>
                      </a:r>
                      <a:r>
                        <a:rPr sz="105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5,300여 건</a:t>
                      </a: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에서 내 것을 찾아 쉬운 말로 설명하고,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설치 없이 웹에서 바로 </a:t>
                      </a:r>
                      <a:r>
                        <a:rPr sz="105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서류 자동발급·신청</a:t>
                      </a: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까지 도우며, 마감·갱신을 계속 지켜보는 </a:t>
                      </a:r>
                      <a:r>
                        <a:rPr sz="105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온디바이스 AI 복지 에이전트</a:t>
                      </a: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개인정보 서버 전송 0 · 라이브 운영 중: </a:t>
                      </a:r>
                      <a:r>
                        <a:rPr sz="1050" b="1">
                          <a:solidFill>
                            <a:srgbClr val="075985"/>
                          </a:solidFill>
                          <a:latin typeface="맑은 고딕"/>
                          <a:ea typeface="맑은 고딕"/>
                        </a:rPr>
                        <a:t>biocode67.github.io/modoo-bom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A191824-B2B3-882C-225B-A20742F1D017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Summary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E81DA4F-8AD4-2E88-1A2A-146560D4B69F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11" name="그림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2" name="Auto Slide Number">
            <a:extLst>
              <a:ext uri="{FF2B5EF4-FFF2-40B4-BE49-F238E27FC236}">
                <a16:creationId xmlns:a16="http://schemas.microsoft.com/office/drawing/2014/main" id="{61C4CD4E-EC9B-4CD2-B982-FD172997D6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B37562F-DF91-4CB2-B997-3BB225CFA8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2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A02CCFD-7961-4677-8CF5-C80BA8B1DF7F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195943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주제 제안 배경 ① — 어떤 문제를 풀려고 하는가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대한민국 복지는 </a:t>
            </a:r>
            <a:r>
              <a:rPr sz="1300" b="1">
                <a:solidFill>
                  <a:srgbClr val="9F1239"/>
                </a:solidFill>
                <a:latin typeface="맑은 고딕"/>
                <a:ea typeface="맑은 고딕"/>
              </a:rPr>
              <a:t>‘신청해야 받는’ 구조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 — 자격이 있어도 신청하지 않으면 아무것도 오지 않는다.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29968"/>
            <a:ext cx="3401568" cy="178308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800" b="0">
                <a:solidFill>
                  <a:srgbClr val="1F2937"/>
                </a:solidFill>
                <a:latin typeface="맑은 고딕"/>
                <a:ea typeface="맑은 고딕"/>
              </a:rPr>
              <a:t>🧩  </a:t>
            </a:r>
            <a:r>
              <a:rPr sz="1400" b="1">
                <a:solidFill>
                  <a:srgbClr val="9F1239"/>
                </a:solidFill>
                <a:latin typeface="맑은 고딕"/>
                <a:ea typeface="맑은 고딕"/>
              </a:rPr>
              <a:t>흩어진 정보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복지정책은 중앙부처·지자체에, 장학금·주택공고·서민금융은 또 다른 사이트에, 민간재단 지원은 어떤 정부 포털에도 없다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4453128" y="2029968"/>
            <a:ext cx="3401568" cy="178308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800" b="0">
                <a:solidFill>
                  <a:srgbClr val="1F2937"/>
                </a:solidFill>
                <a:latin typeface="맑은 고딕"/>
                <a:ea typeface="맑은 고딕"/>
              </a:rPr>
              <a:t>📖  </a:t>
            </a:r>
            <a:r>
              <a:rPr sz="1400" b="1">
                <a:solidFill>
                  <a:srgbClr val="92400E"/>
                </a:solidFill>
                <a:latin typeface="맑은 고딕"/>
                <a:ea typeface="맑은 고딕"/>
              </a:rPr>
              <a:t>어려운 말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‘기준 중위소득’ ‘소득인정액’ ‘차상위’… 내가 자격이 되는지 스스로 판단하기 어렵다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037575" y="2029968"/>
            <a:ext cx="3401568" cy="178308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800" b="0">
                <a:solidFill>
                  <a:srgbClr val="1F2937"/>
                </a:solidFill>
                <a:latin typeface="맑은 고딕"/>
                <a:ea typeface="맑은 고딕"/>
              </a:rPr>
              <a:t>📝  </a:t>
            </a:r>
            <a:r>
              <a:rPr sz="1400" b="1">
                <a:solidFill>
                  <a:srgbClr val="075985"/>
                </a:solidFill>
                <a:latin typeface="맑은 고딕"/>
                <a:ea typeface="맑은 고딕"/>
              </a:rPr>
              <a:t>복잡한 절차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서류 준비 → 발급 → 신청 → 심사 추적. 단계마다 다른 사이트, 다른 방법, 다른 서류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68680" y="4096512"/>
            <a:ext cx="10561320" cy="658368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맑은 고딕"/>
                <a:ea typeface="맑은 고딕"/>
              </a:rPr>
              <a:t>그 결과 — 자격이 있어도 </a:t>
            </a:r>
            <a:r>
              <a:rPr sz="1350" b="1">
                <a:solidFill>
                  <a:srgbClr val="86EFAC"/>
                </a:solidFill>
                <a:latin typeface="맑은 고딕"/>
                <a:ea typeface="맑은 고딕"/>
              </a:rPr>
              <a:t>몰라서 · 어려워서 · 번거로워서</a:t>
            </a:r>
            <a:r>
              <a:rPr sz="1350" b="0">
                <a:solidFill>
                  <a:srgbClr val="FFFFFF"/>
                </a:solidFill>
                <a:latin typeface="맑은 고딕"/>
                <a:ea typeface="맑은 고딕"/>
              </a:rPr>
              <a:t> 못 받는다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5010912"/>
            <a:ext cx="105613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</a:rPr>
              <a:t>가장 필요한 사람이 가장 접근하지 못한다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5303520"/>
            <a:ext cx="2029968" cy="7863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👵 독거 어르신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복잡한 웹·용어의 장벽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3008376" y="5303520"/>
            <a:ext cx="2029968" cy="7863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♿ 장애인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정보가 가장 분산된 영역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5148072" y="5303520"/>
            <a:ext cx="2029968" cy="7863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👩‍👧 한부모·다문화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겹치는 자격, 놓치는 지원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7287768" y="5303520"/>
            <a:ext cx="2029968" cy="7863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🧑 위기 청년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제도를 모르는 채 고립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9427463" y="5303520"/>
            <a:ext cx="2029968" cy="7863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🌏 외국인 주민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언어 장벽까지 이중고</a:t>
            </a:r>
          </a:p>
        </p:txBody>
      </p:sp>
    </p:spTree>
    <p:extLst>
      <p:ext uri="{BB962C8B-B14F-4D97-AF65-F5344CB8AC3E}">
        <p14:creationId xmlns:p14="http://schemas.microsoft.com/office/powerpoint/2010/main" val="91869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① — 에이전트 루프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사용자를 대신해 </a:t>
            </a:r>
            <a:r>
              <a:rPr sz="1300" b="1">
                <a:solidFill>
                  <a:srgbClr val="15803D"/>
                </a:solidFill>
                <a:latin typeface="맑은 고딕"/>
                <a:ea typeface="맑은 고딕"/>
              </a:rPr>
              <a:t>인지 → 판단 → 이해 → 행동 → 관찰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을 자율적으로 도는 5단계 루프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48256"/>
            <a:ext cx="1956816" cy="237744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350" b="1">
                <a:solidFill>
                  <a:srgbClr val="15803D"/>
                </a:solidFill>
                <a:latin typeface="맑은 고딕"/>
                <a:ea typeface="맑은 고딕"/>
              </a:rPr>
              <a:t>① 인지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상황 파악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1분 대화형 프로필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자연어 한 문장 분석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“72세 혼자 사는데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  소득이 적어요”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음성 입력 지원</a:t>
            </a:r>
          </a:p>
        </p:txBody>
      </p:sp>
      <p:sp>
        <p:nvSpPr>
          <p:cNvPr id="1018" name="Right Arrow 1017"/>
          <p:cNvSpPr/>
          <p:nvPr/>
        </p:nvSpPr>
        <p:spPr>
          <a:xfrm>
            <a:off x="2811779" y="3090672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Rounded Rectangle 1018"/>
          <p:cNvSpPr/>
          <p:nvPr/>
        </p:nvSpPr>
        <p:spPr>
          <a:xfrm>
            <a:off x="3017520" y="2048256"/>
            <a:ext cx="1956816" cy="237744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350" b="1">
                <a:solidFill>
                  <a:srgbClr val="075985"/>
                </a:solidFill>
                <a:latin typeface="맑은 고딕"/>
                <a:ea typeface="맑은 고딕"/>
              </a:rPr>
              <a:t>② 판단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자격 선별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5,300여 건 자격판정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2026 공식 선정기준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확실/관련 신뢰도 분리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(과장 방지 설계)</a:t>
            </a:r>
          </a:p>
        </p:txBody>
      </p:sp>
      <p:sp>
        <p:nvSpPr>
          <p:cNvPr id="1020" name="Right Arrow 1019"/>
          <p:cNvSpPr/>
          <p:nvPr/>
        </p:nvSpPr>
        <p:spPr>
          <a:xfrm>
            <a:off x="4960620" y="3090672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Rounded Rectangle 1020"/>
          <p:cNvSpPr/>
          <p:nvPr/>
        </p:nvSpPr>
        <p:spPr>
          <a:xfrm>
            <a:off x="5166360" y="2048256"/>
            <a:ext cx="1956816" cy="237744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350" b="1">
                <a:solidFill>
                  <a:srgbClr val="6D28D9"/>
                </a:solidFill>
                <a:latin typeface="맑은 고딕"/>
                <a:ea typeface="맑은 고딕"/>
              </a:rPr>
              <a:t>③ 이해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쉽게 설명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쉬운 말 결과·용어사전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7개 언어 AI 답변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온디바이스 신경망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TTS 읽어주기</a:t>
            </a:r>
          </a:p>
        </p:txBody>
      </p:sp>
      <p:sp>
        <p:nvSpPr>
          <p:cNvPr id="1022" name="Right Arrow 1021"/>
          <p:cNvSpPr/>
          <p:nvPr/>
        </p:nvSpPr>
        <p:spPr>
          <a:xfrm>
            <a:off x="7109460" y="3090672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Rounded Rectangle 1022"/>
          <p:cNvSpPr/>
          <p:nvPr/>
        </p:nvSpPr>
        <p:spPr>
          <a:xfrm>
            <a:off x="7315200" y="2048256"/>
            <a:ext cx="1956816" cy="237744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350" b="1">
                <a:solidFill>
                  <a:srgbClr val="92400E"/>
                </a:solidFill>
                <a:latin typeface="맑은 고딕"/>
                <a:ea typeface="맑은 고딕"/>
              </a:rPr>
              <a:t>④ 행동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실행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서류 자동발급 연결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신청서 자동 작성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“다 담아줘” → 저장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필요서류 자동 집계</a:t>
            </a:r>
          </a:p>
        </p:txBody>
      </p:sp>
      <p:sp>
        <p:nvSpPr>
          <p:cNvPr id="1024" name="Right Arrow 1023"/>
          <p:cNvSpPr/>
          <p:nvPr/>
        </p:nvSpPr>
        <p:spPr>
          <a:xfrm>
            <a:off x="9258300" y="3090672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Rounded Rectangle 1024"/>
          <p:cNvSpPr/>
          <p:nvPr/>
        </p:nvSpPr>
        <p:spPr>
          <a:xfrm>
            <a:off x="9464040" y="2048256"/>
            <a:ext cx="1956816" cy="237744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350" b="1">
                <a:solidFill>
                  <a:srgbClr val="9F1239"/>
                </a:solidFill>
                <a:latin typeface="맑은 고딕"/>
                <a:ea typeface="맑은 고딕"/>
              </a:rPr>
              <a:t>⑤ 관찰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계속 감시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신청 마감 D-day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갱신 임박·서류 미비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앱 열면 먼저 브리핑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복지 캘린더 연동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868680" y="4517136"/>
            <a:ext cx="105613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6B7280"/>
                </a:solidFill>
                <a:latin typeface="맑은 고딕"/>
                <a:ea typeface="맑은 고딕"/>
              </a:rPr>
              <a:t>↻ 관찰 결과(마감 임박·새 자격)는 다시 ‘인지’로 — 사용자가 묻기 전에 에이전트가 먼저 알린다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868680" y="4864608"/>
            <a:ext cx="10561320" cy="859536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92400E"/>
                </a:solidFill>
                <a:latin typeface="맑은 고딕"/>
                <a:ea typeface="맑은 고딕"/>
              </a:rPr>
              <a:t>🙋 안전 설계 — </a:t>
            </a: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본인인증 등 법적 확인 단계만 본인이 직접, 나머지는 전부 에이전트가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정부 신청의 본인확인은 법적 필수 절차. 에이전트는 그 직전까지 모두 준비하고, 확인 클릭만 사람이 한다 — 신뢰할 수 있는 자동화의 기준.</a:t>
            </a:r>
          </a:p>
        </p:txBody>
      </p:sp>
    </p:spTree>
    <p:extLst>
      <p:ext uri="{BB962C8B-B14F-4D97-AF65-F5344CB8AC3E}">
        <p14:creationId xmlns:p14="http://schemas.microsoft.com/office/powerpoint/2010/main" val="4027285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기대효과 ① — 한 사람에게 생기는 변화 (실측)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5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</a:rPr>
              <a:t>라이브 서비스에서 실제 측정한 페르소나별 발견 가치 </a:t>
            </a: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(‘월 최대·중복수급 미반영’ 명시 — 과장 없음)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103120"/>
            <a:ext cx="3401568" cy="228600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</a:rPr>
              <a:t>👵 독거 어르신 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중위소득 25% · 72세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2200" b="1">
                <a:solidFill>
                  <a:srgbClr val="15803D"/>
                </a:solidFill>
                <a:latin typeface="맑은 고딕"/>
                <a:ea typeface="맑은 고딕"/>
              </a:rPr>
              <a:t>월 최대 63.9만원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기초연금+생계급여 등 핵심 현금지원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감액·중복 관계까지 안내(조합 도우미)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+ 돌봄·의료 서비스 다수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4453128" y="2103120"/>
            <a:ext cx="3401568" cy="228600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</a:rPr>
              <a:t>🤰 출산 가정 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0세 자녀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2200" b="1">
                <a:solidFill>
                  <a:srgbClr val="9F1239"/>
                </a:solidFill>
                <a:latin typeface="맑은 고딕"/>
                <a:ea typeface="맑은 고딕"/>
              </a:rPr>
              <a:t>월 최대 119.3만원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부모급여+아동수당 등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‘출생 후 60일’ 소급 시한 능동 알림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— 놓치면 사라지는 돈을 지킨다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037575" y="2103120"/>
            <a:ext cx="3401568" cy="228600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</a:rPr>
              <a:t>♿ 중증장애인 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1급 · 45세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2200" b="1">
                <a:solidFill>
                  <a:srgbClr val="075985"/>
                </a:solidFill>
                <a:latin typeface="맑은 고딕"/>
                <a:ea typeface="맑은 고딕"/>
              </a:rPr>
              <a:t>월 최대 34.9만원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장애인연금 등 법정 급여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+ 민간 의료·재활 재단 연계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(어떤 정부 포털에도 없는 지원)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4626864"/>
            <a:ext cx="105613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이 숫자의 의미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4919472"/>
            <a:ext cx="10561320" cy="1005840"/>
          </a:xfrm>
          <a:prstGeom prst="roundRect">
            <a:avLst>
              <a:gd name="adj" fmla="val 10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</a:rPr>
              <a:t>독거 어르신 한 분 기준 </a:t>
            </a:r>
            <a:r>
              <a:rPr sz="1150" b="1">
                <a:solidFill>
                  <a:srgbClr val="15803D"/>
                </a:solidFill>
                <a:latin typeface="맑은 고딕"/>
                <a:ea typeface="맑은 고딕"/>
              </a:rPr>
              <a:t>연 767만원</a:t>
            </a:r>
            <a:r>
              <a:rPr sz="1150" b="0">
                <a:solidFill>
                  <a:srgbClr val="1F2937"/>
                </a:solidFill>
                <a:latin typeface="맑은 고딕"/>
                <a:ea typeface="맑은 고딕"/>
              </a:rPr>
              <a:t> — 이 돈은 새로 만든 예산이 아니라, </a:t>
            </a: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이미 배정되어 있었지만 주인을 찾지 못하던 돈</a:t>
            </a:r>
            <a:r>
              <a:rPr sz="1150" b="0">
                <a:solidFill>
                  <a:srgbClr val="1F2937"/>
                </a:solidFill>
                <a:latin typeface="맑은 고딕"/>
                <a:ea typeface="맑은 고딕"/>
              </a:rPr>
              <a:t>이다.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모두봄은 복지 예산을 늘리는 서비스가 아니라, 이미 있는 권리를 주인에게 돌려주는 서비스다.</a:t>
            </a:r>
          </a:p>
        </p:txBody>
      </p:sp>
    </p:spTree>
    <p:extLst>
      <p:ext uri="{BB962C8B-B14F-4D97-AF65-F5344CB8AC3E}">
        <p14:creationId xmlns:p14="http://schemas.microsoft.com/office/powerpoint/2010/main" val="3579705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최종 산출물 개요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B4C9C43D-C5AC-4315-9BD6-34E1DDE42CB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4FC7CE-8E2B-C5DE-8F36-06CC621A459E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완성한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결과물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(SW)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의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목적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해결하려는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문제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핵심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사용자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가치를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간결하게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결과물의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대표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화면이나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예시를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함께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제시할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수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있습니다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3383210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AE7259-26F0-06A2-EAF0-0D348222D14B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0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4C676688-A4F9-28A5-585E-15C4791A36ED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2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1C89922-1506-2D6C-C1C7-A35B619FBB4A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5FF4459E-C0FB-47AF-9858-82F4C062AF14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E20A8A-50DC-1699-36DC-DE2652FD7726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155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 fontScale="96312"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사용자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입력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데이터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맥락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이해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추론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제안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또는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실행</a:t>
            </a:r>
            <a:r>
              <a:rPr 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등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까지의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흐름을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설명합니다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외부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API,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모델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데이터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저장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구조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등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주요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기술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요소를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함께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정리합니다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B6FD35-8911-88CB-877F-E612391C583D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AI Agent 작동 구조</a:t>
            </a:r>
          </a:p>
        </p:txBody>
      </p:sp>
      <p:pic>
        <p:nvPicPr>
          <p:cNvPr id="1017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A7C6DEDF-7F99-D861-5BA6-64A5BF99B3BE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7" name="Auto Slide Number">
            <a:extLst>
              <a:ext uri="{FF2B5EF4-FFF2-40B4-BE49-F238E27FC236}">
                <a16:creationId xmlns:a16="http://schemas.microsoft.com/office/drawing/2014/main" id="{BCE182EC-8ADC-4E10-B5B1-E64AF5DC352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A31C7C2C-5E7C-4D07-AD31-90820A552FAF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7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8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BA80E9C-30AD-4A60-BD79-443F99FB659B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1018710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1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3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핵심 기능 설명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A99FA-B21D-F75D-948E-7068D40928E0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2848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최종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산출물에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구현된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주요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기능을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사용자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관점에서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설명합니다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각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기능이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어떤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입력을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받아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어떤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제공하는지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구체적으로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018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8" name="Auto Slide Number">
            <a:extLst>
              <a:ext uri="{FF2B5EF4-FFF2-40B4-BE49-F238E27FC236}">
                <a16:creationId xmlns:a16="http://schemas.microsoft.com/office/drawing/2014/main" id="{C3806338-8667-43E4-9932-B370A293CBE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2876C266-6B0E-466B-A4D1-142268136602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8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9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03DD7086-28FB-44E2-AA91-6C7EB8293AB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2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4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사용자 이용 흐름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A99FA-B21D-F75D-948E-7068D40928E0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303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사용자가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서비스를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처음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실행한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뒤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얻기까지의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과정을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단계별로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설명합니다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주요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화면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입력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방식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피드백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알림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예외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상황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대응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등을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포함할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수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있습니다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019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9" name="Auto Slide Number">
            <a:extLst>
              <a:ext uri="{FF2B5EF4-FFF2-40B4-BE49-F238E27FC236}">
                <a16:creationId xmlns:a16="http://schemas.microsoft.com/office/drawing/2014/main" id="{F03A28DD-4959-436F-A82A-465411E36E2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87946CA-ABCC-435C-88E7-94F4DAE6B533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9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0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FD52322-2022-4E01-8BA1-7BE5C50FB65B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3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5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실용성 및 확장 가능성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A99FA-B21D-F75D-948E-7068D40928E0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192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실제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환경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반복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가치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보안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및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신뢰성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고려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사항을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향후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기능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확장이나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다른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생활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영역으로의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적용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가능성을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설명합니다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020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</a:t>
            </a:r>
            <a:r>
              <a:rPr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산출물</a:t>
            </a:r>
            <a:endParaRPr sz="1000" b="1" dirty="0">
              <a:solidFill>
                <a:srgbClr val="AEAEA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0" name="Auto Slide Number">
            <a:extLst>
              <a:ext uri="{FF2B5EF4-FFF2-40B4-BE49-F238E27FC236}">
                <a16:creationId xmlns:a16="http://schemas.microsoft.com/office/drawing/2014/main" id="{623768C6-1E77-434B-AF01-F644A8526F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09EBF7F1-4C1A-4BB6-ACF6-68E846D5C876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10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1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DEDA0E61-B5BF-4811-ABBF-BDFA2FA332D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28A62E3-D408-7FC8-9839-A8EBBDF10A5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4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95CFAAB-4B1E-5327-77CD-70660E75B81B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부록 - 출처</a:t>
            </a:r>
          </a:p>
        </p:txBody>
      </p:sp>
      <p:cxnSp>
        <p:nvCxnSpPr>
          <p:cNvPr id="1016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288B9181-33AB-4D8B-6EDA-A7A26948B16E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589193-8E71-7BFA-7464-C09722F7974A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3956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 fontScale="92788"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프로젝트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수행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과정에서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외부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데이터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모델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API,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라이브러리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이미지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도표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참고자료의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출처를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직접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제작한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자료와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외부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자원을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구분하여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정리합니다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019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11" name="Auto Slide Number">
            <a:extLst>
              <a:ext uri="{FF2B5EF4-FFF2-40B4-BE49-F238E27FC236}">
                <a16:creationId xmlns:a16="http://schemas.microsoft.com/office/drawing/2014/main" id="{7C251B65-C9E9-4266-B0D1-7D129D2AC8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22AD0EBC-FAE6-4543-8956-6420D7741273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0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04D2502F-6203-4A2B-81A3-290D9B809F4F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fld>
            <a:endParaRPr lang="ko-KR" sz="1000"/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9A7CDF6C-182F-BE6D-CF16-CBDDB8E1E65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</a:t>
            </a:r>
            <a:r>
              <a:rPr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산출물</a:t>
            </a:r>
            <a:endParaRPr sz="1000" b="1" dirty="0">
              <a:solidFill>
                <a:srgbClr val="AEAEAE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776102690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주제 제안 배경 ② — 문제의 크기를 직접 측정했다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아이디어 단계에서 이미 서비스를 만들어 라이브로 운영하며, 격차를 </a:t>
            </a:r>
            <a:r>
              <a:rPr sz="1300" b="1">
                <a:solidFill>
                  <a:srgbClr val="15803D"/>
                </a:solidFill>
                <a:latin typeface="맑은 고딕"/>
                <a:ea typeface="맑은 고딕"/>
              </a:rPr>
              <a:t>실제 데이터로 확인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66544"/>
            <a:ext cx="5166360" cy="1627632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2100" b="1">
                <a:solidFill>
                  <a:srgbClr val="15803D"/>
                </a:solidFill>
                <a:latin typeface="맑은 고딕"/>
                <a:ea typeface="맑은 고딕"/>
              </a:rPr>
              <a:t>5,300+  </a:t>
            </a: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한곳에 모은 복지·지원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복지정책(중앙 460·지자체 4,683)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+ 장학금·행복주택·서민금융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+ 민간재단 21(정부 포털에 없음)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263640" y="2066544"/>
            <a:ext cx="5166360" cy="1627632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2100" b="1">
                <a:solidFill>
                  <a:srgbClr val="9F1239"/>
                </a:solidFill>
                <a:latin typeface="맑은 고딕"/>
                <a:ea typeface="맑은 고딕"/>
              </a:rPr>
              <a:t>월 63.9만원  </a:t>
            </a: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한 명이 놓치던 돈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독거 어르신(중위 25%) 1명이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몰라서 못 받던 핵심 현금지원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(월 최대·공식 기준 검증)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822191"/>
            <a:ext cx="5166360" cy="1627632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2100" b="1">
                <a:solidFill>
                  <a:srgbClr val="075985"/>
                </a:solidFill>
                <a:latin typeface="맑은 고딕"/>
                <a:ea typeface="맑은 고딕"/>
              </a:rPr>
              <a:t>13종 → 1클릭  </a:t>
            </a: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서류의 벽 해체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복지 신청에 필요한 증명서류를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설치 없이 웹에서 바로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자동발급 연결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263640" y="3822191"/>
            <a:ext cx="5166360" cy="1627632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2100" b="1">
                <a:solidFill>
                  <a:srgbClr val="6D28D9"/>
                </a:solidFill>
                <a:latin typeface="맑은 고딕"/>
                <a:ea typeface="맑은 고딕"/>
              </a:rPr>
              <a:t>7개 언어  </a:t>
            </a: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언어 장벽 해체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영어·베트남어·중국어 등으로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묻고 답 받는 복지 탐색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(온디바이스 AI 의미검색)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5650992"/>
            <a:ext cx="1056132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대상 사용자 — </a:t>
            </a: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1차: 정보 접근성이 낮은 취약계층(어르신·장애인·한부모·다문화·위기청년·외국인) · 2차: 가족을 대신 챙기는 보호자, 사회복지 현장 종사자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주제 제안 배경 ③ — 왜 AI Agent 기반 SW여야 하는가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검색 포털은 이미 있다. 문제는 검색이 아니라 </a:t>
            </a:r>
            <a:r>
              <a:rPr sz="1300" b="1">
                <a:solidFill>
                  <a:srgbClr val="9F1239"/>
                </a:solidFill>
                <a:latin typeface="맑은 고딕"/>
                <a:ea typeface="맑은 고딕"/>
              </a:rPr>
              <a:t>‘찾고 → 이해하고 → 신청하고 → 관리하는’ 전 과정의 부담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84832"/>
            <a:ext cx="5120640" cy="1700784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397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기존 방식 — 정보 검색 포털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검색 결과를 ‘나열’할 뿐 — 판단·이해·신청·관리는 전부 사용자의 몫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가장 필요한 사람(어르신·장애인·외국인)이 가장 쓰기 어려운 구조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355080" y="2084832"/>
            <a:ext cx="5074920" cy="17007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모두봄 — 전 과정을 대신 도는 에이전트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인지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(상황 파악) → </a:t>
            </a: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판단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(자격 선별) → </a:t>
            </a: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이해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(쉬운 말·7개 언어)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→ </a:t>
            </a: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행동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(서류·신청 실행) → </a:t>
            </a: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관찰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(마감·갱신 감시)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</a:rPr>
              <a:t>챗봇이 아니라 </a:t>
            </a:r>
            <a:r>
              <a:rPr sz="1100" b="1">
                <a:solidFill>
                  <a:srgbClr val="15803D"/>
                </a:solidFill>
                <a:latin typeface="맑은 고딕"/>
                <a:ea typeface="맑은 고딕"/>
              </a:rPr>
              <a:t>이 루프 전체가 에이전트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1019" name="Right Arrow 1018"/>
          <p:cNvSpPr/>
          <p:nvPr/>
        </p:nvSpPr>
        <p:spPr>
          <a:xfrm>
            <a:off x="6007608" y="2706624"/>
            <a:ext cx="329184" cy="4572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Rounded Rectangle 1019"/>
          <p:cNvSpPr/>
          <p:nvPr/>
        </p:nvSpPr>
        <p:spPr>
          <a:xfrm>
            <a:off x="868680" y="4005072"/>
            <a:ext cx="10561320" cy="841248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397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동시에 지켜야 할 제약 — </a:t>
            </a:r>
            <a:r>
              <a:rPr sz="1200" b="1">
                <a:solidFill>
                  <a:srgbClr val="6D28D9"/>
                </a:solidFill>
                <a:latin typeface="맑은 고딕"/>
                <a:ea typeface="맑은 고딕"/>
              </a:rPr>
              <a:t>복지 대상자의 소득·장애·가구 정보는 극도로 민감한 개인정보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→ 개인정보를 서버로 보내지 않는 </a:t>
            </a:r>
            <a:r>
              <a:rPr sz="1050" b="1">
                <a:solidFill>
                  <a:srgbClr val="6D28D9"/>
                </a:solidFill>
                <a:latin typeface="맑은 고딕"/>
                <a:ea typeface="맑은 고딕"/>
              </a:rPr>
              <a:t>온디바이스 에이전트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 설계가 필요하다. 모두봄은 이 두 요구를 동시에 충족한다.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5084064"/>
            <a:ext cx="105613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아이디어가 아니라 검증된 가설 — 예선 시점에 이미 라이브로 동작한다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5394960"/>
            <a:ext cx="3401568" cy="859536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🌱 라이브 서비스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설치·로그인 없이 즉시 체험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biocode67.github.io/modoo-bom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4453128" y="5394960"/>
            <a:ext cx="3401568" cy="859536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🧪 자동 테스트 426개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프론트 392 + 백엔드 34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금액·자격판정 상시 회귀 검증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8037575" y="5394960"/>
            <a:ext cx="3401568" cy="859536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📊 전 금액 공식 출처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기초연금 349,700원 등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2026 보건복지부 고시 전수 검증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② — 묻지 않아도 알아듣는 입구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서식 입력이 아니라 </a:t>
            </a:r>
            <a:r>
              <a:rPr sz="1300" b="1">
                <a:solidFill>
                  <a:srgbClr val="15803D"/>
                </a:solidFill>
                <a:latin typeface="맑은 고딕"/>
                <a:ea typeface="맑은 고딕"/>
              </a:rPr>
              <a:t>대화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로 시작한다 — 새싹이 캐릭터와 말하듯 답만 고르면 끝.</a:t>
            </a:r>
          </a:p>
        </p:txBody>
      </p:sp>
      <p:pic>
        <p:nvPicPr>
          <p:cNvPr id="1017" name="Picture 1016" descr="shot-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84832"/>
            <a:ext cx="5394960" cy="3793331"/>
          </a:xfrm>
          <a:prstGeom prst="rect">
            <a:avLst/>
          </a:prstGeom>
        </p:spPr>
      </p:pic>
      <p:sp>
        <p:nvSpPr>
          <p:cNvPr id="1018" name="Rectangle 1017"/>
          <p:cNvSpPr/>
          <p:nvPr/>
        </p:nvSpPr>
        <p:spPr>
          <a:xfrm>
            <a:off x="850392" y="2066544"/>
            <a:ext cx="5431536" cy="3829907"/>
          </a:xfrm>
          <a:prstGeom prst="rect">
            <a:avLst/>
          </a:prstGeom>
          <a:noFill/>
          <a:ln w="1524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868680" y="5933027"/>
            <a:ext cx="53949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맑은 고딕"/>
                <a:ea typeface="맑은 고딕"/>
              </a:rPr>
              <a:t>실제 화면 — 마스코트 ‘새싹이’와의 대화형 프로필 (건너뛰기 자유·이름은 안 알려줘도 됨)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629400" y="2084832"/>
            <a:ext cx="4754880" cy="859536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💬 대화형 프로필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폼 대신 새싹이와 짧은 대화 — 어르신도 1분이면 끝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6629400" y="3054096"/>
            <a:ext cx="4754880" cy="859536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⚡ 말 한마디 분석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“72세 혼자 사는데 소득이 적어요” 한 문장·음성으로 즉시 분석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6629400" y="4023360"/>
            <a:ext cx="4754880" cy="859536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397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🌏 7개 언어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영어·베트남어·중국어 등으로 물으면 그 언어로 답변 — 외국인·다문화 사각지대 해소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6629400" y="4992624"/>
            <a:ext cx="4754880" cy="859536"/>
          </a:xfrm>
          <a:prstGeom prst="roundRect">
            <a:avLst>
              <a:gd name="adj" fmla="val 10000"/>
            </a:avLst>
          </a:prstGeom>
          <a:solidFill>
            <a:srgbClr val="F0FDFA"/>
          </a:solidFill>
          <a:ln w="1397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🧠 온디바이스 AI 의미검색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신경망 임베딩이 브라우저 안에서 직접 실행 — ‘일자리 잃었어요’로도 실업급여를 찾는다 (서버 전송 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③ — 설치 없이, 서류부터 신청까지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별도 프로그램 설치 없이 웹에서 바로 — </a:t>
            </a:r>
            <a:r>
              <a:rPr sz="1300" b="1">
                <a:solidFill>
                  <a:srgbClr val="92400E"/>
                </a:solidFill>
                <a:latin typeface="맑은 고딕"/>
                <a:ea typeface="맑은 고딕"/>
              </a:rPr>
              <a:t>서류 자동발급부터 신청서 자동 작성·제출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까지 에이전트가 실행한다.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84832"/>
            <a:ext cx="457200" cy="658368"/>
          </a:xfrm>
          <a:prstGeom prst="roundRect">
            <a:avLst>
              <a:gd name="adj" fmla="val 1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1435607" y="2084832"/>
            <a:ext cx="5029200" cy="65836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1">
                <a:solidFill>
                  <a:srgbClr val="15803D"/>
                </a:solidFill>
                <a:latin typeface="맑은 고딕"/>
                <a:ea typeface="맑은 고딕"/>
              </a:rPr>
              <a:t>필요서류 자동 집계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담은 복지들의 요구서류를 모아 ‘공통 서류 우선’으로 정리 — 13종 지원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2862072"/>
            <a:ext cx="457200" cy="658368"/>
          </a:xfrm>
          <a:prstGeom prst="roundRect">
            <a:avLst>
              <a:gd name="adj" fmla="val 1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1435607" y="2862072"/>
            <a:ext cx="5029200" cy="658368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1">
                <a:solidFill>
                  <a:srgbClr val="075985"/>
                </a:solidFill>
                <a:latin typeface="맑은 고딕"/>
                <a:ea typeface="맑은 고딕"/>
              </a:rPr>
              <a:t>서류 자동발급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정부 전자문서(전자증명서)로 즉시 발급 — 종이 없이 전자제출까지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3639312"/>
            <a:ext cx="457200" cy="658368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1435607" y="3639312"/>
            <a:ext cx="5029200" cy="658368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1">
                <a:solidFill>
                  <a:srgbClr val="92400E"/>
                </a:solidFill>
                <a:latin typeface="맑은 고딕"/>
                <a:ea typeface="맑은 고딕"/>
              </a:rPr>
              <a:t>신청서 자동 작성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내 정보를 신청서 양식에 맞게 자동 준비 — 붙여넣기 한 번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868680" y="4416552"/>
            <a:ext cx="457200" cy="658368"/>
          </a:xfrm>
          <a:prstGeom prst="roundRect">
            <a:avLst>
              <a:gd name="adj" fmla="val 1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1435607" y="4416552"/>
            <a:ext cx="5029200" cy="658368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1">
                <a:solidFill>
                  <a:srgbClr val="9F1239"/>
                </a:solidFill>
                <a:latin typeface="맑은 고딕"/>
                <a:ea typeface="맑은 고딕"/>
              </a:rPr>
              <a:t>제출 및 추적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본인 확인만 거치면 제출 완료 — 이후 심사 진행을 에이전트가 추적</a:t>
            </a:r>
          </a:p>
        </p:txBody>
      </p:sp>
      <p:pic>
        <p:nvPicPr>
          <p:cNvPr id="1025" name="Picture 1024" descr="shot-applyk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084832"/>
            <a:ext cx="1493841" cy="2926080"/>
          </a:xfrm>
          <a:prstGeom prst="rect">
            <a:avLst/>
          </a:prstGeom>
        </p:spPr>
      </p:pic>
      <p:sp>
        <p:nvSpPr>
          <p:cNvPr id="1026" name="Rectangle 1025"/>
          <p:cNvSpPr/>
          <p:nvPr/>
        </p:nvSpPr>
        <p:spPr>
          <a:xfrm>
            <a:off x="6793992" y="2066544"/>
            <a:ext cx="1530417" cy="2962656"/>
          </a:xfrm>
          <a:prstGeom prst="rect">
            <a:avLst/>
          </a:prstGeom>
          <a:noFill/>
          <a:ln w="1524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/>
          <a:lstStyle/>
          <a:p>
            <a:pPr algn="ctr"/>
          </a:p>
        </p:txBody>
      </p:sp>
      <p:sp>
        <p:nvSpPr>
          <p:cNvPr id="1027" name="TextBox 1026"/>
          <p:cNvSpPr txBox="1"/>
          <p:nvPr/>
        </p:nvSpPr>
        <p:spPr>
          <a:xfrm>
            <a:off x="6812280" y="5084064"/>
            <a:ext cx="45720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맑은 고딕"/>
                <a:ea typeface="맑은 고딕"/>
              </a:rPr>
              <a:t>실제 화면 — 정책 상세의 ‘신청 키트’: 추천→정보 준비→서류→본인 확인 진행 표시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868680" y="5376672"/>
            <a:ext cx="10561320" cy="438912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복지정책 · 복지서비스 · 장학금 · 행복주택 등 주택공고 · 서민금융 · 민간재단 지원 — </a:t>
            </a:r>
            <a:r>
              <a:rPr sz="1100" b="1">
                <a:solidFill>
                  <a:srgbClr val="86EFAC"/>
                </a:solidFill>
                <a:latin typeface="맑은 고딕"/>
                <a:ea typeface="맑은 고딕"/>
              </a:rPr>
              <a:t>전부 한곳에서 확인·신청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④ — 신청하고 끝이 아니라, 계속 지켜본다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복지는 받는 순간보다 </a:t>
            </a:r>
            <a:r>
              <a:rPr sz="1300" b="1">
                <a:solidFill>
                  <a:srgbClr val="9F1239"/>
                </a:solidFill>
                <a:latin typeface="맑은 고딕"/>
                <a:ea typeface="맑은 고딕"/>
              </a:rPr>
              <a:t>놓치는 순간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이 문제 — 마감·갱신·서류를 에이전트가 상시 감시한다.</a:t>
            </a:r>
          </a:p>
        </p:txBody>
      </p:sp>
      <p:pic>
        <p:nvPicPr>
          <p:cNvPr id="1017" name="Picture 1016" descr="shot-result-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84832"/>
            <a:ext cx="5577840" cy="3398996"/>
          </a:xfrm>
          <a:prstGeom prst="rect">
            <a:avLst/>
          </a:prstGeom>
        </p:spPr>
      </p:pic>
      <p:sp>
        <p:nvSpPr>
          <p:cNvPr id="1018" name="Rectangle 1017"/>
          <p:cNvSpPr/>
          <p:nvPr/>
        </p:nvSpPr>
        <p:spPr>
          <a:xfrm>
            <a:off x="850392" y="2066544"/>
            <a:ext cx="5614416" cy="3435572"/>
          </a:xfrm>
          <a:prstGeom prst="rect">
            <a:avLst/>
          </a:prstGeom>
          <a:noFill/>
          <a:ln w="1524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868680" y="5538692"/>
            <a:ext cx="5577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맑은 고딕"/>
                <a:ea typeface="맑은 고딕"/>
              </a:rPr>
              <a:t>실제 화면 — 분석 직후 에이전트가 1인칭으로 브리핑: 우선순위·소급 시한·다음 행동까지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812280" y="2084832"/>
            <a:ext cx="4572000" cy="859536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397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⏰ 마감·갱신 감시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신청 마감 D-day, 연 단위 갱신 임박, 서류 미비를 산출해 앱을 열면 먼저 알림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6812280" y="3054096"/>
            <a:ext cx="4572000" cy="859536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397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📅 복지 캘린더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준비·점검·갱신 일정을 폰 캘린더로 내보내기 — 하루 전 알림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6812280" y="4023360"/>
            <a:ext cx="4572000" cy="859536"/>
          </a:xfrm>
          <a:prstGeom prst="roundRect">
            <a:avLst>
              <a:gd name="adj" fmla="val 10000"/>
            </a:avLst>
          </a:prstGeom>
          <a:solidFill>
            <a:srgbClr val="F0FDFA"/>
          </a:solidFill>
          <a:ln w="1397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🤝 가족 도우미 모드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링크 하나로 부모님 복지를 자녀·복지사가 대신 확인 (이름은 자동 제거 — 개인정보 보호)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6812280" y="4992624"/>
            <a:ext cx="4572000" cy="859536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397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🔮 생애 타임라인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만 65세·자녀 취학 등 앞으로 열리고 닫힐 복지를 몇 년 전부터 예고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⑤ — 시스템 아키텍처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</a:rPr>
              <a:t>3층 구조 — 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개인정보는 1층(기기)을 떠나지 않고, 지식·실행이 필요할 때만 2·3층이 움직인다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66544"/>
            <a:ext cx="10561320" cy="86868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15803D"/>
                </a:solidFill>
                <a:latin typeface="맑은 고딕"/>
                <a:ea typeface="맑은 고딕"/>
              </a:rPr>
              <a:t>1층 · 온디바이스 (기본 — 서버 없이 전 기능 동작)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복지엔진(자격판정 규칙) · </a:t>
            </a:r>
            <a:r>
              <a:rPr sz="1000" b="1">
                <a:solidFill>
                  <a:srgbClr val="15803D"/>
                </a:solidFill>
                <a:latin typeface="맑은 고딕"/>
                <a:ea typeface="맑은 고딕"/>
              </a:rPr>
              <a:t>신경망 의미검색(multilingual-e5, 브라우저 내 실행)</a:t>
            </a: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 · 모니터링 엔진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프로필·결과·관심목록 전부 내 기기에만 저장 — </a:t>
            </a:r>
            <a:r>
              <a:rPr sz="1000" b="1">
                <a:solidFill>
                  <a:srgbClr val="15803D"/>
                </a:solidFill>
                <a:latin typeface="맑은 고딕"/>
                <a:ea typeface="맑은 고딕"/>
              </a:rPr>
              <a:t>개인정보 서버 전송 0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3026664"/>
            <a:ext cx="10561320" cy="86868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075985"/>
                </a:solidFill>
                <a:latin typeface="맑은 고딕"/>
                <a:ea typeface="맑은 고딕"/>
              </a:rPr>
              <a:t>2층 · 백엔드 에이전트 (지식 — 연결 시 심층 상담 강화)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FastAPI + </a:t>
            </a:r>
            <a:r>
              <a:rPr sz="1000" b="1">
                <a:solidFill>
                  <a:srgbClr val="075985"/>
                </a:solidFill>
                <a:latin typeface="맑은 고딕"/>
                <a:ea typeface="맑은 고딕"/>
              </a:rPr>
              <a:t>LangGraph 10노드 StateGraph</a:t>
            </a: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 + Claude — 프로필 분석 → 검색 → 자격판별 → 반성 루프 → 가이드 생성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연결이 없어도 규칙 기반 엔진으로 동일 기능 동작 — </a:t>
            </a:r>
            <a:r>
              <a:rPr sz="1000" b="1">
                <a:solidFill>
                  <a:srgbClr val="075985"/>
                </a:solidFill>
                <a:latin typeface="맑은 고딕"/>
                <a:ea typeface="맑은 고딕"/>
              </a:rPr>
              <a:t>멈추지 않는 설계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986784"/>
            <a:ext cx="10561320" cy="86868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92400E"/>
                </a:solidFill>
                <a:latin typeface="맑은 고딕"/>
                <a:ea typeface="맑은 고딕"/>
              </a:rPr>
              <a:t>3층 · 실행 채널 (서류·신청 — 정부 공식 경로)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정부24 전자증명서·전자문서지갑 연계로 </a:t>
            </a:r>
            <a:r>
              <a:rPr sz="1000" b="1">
                <a:solidFill>
                  <a:srgbClr val="92400E"/>
                </a:solidFill>
                <a:latin typeface="맑은 고딕"/>
                <a:ea typeface="맑은 고딕"/>
              </a:rPr>
              <a:t>설치 없이 서류 발급·전자제출</a:t>
            </a: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 — 네이버·카카오·토스도 쓰는 정부 공식 유통망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공공 마이데이터 API 연계(로드맵)로 서류 없는 자동신청까지 확장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868680" y="5010912"/>
            <a:ext cx="10561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데이터 파이프라인 — 가짜 데이터 0, 실데이터만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5303520"/>
            <a:ext cx="2432304" cy="676656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공공데이터포털 OpenAPI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중앙 460 + 지자체 4,683 (매주 갱신)</a:t>
            </a:r>
          </a:p>
        </p:txBody>
      </p:sp>
      <p:sp>
        <p:nvSpPr>
          <p:cNvPr id="1022" name="Right Arrow 1021"/>
          <p:cNvSpPr/>
          <p:nvPr/>
        </p:nvSpPr>
        <p:spPr>
          <a:xfrm>
            <a:off x="3319272" y="5522976"/>
            <a:ext cx="237744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Rounded Rectangle 1022"/>
          <p:cNvSpPr/>
          <p:nvPr/>
        </p:nvSpPr>
        <p:spPr>
          <a:xfrm>
            <a:off x="3575304" y="5303520"/>
            <a:ext cx="2432304" cy="676656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397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ETL 정규화·검증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스키마 통일·중복 병합·URL 생존 확인</a:t>
            </a:r>
          </a:p>
        </p:txBody>
      </p:sp>
      <p:sp>
        <p:nvSpPr>
          <p:cNvPr id="1024" name="Right Arrow 1023"/>
          <p:cNvSpPr/>
          <p:nvPr/>
        </p:nvSpPr>
        <p:spPr>
          <a:xfrm>
            <a:off x="6025896" y="5522976"/>
            <a:ext cx="237744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Rounded Rectangle 1024"/>
          <p:cNvSpPr/>
          <p:nvPr/>
        </p:nvSpPr>
        <p:spPr>
          <a:xfrm>
            <a:off x="6281928" y="5303520"/>
            <a:ext cx="2432304" cy="676656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정밀 시드 190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2026 공식 고시값 검증 규칙</a:t>
            </a:r>
          </a:p>
        </p:txBody>
      </p:sp>
      <p:sp>
        <p:nvSpPr>
          <p:cNvPr id="1026" name="Right Arrow 1025"/>
          <p:cNvSpPr/>
          <p:nvPr/>
        </p:nvSpPr>
        <p:spPr>
          <a:xfrm>
            <a:off x="8732519" y="5522976"/>
            <a:ext cx="237744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Rounded Rectangle 1026"/>
          <p:cNvSpPr/>
          <p:nvPr/>
        </p:nvSpPr>
        <p:spPr>
          <a:xfrm>
            <a:off x="8988551" y="5303520"/>
            <a:ext cx="2432304" cy="676656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397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민간재단 21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전 항목 공식 사이트 실측 검증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⑥ — 신뢰를 코드로 강제한다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복지 정보의 과장·오류는 취약계층에게 치명적 — 모두봄은 </a:t>
            </a:r>
            <a:r>
              <a:rPr sz="1300" b="1">
                <a:solidFill>
                  <a:srgbClr val="15803D"/>
                </a:solidFill>
                <a:latin typeface="맑은 고딕"/>
                <a:ea typeface="맑은 고딕"/>
              </a:rPr>
              <a:t>정직성을 규칙이 아니라 코드와 테스트로 강제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한다.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84832"/>
            <a:ext cx="5166360" cy="146304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300" b="1">
                <a:solidFill>
                  <a:srgbClr val="15803D"/>
                </a:solidFill>
                <a:latin typeface="맑은 고딕"/>
                <a:ea typeface="맑은 고딕"/>
              </a:rPr>
              <a:t>🔒 개인정보 온디바이스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프로필·분석 결과가 서버로 나가지 않는다 — 이름은 내 기기 디스크에도 저장하지 않음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가족 공유 링크에서도 이름 자동 제거 · 테스트가 상시 검증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263640" y="2084832"/>
            <a:ext cx="5166360" cy="146304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300" b="1">
                <a:solidFill>
                  <a:srgbClr val="075985"/>
                </a:solidFill>
                <a:latin typeface="맑은 고딕"/>
                <a:ea typeface="맑은 고딕"/>
              </a:rPr>
              <a:t>⚖️ 과장 금지의 코드화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바우처·서비스 한도를 ‘현금’으로 합산하면 자동 테스트가 빌드를 거부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심사·선발형 민간지원은 ‘확정’처럼 표시할 수 없게 설계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685032"/>
            <a:ext cx="5166360" cy="146304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300" b="1">
                <a:solidFill>
                  <a:srgbClr val="92400E"/>
                </a:solidFill>
                <a:latin typeface="맑은 고딕"/>
                <a:ea typeface="맑은 고딕"/>
              </a:rPr>
              <a:t>📊 전 수치 공식 출처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기초연금 349,700원, 생계급여 기준 32% 등 2026 보건복지부 고시로 전수 검증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정책마다 출처·공식 문의처를 화면에 표기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263640" y="3685032"/>
            <a:ext cx="5166360" cy="146304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300" b="1">
                <a:solidFill>
                  <a:srgbClr val="9F1239"/>
                </a:solidFill>
                <a:latin typeface="맑은 고딕"/>
                <a:ea typeface="맑은 고딕"/>
              </a:rPr>
              <a:t>🙋 사람이 최종 결정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본인인증·최종 제출 등 법적 확인 단계는 항상 본인이 — 에이전트는 그 직전까지 전부 준비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비가역·법적 행위에 대한 안전장치이자 신뢰의 기준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5468112"/>
            <a:ext cx="10561320" cy="475488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86EFAC"/>
                </a:solidFill>
                <a:latin typeface="맑은 고딕"/>
                <a:ea typeface="맑은 고딕"/>
              </a:rPr>
              <a:t>이 4가지 원칙 위반은 자동 테스트 426개가 매 빌드마다 검사한다 — 어기면 배포가 불가능한 구조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기대효과 ② — 사회적 가치와 신뢰성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5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‘몰라서 못 받는’ 구조적 미수급의 해소 — </a:t>
            </a:r>
            <a:r>
              <a:rPr sz="1300" b="1">
                <a:solidFill>
                  <a:srgbClr val="15803D"/>
                </a:solidFill>
                <a:latin typeface="맑은 고딕"/>
                <a:ea typeface="맑은 고딕"/>
              </a:rPr>
              <a:t>검색하는 복지에서, 먼저 챙겨주는 복지로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066544"/>
            <a:ext cx="5166360" cy="118872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🔍 → 🌱 검색에서 에이전트로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사용자가 찾아다니는 게 아니라 에이전트가 먼저 챙긴다 — 정보 격차가 수급 격차가 되지 않도록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6263640" y="2066544"/>
            <a:ext cx="5166360" cy="118872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🕳️ 사각지대까지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민간재단 장학·의료·위기지원 큐레이션으로 정부 데이터 밖까지 — 7개 언어로 외국인·다문화까지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68680" y="3383280"/>
            <a:ext cx="5166360" cy="118872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397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🔐 안심하고 쓰는 복지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개인정보 서버 전송 0 — 소득·장애 정보를 맡기지 않아도 되는, 취약계층이 신뢰할 수 있는 구조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6263640" y="3383280"/>
            <a:ext cx="5166360" cy="118872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397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💸 운영비 ~0원의 지속가능성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정적 호스팅+온디바이스 AI라 서버 비용이 없다 — 지자체·복지관에 즉시 무상 보급 가능한 구조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868680" y="4809744"/>
            <a:ext cx="105613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기획이 아니라 검증된 수치 — 예선 시점 실측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868680" y="5120640"/>
            <a:ext cx="17007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550" b="1">
                <a:solidFill>
                  <a:srgbClr val="15803D"/>
                </a:solidFill>
                <a:latin typeface="맑은 고딕"/>
                <a:ea typeface="맑은 고딕"/>
              </a:rPr>
              <a:t>5,300+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819" b="0">
                <a:solidFill>
                  <a:srgbClr val="6B7280"/>
                </a:solidFill>
                <a:latin typeface="맑은 고딕"/>
                <a:ea typeface="맑은 고딕"/>
              </a:rPr>
              <a:t>통합 카탈로그(실데이터)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2642616" y="5120640"/>
            <a:ext cx="17007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550" b="1">
                <a:solidFill>
                  <a:srgbClr val="15803D"/>
                </a:solidFill>
                <a:latin typeface="맑은 고딕"/>
                <a:ea typeface="맑은 고딕"/>
              </a:rPr>
              <a:t>426개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819" b="0">
                <a:solidFill>
                  <a:srgbClr val="6B7280"/>
                </a:solidFill>
                <a:latin typeface="맑은 고딕"/>
                <a:ea typeface="맑은 고딕"/>
              </a:rPr>
              <a:t>자동 테스트(상시 통과)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4416552" y="5120640"/>
            <a:ext cx="17007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550" b="1">
                <a:solidFill>
                  <a:srgbClr val="15803D"/>
                </a:solidFill>
                <a:latin typeface="맑은 고딕"/>
                <a:ea typeface="맑은 고딕"/>
              </a:rPr>
              <a:t>10여정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819" b="0">
                <a:solidFill>
                  <a:srgbClr val="6B7280"/>
                </a:solidFill>
                <a:latin typeface="맑은 고딕"/>
                <a:ea typeface="맑은 고딕"/>
              </a:rPr>
              <a:t>실브라우저 E2E 검증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6190488" y="5120640"/>
            <a:ext cx="17007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550" b="1">
                <a:solidFill>
                  <a:srgbClr val="15803D"/>
                </a:solidFill>
                <a:latin typeface="맑은 고딕"/>
                <a:ea typeface="맑은 고딕"/>
              </a:rPr>
              <a:t>13종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819" b="0">
                <a:solidFill>
                  <a:srgbClr val="6B7280"/>
                </a:solidFill>
                <a:latin typeface="맑은 고딕"/>
                <a:ea typeface="맑은 고딕"/>
              </a:rPr>
              <a:t>서류 자동발급 연결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7964424" y="5120640"/>
            <a:ext cx="17007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550" b="1">
                <a:solidFill>
                  <a:srgbClr val="15803D"/>
                </a:solidFill>
                <a:latin typeface="맑은 고딕"/>
                <a:ea typeface="맑은 고딕"/>
              </a:rPr>
              <a:t>7개 언어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819" b="0">
                <a:solidFill>
                  <a:srgbClr val="6B7280"/>
                </a:solidFill>
                <a:latin typeface="맑은 고딕"/>
                <a:ea typeface="맑은 고딕"/>
              </a:rPr>
              <a:t>다국어 AI 답변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9738360" y="5120640"/>
            <a:ext cx="17007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550" b="1">
                <a:solidFill>
                  <a:srgbClr val="15803D"/>
                </a:solidFill>
                <a:latin typeface="맑은 고딕"/>
                <a:ea typeface="맑은 고딕"/>
              </a:rPr>
              <a:t>0원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819" b="0">
                <a:solidFill>
                  <a:srgbClr val="6B7280"/>
                </a:solidFill>
                <a:latin typeface="맑은 고딕"/>
                <a:ea typeface="맑은 고딕"/>
              </a:rPr>
              <a:t>월 서버 운영비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기대효과 ③ — 여기서 멈추지 않는다 (확장 로드맵)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5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본선까지, 그리고 그 이후 — </a:t>
            </a:r>
            <a:r>
              <a:rPr sz="1300" b="1">
                <a:solidFill>
                  <a:srgbClr val="075985"/>
                </a:solidFill>
                <a:latin typeface="맑은 고딕"/>
                <a:ea typeface="맑은 고딕"/>
              </a:rPr>
              <a:t>정부 공식 인프라와의 연계로 완성도를 높인다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08483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" bIns="914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NOW · 예선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2505456"/>
            <a:ext cx="3401568" cy="182880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라이브 서비스 운영 중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복지·장학금·행복주택·서민금융 통합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설치 없는 서류 자동발급 연결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7개 언어·온디바이스 AI</a:t>
            </a:r>
          </a:p>
        </p:txBody>
      </p:sp>
      <p:sp>
        <p:nvSpPr>
          <p:cNvPr id="1020" name="Right Arrow 1019"/>
          <p:cNvSpPr/>
          <p:nvPr/>
        </p:nvSpPr>
        <p:spPr>
          <a:xfrm>
            <a:off x="4288536" y="3300984"/>
            <a:ext cx="14630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Rounded Rectangle 1020"/>
          <p:cNvSpPr/>
          <p:nvPr/>
        </p:nvSpPr>
        <p:spPr>
          <a:xfrm>
            <a:off x="4453128" y="208483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" bIns="914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NEXT · 본선까지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4453128" y="2505456"/>
            <a:ext cx="3401568" cy="182880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공공데이터 자동 갱신 파이프라인 고도화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신청서 자동 작성 커버리지 확대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음성 중심 어르신 UX 강화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실사용자 파일럿(복지관 협력)</a:t>
            </a:r>
          </a:p>
        </p:txBody>
      </p:sp>
      <p:sp>
        <p:nvSpPr>
          <p:cNvPr id="1023" name="Right Arrow 1022"/>
          <p:cNvSpPr/>
          <p:nvPr/>
        </p:nvSpPr>
        <p:spPr>
          <a:xfrm>
            <a:off x="7872983" y="3300984"/>
            <a:ext cx="14630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Rounded Rectangle 1023"/>
          <p:cNvSpPr/>
          <p:nvPr/>
        </p:nvSpPr>
        <p:spPr>
          <a:xfrm>
            <a:off x="8037575" y="208483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" bIns="914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FUTURE · 정식 출시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8037575" y="2505456"/>
            <a:ext cx="3401568" cy="182880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전자증명서 API 정식 연계(서류 전자제출)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공공 마이데이터 연계 — 서류 없는 자동신청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지자체·복지관 무상 보급(운영비 0 구조)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세금·행정 등 타 생활영역으로 루프 전이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868680" y="4517136"/>
            <a:ext cx="10561320" cy="603504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075985"/>
                </a:solidFill>
                <a:latin typeface="맑은 고딕"/>
                <a:ea typeface="맑은 고딕"/>
              </a:rPr>
              <a:t>확장의 근거 — 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전자증명서·공공 마이데이터는 네이버·카카오·토스가 이미 쓰는 정부 공식 API. 모두봄의 온디바이스 구조와 결합하면 ‘개인정보를 맡기지 않는 자동신청’이 가능해진다.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868680" y="5266944"/>
            <a:ext cx="10561320" cy="4572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86EFAC"/>
                </a:solidFill>
                <a:latin typeface="맑은 고딕"/>
                <a:ea typeface="맑은 고딕"/>
              </a:rPr>
              <a:t>모두의 봄날을 위해 — 몰라서 못 받는 복지가 없는 사회, 모두봄이 시작합니다 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539</Words>
  <Application>Microsoft Office PowerPoint</Application>
  <DocSecurity>0</DocSecurity>
  <PresentationFormat>와이드스크린</PresentationFormat>
  <Paragraphs>102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[데이콘] 김기민</cp:lastModifiedBy>
  <cp:revision>1</cp:revision>
  <dcterms:created xsi:type="dcterms:W3CDTF">2026-06-30T07:31:27Z</dcterms:created>
  <dcterms:modified xsi:type="dcterms:W3CDTF">2026-06-30T07:38:24Z</dcterms:modified>
</cp:coreProperties>
</file>