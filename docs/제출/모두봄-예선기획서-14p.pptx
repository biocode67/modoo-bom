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7" r:id="rId18"/>
    <p:sldId id="259" r:id="rId5"/>
    <p:sldId id="268" r:id="rId19"/>
    <p:sldId id="269" r:id="rId20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7A43732-219E-4773-AEE6-7331DB972763}">
  <a:tblStyle styleId="{97A43732-219E-4773-AEE6-7331DB972763}" styleName="Table_0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D113A9D2-9D6B-4929-AA2D-F23B5EE8CBE7}" styleName="테마 스타일 2 - 강조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>
            <a:extLst>
              <a:ext uri="{FF2B5EF4-FFF2-40B4-BE49-F238E27FC236}">
                <a16:creationId xmlns:a16="http://schemas.microsoft.com/office/drawing/2014/main" id="{D43F976E-03C4-4021-AE11-CF32427C45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8">
            <a:extLst>
              <a:ext uri="{FF2B5EF4-FFF2-40B4-BE49-F238E27FC236}">
                <a16:creationId xmlns:a16="http://schemas.microsoft.com/office/drawing/2014/main" id="{C3502992-4EF9-4994-BB1B-A90891BE0A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/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8">
            <a:extLst>
              <a:ext uri="{FF2B5EF4-FFF2-40B4-BE49-F238E27FC236}">
                <a16:creationId xmlns:a16="http://schemas.microsoft.com/office/drawing/2014/main" id="{0F1D35D3-160A-4216-9F78-A725102E4D63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8">
            <a:extLst>
              <a:ext uri="{FF2B5EF4-FFF2-40B4-BE49-F238E27FC236}">
                <a16:creationId xmlns:a16="http://schemas.microsoft.com/office/drawing/2014/main" id="{767152CD-DC30-4E7B-87DE-1FC18B1F2683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8">
            <a:extLst>
              <a:ext uri="{FF2B5EF4-FFF2-40B4-BE49-F238E27FC236}">
                <a16:creationId xmlns:a16="http://schemas.microsoft.com/office/drawing/2014/main" id="{7C7FF883-EF02-477E-9B32-B2FF27DACFB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>
            <a:extLst>
              <a:ext uri="{FF2B5EF4-FFF2-40B4-BE49-F238E27FC236}">
                <a16:creationId xmlns:a16="http://schemas.microsoft.com/office/drawing/2014/main" id="{B47C11B9-B030-41BF-A2E8-05F0929CB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0">
            <a:extLst>
              <a:ext uri="{FF2B5EF4-FFF2-40B4-BE49-F238E27FC236}">
                <a16:creationId xmlns:a16="http://schemas.microsoft.com/office/drawing/2014/main" id="{39139773-F131-405E-91DB-4FE1A5FF7E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>
                <a:solidFill>
                  <a:srgbClr val="757575"/>
                </a:solidFill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>
                <a:solidFill>
                  <a:srgbClr val="757575"/>
                </a:solidFill>
              </a:defRPr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>
                <a:solidFill>
                  <a:srgbClr val="757575"/>
                </a:solidFill>
              </a:defRPr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0">
            <a:extLst>
              <a:ext uri="{FF2B5EF4-FFF2-40B4-BE49-F238E27FC236}">
                <a16:creationId xmlns:a16="http://schemas.microsoft.com/office/drawing/2014/main" id="{D0745465-9829-4B5E-83BD-F22DD7965E15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0">
            <a:extLst>
              <a:ext uri="{FF2B5EF4-FFF2-40B4-BE49-F238E27FC236}">
                <a16:creationId xmlns:a16="http://schemas.microsoft.com/office/drawing/2014/main" id="{30E343C6-F0F2-4D21-AF8C-61FC4A214F85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0">
            <a:extLst>
              <a:ext uri="{FF2B5EF4-FFF2-40B4-BE49-F238E27FC236}">
                <a16:creationId xmlns:a16="http://schemas.microsoft.com/office/drawing/2014/main" id="{D5D97858-C2E1-43AD-A12E-E8F9E1D16CF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>
            <a:extLst>
              <a:ext uri="{FF2B5EF4-FFF2-40B4-BE49-F238E27FC236}">
                <a16:creationId xmlns:a16="http://schemas.microsoft.com/office/drawing/2014/main" id="{9A1F5219-45DC-41BA-855E-0641A1852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1">
            <a:extLst>
              <a:ext uri="{FF2B5EF4-FFF2-40B4-BE49-F238E27FC236}">
                <a16:creationId xmlns:a16="http://schemas.microsoft.com/office/drawing/2014/main" id="{EA7DBE77-74E2-4929-8F34-19778EAC99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1">
            <a:extLst>
              <a:ext uri="{FF2B5EF4-FFF2-40B4-BE49-F238E27FC236}">
                <a16:creationId xmlns:a16="http://schemas.microsoft.com/office/drawing/2014/main" id="{747CC00E-0253-4598-A904-89BB612B84C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1">
            <a:extLst>
              <a:ext uri="{FF2B5EF4-FFF2-40B4-BE49-F238E27FC236}">
                <a16:creationId xmlns:a16="http://schemas.microsoft.com/office/drawing/2014/main" id="{0DFD3125-DFE8-4CDB-B6EB-CFA661C013FF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1">
            <a:extLst>
              <a:ext uri="{FF2B5EF4-FFF2-40B4-BE49-F238E27FC236}">
                <a16:creationId xmlns:a16="http://schemas.microsoft.com/office/drawing/2014/main" id="{0CADFCCB-C133-486F-AE90-02EE74B8B3A5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1">
            <a:extLst>
              <a:ext uri="{FF2B5EF4-FFF2-40B4-BE49-F238E27FC236}">
                <a16:creationId xmlns:a16="http://schemas.microsoft.com/office/drawing/2014/main" id="{8E067876-F1BE-42A7-B8F8-2AEF061B612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>
            <a:extLst>
              <a:ext uri="{FF2B5EF4-FFF2-40B4-BE49-F238E27FC236}">
                <a16:creationId xmlns:a16="http://schemas.microsoft.com/office/drawing/2014/main" id="{8A874D9B-C6BF-4D53-B3ED-12384E8B5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2">
            <a:extLst>
              <a:ext uri="{FF2B5EF4-FFF2-40B4-BE49-F238E27FC236}">
                <a16:creationId xmlns:a16="http://schemas.microsoft.com/office/drawing/2014/main" id="{411B361C-4CA1-48CB-A7EE-FB8BBF5630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2">
            <a:extLst>
              <a:ext uri="{FF2B5EF4-FFF2-40B4-BE49-F238E27FC236}">
                <a16:creationId xmlns:a16="http://schemas.microsoft.com/office/drawing/2014/main" id="{A47A7033-EA00-45ED-9FCA-1BA99C9DDF8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2">
            <a:extLst>
              <a:ext uri="{FF2B5EF4-FFF2-40B4-BE49-F238E27FC236}">
                <a16:creationId xmlns:a16="http://schemas.microsoft.com/office/drawing/2014/main" id="{AF785C25-A308-44FD-ADF6-742AA77BE277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2">
            <a:extLst>
              <a:ext uri="{FF2B5EF4-FFF2-40B4-BE49-F238E27FC236}">
                <a16:creationId xmlns:a16="http://schemas.microsoft.com/office/drawing/2014/main" id="{3A8BCFED-5AD8-4432-89C8-F66B32644776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2">
            <a:extLst>
              <a:ext uri="{FF2B5EF4-FFF2-40B4-BE49-F238E27FC236}">
                <a16:creationId xmlns:a16="http://schemas.microsoft.com/office/drawing/2014/main" id="{F0AA51E9-B918-455D-A1B3-CF3C82759D46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2">
            <a:extLst>
              <a:ext uri="{FF2B5EF4-FFF2-40B4-BE49-F238E27FC236}">
                <a16:creationId xmlns:a16="http://schemas.microsoft.com/office/drawing/2014/main" id="{EDA523A6-9ADF-4612-A8EA-E52BA7E33BE1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2">
            <a:extLst>
              <a:ext uri="{FF2B5EF4-FFF2-40B4-BE49-F238E27FC236}">
                <a16:creationId xmlns:a16="http://schemas.microsoft.com/office/drawing/2014/main" id="{2CD7695E-396D-4BC0-BFB0-733E3CAE68C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>
            <a:extLst>
              <a:ext uri="{FF2B5EF4-FFF2-40B4-BE49-F238E27FC236}">
                <a16:creationId xmlns:a16="http://schemas.microsoft.com/office/drawing/2014/main" id="{129DD97B-6DED-42F4-88F9-44F8C4666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3">
            <a:extLst>
              <a:ext uri="{FF2B5EF4-FFF2-40B4-BE49-F238E27FC236}">
                <a16:creationId xmlns:a16="http://schemas.microsoft.com/office/drawing/2014/main" id="{5CEB85B1-079E-4538-A3D3-0ADC658A782A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>
            <a:extLst>
              <a:ext uri="{FF2B5EF4-FFF2-40B4-BE49-F238E27FC236}">
                <a16:creationId xmlns:a16="http://schemas.microsoft.com/office/drawing/2014/main" id="{5FD31133-7FD9-4C23-A2E9-BF37654A98C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>
            <a:extLst>
              <a:ext uri="{FF2B5EF4-FFF2-40B4-BE49-F238E27FC236}">
                <a16:creationId xmlns:a16="http://schemas.microsoft.com/office/drawing/2014/main" id="{C3DBDFFA-0725-4063-8722-35F8AB39BDD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>
            <a:extLst>
              <a:ext uri="{FF2B5EF4-FFF2-40B4-BE49-F238E27FC236}">
                <a16:creationId xmlns:a16="http://schemas.microsoft.com/office/drawing/2014/main" id="{F9FC97F4-CEC2-4F4C-9950-3F39C35D416C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4">
            <a:extLst>
              <a:ext uri="{FF2B5EF4-FFF2-40B4-BE49-F238E27FC236}">
                <a16:creationId xmlns:a16="http://schemas.microsoft.com/office/drawing/2014/main" id="{04EFA55A-98E7-49C0-95EF-3A870C7DDEA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>
            <a:extLst>
              <a:ext uri="{FF2B5EF4-FFF2-40B4-BE49-F238E27FC236}">
                <a16:creationId xmlns:a16="http://schemas.microsoft.com/office/drawing/2014/main" id="{02474604-AC9B-4128-9D0F-A3627781120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>
            <a:extLst>
              <a:ext uri="{FF2B5EF4-FFF2-40B4-BE49-F238E27FC236}">
                <a16:creationId xmlns:a16="http://schemas.microsoft.com/office/drawing/2014/main" id="{E4C3A014-DCC4-4EDF-AF9C-3B75AF42C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5">
            <a:extLst>
              <a:ext uri="{FF2B5EF4-FFF2-40B4-BE49-F238E27FC236}">
                <a16:creationId xmlns:a16="http://schemas.microsoft.com/office/drawing/2014/main" id="{827C85C4-B3B2-4D8B-BE38-AE2B14BC31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5">
            <a:extLst>
              <a:ext uri="{FF2B5EF4-FFF2-40B4-BE49-F238E27FC236}">
                <a16:creationId xmlns:a16="http://schemas.microsoft.com/office/drawing/2014/main" id="{8C2138EC-877B-444D-9D05-5020782216E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5">
            <a:extLst>
              <a:ext uri="{FF2B5EF4-FFF2-40B4-BE49-F238E27FC236}">
                <a16:creationId xmlns:a16="http://schemas.microsoft.com/office/drawing/2014/main" id="{8D9D35F8-044D-4FDE-B4D4-1FE35E852910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5">
            <a:extLst>
              <a:ext uri="{FF2B5EF4-FFF2-40B4-BE49-F238E27FC236}">
                <a16:creationId xmlns:a16="http://schemas.microsoft.com/office/drawing/2014/main" id="{5CE87D36-51CC-4F05-9E2C-823E5A89A372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>
            <a:extLst>
              <a:ext uri="{FF2B5EF4-FFF2-40B4-BE49-F238E27FC236}">
                <a16:creationId xmlns:a16="http://schemas.microsoft.com/office/drawing/2014/main" id="{850EF542-0D32-4CF9-AAFA-7E677863E83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>
            <a:extLst>
              <a:ext uri="{FF2B5EF4-FFF2-40B4-BE49-F238E27FC236}">
                <a16:creationId xmlns:a16="http://schemas.microsoft.com/office/drawing/2014/main" id="{4B881F13-5976-43EF-AADB-D887E09C0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6">
            <a:extLst>
              <a:ext uri="{FF2B5EF4-FFF2-40B4-BE49-F238E27FC236}">
                <a16:creationId xmlns:a16="http://schemas.microsoft.com/office/drawing/2014/main" id="{44B2752B-0962-4B58-9B9C-AE4C0FD41C60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6">
            <a:extLst>
              <a:ext uri="{FF2B5EF4-FFF2-40B4-BE49-F238E27FC236}">
                <a16:creationId xmlns:a16="http://schemas.microsoft.com/office/drawing/2014/main" id="{BCC8A0FC-BBF7-4A21-BC97-8C77AAB34B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6">
            <a:extLst>
              <a:ext uri="{FF2B5EF4-FFF2-40B4-BE49-F238E27FC236}">
                <a16:creationId xmlns:a16="http://schemas.microsoft.com/office/drawing/2014/main" id="{CF0B8A79-9C8D-4808-9AB2-2BD7F3BF4F3A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6">
            <a:extLst>
              <a:ext uri="{FF2B5EF4-FFF2-40B4-BE49-F238E27FC236}">
                <a16:creationId xmlns:a16="http://schemas.microsoft.com/office/drawing/2014/main" id="{225166B2-964F-4A84-A495-85F3AB39767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6">
            <a:extLst>
              <a:ext uri="{FF2B5EF4-FFF2-40B4-BE49-F238E27FC236}">
                <a16:creationId xmlns:a16="http://schemas.microsoft.com/office/drawing/2014/main" id="{9B888530-D6E1-4F58-B120-3F6B25BAFC1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>
            <a:extLst>
              <a:ext uri="{FF2B5EF4-FFF2-40B4-BE49-F238E27FC236}">
                <a16:creationId xmlns:a16="http://schemas.microsoft.com/office/drawing/2014/main" id="{637424C3-A8D7-4AAC-82F0-36591865E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7">
            <a:extLst>
              <a:ext uri="{FF2B5EF4-FFF2-40B4-BE49-F238E27FC236}">
                <a16:creationId xmlns:a16="http://schemas.microsoft.com/office/drawing/2014/main" id="{0E4CF663-6FBA-4039-BC47-B26F372DFA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7">
            <a:extLst>
              <a:ext uri="{FF2B5EF4-FFF2-40B4-BE49-F238E27FC236}">
                <a16:creationId xmlns:a16="http://schemas.microsoft.com/office/drawing/2014/main" id="{01AB688D-460D-4C98-BCFD-7B9A70E5E39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7">
            <a:extLst>
              <a:ext uri="{FF2B5EF4-FFF2-40B4-BE49-F238E27FC236}">
                <a16:creationId xmlns:a16="http://schemas.microsoft.com/office/drawing/2014/main" id="{FED18F07-25C0-4671-A75E-7170618E1663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7">
            <a:extLst>
              <a:ext uri="{FF2B5EF4-FFF2-40B4-BE49-F238E27FC236}">
                <a16:creationId xmlns:a16="http://schemas.microsoft.com/office/drawing/2014/main" id="{12746E0A-D67B-4B65-9923-A118F822936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>
            <a:extLst>
              <a:ext uri="{FF2B5EF4-FFF2-40B4-BE49-F238E27FC236}">
                <a16:creationId xmlns:a16="http://schemas.microsoft.com/office/drawing/2014/main" id="{47CADDE7-55BC-4388-B704-836733F32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8">
            <a:extLst>
              <a:ext uri="{FF2B5EF4-FFF2-40B4-BE49-F238E27FC236}">
                <a16:creationId xmlns:a16="http://schemas.microsoft.com/office/drawing/2014/main" id="{F86E7CB2-8F23-4406-8CFF-CF55319DDA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8">
            <a:extLst>
              <a:ext uri="{FF2B5EF4-FFF2-40B4-BE49-F238E27FC236}">
                <a16:creationId xmlns:a16="http://schemas.microsoft.com/office/drawing/2014/main" id="{B6702FCE-A7E7-42C3-A8A4-A18A32928D4B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8">
            <a:extLst>
              <a:ext uri="{FF2B5EF4-FFF2-40B4-BE49-F238E27FC236}">
                <a16:creationId xmlns:a16="http://schemas.microsoft.com/office/drawing/2014/main" id="{7B1580CB-E661-4FDB-A940-C58D946F524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>
            <a:extLst>
              <a:ext uri="{FF2B5EF4-FFF2-40B4-BE49-F238E27FC236}">
                <a16:creationId xmlns:a16="http://schemas.microsoft.com/office/drawing/2014/main" id="{637861BE-9C37-4638-BEF2-CD2BFFB887C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>
            <a:extLst>
              <a:ext uri="{FF2B5EF4-FFF2-40B4-BE49-F238E27FC236}">
                <a16:creationId xmlns:a16="http://schemas.microsoft.com/office/drawing/2014/main" id="{96DB2D43-C681-426A-82F4-C8E1612AB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4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7">
            <a:extLst>
              <a:ext uri="{FF2B5EF4-FFF2-40B4-BE49-F238E27FC236}">
                <a16:creationId xmlns:a16="http://schemas.microsoft.com/office/drawing/2014/main" id="{973774DD-5C39-4422-8A89-752268B566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2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endParaRPr/>
          </a:p>
        </p:txBody>
      </p:sp>
      <p:sp>
        <p:nvSpPr>
          <p:cNvPr id="12" name="Google Shape;12;p7">
            <a:extLst>
              <a:ext uri="{FF2B5EF4-FFF2-40B4-BE49-F238E27FC236}">
                <a16:creationId xmlns:a16="http://schemas.microsoft.com/office/drawing/2014/main" id="{3496D5AE-45C8-46C6-83E9-7A17F5E98483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endParaRPr/>
          </a:p>
        </p:txBody>
      </p:sp>
      <p:sp>
        <p:nvSpPr>
          <p:cNvPr id="13" name="Google Shape;13;p7">
            <a:extLst>
              <a:ext uri="{FF2B5EF4-FFF2-40B4-BE49-F238E27FC236}">
                <a16:creationId xmlns:a16="http://schemas.microsoft.com/office/drawing/2014/main" id="{7405C552-4F90-47C1-A40A-EFE69C0CC3A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endParaRPr/>
          </a:p>
        </p:txBody>
      </p:sp>
      <p:sp>
        <p:nvSpPr>
          <p:cNvPr id="14" name="Google Shape;14;p7">
            <a:extLst>
              <a:ext uri="{FF2B5EF4-FFF2-40B4-BE49-F238E27FC236}">
                <a16:creationId xmlns:a16="http://schemas.microsoft.com/office/drawing/2014/main" id="{C0877448-5BD5-4FDF-8001-89778AF4DA3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1pPr>
            <a:lvl2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2pPr>
            <a:lvl3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3pPr>
            <a:lvl4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4pPr>
            <a:lvl5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5pPr>
            <a:lvl6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6pPr>
            <a:lvl7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7pPr>
            <a:lvl8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8pPr>
            <a:lvl9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hdr="0" ftr="0" dt="0"/>
  <p:txStyles>
    <p:title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04" name="Google Shape;90;p1"/>
          <p:cNvCxnSpPr/>
          <p:nvPr/>
        </p:nvCxnSpPr>
        <p:spPr>
          <a:xfrm>
            <a:off x="388374" y="6415548"/>
            <a:ext cx="11415252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1005" name="Google Shape;90;p1"/>
          <p:cNvCxnSpPr/>
          <p:nvPr/>
        </p:nvCxnSpPr>
        <p:spPr>
          <a:xfrm>
            <a:off x="388374" y="364575"/>
            <a:ext cx="11415252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88" name="Google Shape;88;p1">
            <a:extLst>
              <a:ext uri="{FF2B5EF4-FFF2-40B4-BE49-F238E27FC236}">
                <a16:creationId xmlns:a16="http://schemas.microsoft.com/office/drawing/2014/main" id="{A348E4FE-D39F-4965-9FEF-1651C969C6D4}"/>
              </a:ext>
            </a:extLst>
          </p:cNvPr>
          <p:cNvSpPr>
            <a:spLocks noGrp="1"/>
          </p:cNvSpPr>
          <p:nvPr/>
        </p:nvSpPr>
        <p:spPr>
          <a:xfrm>
            <a:off x="1501950" y="1882817"/>
            <a:ext cx="91881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spAutoFit/>
          </a:bodyPr>
          <a:lstStyle/>
          <a:p>
            <a:pPr algn="ctr">
              <a:buNone/>
            </a:pPr>
            <a:r>
              <a:rPr sz="3600"/>
              <a:t>2026 AI・SW중심대학 디지털 경진대회</a:t>
            </a:r>
          </a:p>
        </p:txBody>
      </p:sp>
      <p:cxnSp>
        <p:nvCxnSpPr>
          <p:cNvPr id="1007" name="Google Shape;94;p1"/>
          <p:cNvCxnSpPr/>
          <p:nvPr/>
        </p:nvCxnSpPr>
        <p:spPr>
          <a:xfrm>
            <a:off x="2310450" y="2662599"/>
            <a:ext cx="7571100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9759B1EC-410B-0EF7-0D10-30B750C7561A}"/>
              </a:ext>
            </a:extLst>
          </p:cNvPr>
          <p:cNvSpPr>
            <a:spLocks noGrp="1"/>
          </p:cNvSpPr>
          <p:nvPr/>
        </p:nvSpPr>
        <p:spPr>
          <a:xfrm>
            <a:off x="5554840" y="2877879"/>
            <a:ext cx="108234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buNone/>
            </a:pPr>
            <a:r>
              <a:rPr sz="1800"/>
              <a:t>SW 부문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828BAC-3C3C-DF73-B73D-81DE933F7260}"/>
              </a:ext>
            </a:extLst>
          </p:cNvPr>
          <p:cNvSpPr>
            <a:spLocks noGrp="1"/>
          </p:cNvSpPr>
          <p:nvPr/>
        </p:nvSpPr>
        <p:spPr>
          <a:xfrm>
            <a:off x="3524864" y="3627828"/>
            <a:ext cx="514227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2000"/>
              <a:t>예선 산출물</a:t>
            </a:r>
          </a:p>
        </p:txBody>
      </p:sp>
      <p:pic>
        <p:nvPicPr>
          <p:cNvPr id="1010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graphicFrame>
        <p:nvGraphicFramePr>
          <p:cNvPr id="1011" name="표 8"/>
          <p:cNvGraphicFramePr/>
          <p:nvPr/>
        </p:nvGraphicFramePr>
        <p:xfrm>
          <a:off x="3386667" y="4215110"/>
          <a:ext cx="5418666" cy="13484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94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t>팀명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/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94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t>대학명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/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4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t>프로젝트명</a:t>
                      </a:r>
                    </a:p>
                  </a:txBody>
                  <a:tcPr anchor="ctr"/>
                </a:tc>
                <a:tc>
                  <a:txBody>
                    <a:bodyPr wrap="square" anchor="ctr"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모두봄(ModooBom)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맑은 고딕"/>
                          <a:ea typeface="맑은 고딕"/>
                        </a:rPr>
                        <a:t>몰라서 못 받는 복지를 찾아주는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맑은 고딕"/>
                          <a:ea typeface="맑은 고딕"/>
                        </a:rPr>
                        <a:t>온디바이스 복지 AI 에이전트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직선 연결선 9">
            <a:extLst>
              <a:ext uri="{FF2B5EF4-FFF2-40B4-BE49-F238E27FC236}">
                <a16:creationId xmlns:a16="http://schemas.microsoft.com/office/drawing/2014/main" id="{C86A7E39-1677-4A30-99E3-4ABB8CCA1913}"/>
              </a:ext>
            </a:extLst>
          </p:cNvPr>
          <p:cNvSpPr>
            <a:spLocks noGrp="1"/>
          </p:cNvSpPr>
          <p:nvPr/>
        </p:nvSpPr>
        <p:spPr>
          <a:xfrm>
            <a:off x="5070985" y="4027938"/>
            <a:ext cx="2050027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001" name="Auto Slide Number">
            <a:extLst>
              <a:ext uri="{FF2B5EF4-FFF2-40B4-BE49-F238E27FC236}">
                <a16:creationId xmlns:a16="http://schemas.microsoft.com/office/drawing/2014/main" id="{4A58937D-3246-4958-9319-0AE8941549E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A043E515-D0BA-45BC-B57F-FC1C2BC8EAAE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1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2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866ED27A-227C-4430-9872-E1DA9CAE64E9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fld>
            <a:endParaRPr lang="ko-KR" sz="1000"/>
          </a:p>
        </p:txBody>
      </p:sp>
    </p:spTree>
    <p:extLst>
      <p:ext uri="{BB962C8B-B14F-4D97-AF65-F5344CB8AC3E}">
        <p14:creationId xmlns:p14="http://schemas.microsoft.com/office/powerpoint/2010/main" val="9604334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92D8A6A-BAA6-9096-B1E5-F048C86014F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graphicFrame>
        <p:nvGraphicFramePr>
          <p:cNvPr id="1006" name="표 17"/>
          <p:cNvGraphicFramePr/>
          <p:nvPr/>
        </p:nvGraphicFramePr>
        <p:xfrm>
          <a:off x="744427" y="1145754"/>
          <a:ext cx="10776155" cy="454384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937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824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+mj-ea"/>
                          <a:ea typeface="+mj-ea"/>
                          <a:cs typeface="+mj-ea"/>
                        </a:rPr>
                        <a:t>대학명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12700" cmpd="sng">
                      <a:noFill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맑은 고딕"/>
                          <a:ea typeface="맑은 고딕"/>
                        </a:rPr>
                        <a:t>(대학명 입력)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+mj-ea"/>
                          <a:ea typeface="+mj-ea"/>
                          <a:cs typeface="+mj-ea"/>
                        </a:rPr>
                        <a:t>팀명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맑은 고딕"/>
                          <a:ea typeface="맑은 고딕"/>
                        </a:rPr>
                        <a:t>(참가접수 팀명 입력)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0" i="0" u="none" cap="none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j-ea"/>
                        </a:rPr>
                        <a:t>팀원(학과)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맑은 고딕"/>
                          <a:ea typeface="맑은 고딕"/>
                        </a:rPr>
                        <a:t>팀장 OOO(OO학과), 팀원 OOO(OO학과), 팀원 OOO(OO학과)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0" i="0" u="none" cap="none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j-ea"/>
                        </a:rPr>
                        <a:t>프로젝트명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모두봄(ModooBom) — 몰라서 못 받는 복지를 찾아주는 개인 복지 AI 에이전트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+mj-ea"/>
                          <a:ea typeface="+mj-ea"/>
                          <a:cs typeface="+mj-ea"/>
                        </a:rPr>
                        <a:t>한줄소개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프로필 입력 또는 </a:t>
                      </a:r>
                      <a:r>
                        <a:rPr sz="1050" b="1">
                          <a:solidFill>
                            <a:srgbClr val="15803D"/>
                          </a:solidFill>
                          <a:latin typeface="맑은 고딕"/>
                          <a:ea typeface="맑은 고딕"/>
                        </a:rPr>
                        <a:t>말 한마디</a:t>
                      </a:r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면 정부·지자체·민간재단 </a:t>
                      </a:r>
                      <a:r>
                        <a:rPr sz="1050" b="1">
                          <a:solidFill>
                            <a:srgbClr val="15803D"/>
                          </a:solidFill>
                          <a:latin typeface="맑은 고딕"/>
                          <a:ea typeface="맑은 고딕"/>
                        </a:rPr>
                        <a:t>5,200여 건</a:t>
                      </a:r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에서 내 복지를 찾아 쉬운 말로 설명하고, 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서류 발급·신청을 도우며(전자증명서·브라우저 자동화), 마감·갱신을 계속 지켜보는 </a:t>
                      </a:r>
                      <a:r>
                        <a:rPr sz="1050" b="1">
                          <a:solidFill>
                            <a:srgbClr val="15803D"/>
                          </a:solidFill>
                          <a:latin typeface="맑은 고딕"/>
                          <a:ea typeface="맑은 고딕"/>
                        </a:rPr>
                        <a:t>온디바이스 AI 복지 에이전트</a:t>
                      </a:r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개인정보 서버 전송 0 · 라이브 운영 중: </a:t>
                      </a:r>
                      <a:r>
                        <a:rPr sz="1050" b="1">
                          <a:solidFill>
                            <a:srgbClr val="075985"/>
                          </a:solidFill>
                          <a:latin typeface="맑은 고딕"/>
                          <a:ea typeface="맑은 고딕"/>
                        </a:rPr>
                        <a:t>biocode67.github.io/modoo-bom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BA191824-B2B3-882C-225B-A20742F1D017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Summary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4E81DA4F-8AD4-2E88-1A2A-146560D4B69F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11" name="그림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002" name="Auto Slide Number">
            <a:extLst>
              <a:ext uri="{FF2B5EF4-FFF2-40B4-BE49-F238E27FC236}">
                <a16:creationId xmlns:a16="http://schemas.microsoft.com/office/drawing/2014/main" id="{61C4CD4E-EC9B-4CD2-B982-FD172997D6B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B37562F-DF91-4CB2-B997-3BB225CFA84E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2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2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8A02CCFD-7961-4677-8CF5-C80BA8B1DF7F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fld>
            <a:endParaRPr lang="ko-KR" sz="1000"/>
          </a:p>
        </p:txBody>
      </p:sp>
    </p:spTree>
    <p:extLst>
      <p:ext uri="{BB962C8B-B14F-4D97-AF65-F5344CB8AC3E}">
        <p14:creationId xmlns:p14="http://schemas.microsoft.com/office/powerpoint/2010/main" val="19594337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B165CAD0-2A02-5E29-8536-ED2B3C3375B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6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D7ADD4E6-F6E8-97A3-9EA6-04E64C9E771E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sp>
        <p:nvSpPr>
          <p:cNvPr id="4" name="Google Shape;100;p2">
            <a:extLst>
              <a:ext uri="{FF2B5EF4-FFF2-40B4-BE49-F238E27FC236}">
                <a16:creationId xmlns:a16="http://schemas.microsoft.com/office/drawing/2014/main" id="{E370232A-6652-0B7B-A2D6-F8802B0F42F4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4FD4C6A3-A7FF-DCE0-30BE-4532F9F20CD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20991-1956-8C13-7614-0AE6FD9B9483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5943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주제 제안 배경 ① — 누구의, 어떤 문제인가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2982F96-03E4-48D8-BD6F-F7063C8403CC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003" name="Auto Slide Number">
            <a:extLst>
              <a:ext uri="{FF2B5EF4-FFF2-40B4-BE49-F238E27FC236}">
                <a16:creationId xmlns:a16="http://schemas.microsoft.com/office/drawing/2014/main" id="{C6D880B8-D0AD-4775-B950-A241F3236D3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EC01993F-5AD3-4802-A1CB-F45D0D531D8B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3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EF5474A1-5E3A-44CF-A478-7EEEAFC7DEA0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45920"/>
            <a:ext cx="64008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9F1239"/>
                </a:solidFill>
                <a:latin typeface="맑은 고딕"/>
                <a:ea typeface="맑은 고딕"/>
              </a:rPr>
              <a:t>문제 — </a:t>
            </a:r>
            <a:r>
              <a:rPr sz="1300" b="1">
                <a:solidFill>
                  <a:srgbClr val="1F2937"/>
                </a:solidFill>
                <a:latin typeface="맑은 고딕"/>
                <a:ea typeface="맑은 고딕"/>
              </a:rPr>
              <a:t>‘신청해야 받는’ 복지의 구조적 미수급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1993392"/>
            <a:ext cx="2084831" cy="1481328"/>
          </a:xfrm>
          <a:prstGeom prst="roundRect">
            <a:avLst>
              <a:gd name="adj" fmla="val 8000"/>
            </a:avLst>
          </a:prstGeom>
          <a:solidFill>
            <a:srgbClr val="FFF1F2"/>
          </a:solidFill>
          <a:ln w="1270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1F2937"/>
                </a:solidFill>
                <a:latin typeface="맑은 고딕"/>
                <a:ea typeface="맑은 고딕"/>
              </a:rPr>
              <a:t>🧩 흩어진 정보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중앙부처·지자체·민간재단에 분산.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민간재단 지원은 어떤 정부 포털에도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모여 있지 않음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3081528" y="1993392"/>
            <a:ext cx="2084831" cy="1481328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1F2937"/>
                </a:solidFill>
                <a:latin typeface="맑은 고딕"/>
                <a:ea typeface="맑은 고딕"/>
              </a:rPr>
              <a:t>📖 어려운 말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‘기준 중위소득’ ‘소득인정액’…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자격이 있는지 스스로 판단하기 어려움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5294376" y="1993392"/>
            <a:ext cx="2084831" cy="1481328"/>
          </a:xfrm>
          <a:prstGeom prst="roundRect">
            <a:avLst>
              <a:gd name="adj" fmla="val 8000"/>
            </a:avLst>
          </a:prstGeom>
          <a:solidFill>
            <a:srgbClr val="F0F9FF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1F2937"/>
                </a:solidFill>
                <a:latin typeface="맑은 고딕"/>
                <a:ea typeface="맑은 고딕"/>
              </a:rPr>
              <a:t>📝 복잡한 절차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서류 준비 → 발급 → 신청 → 심사 추적,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각 단계가 다른 사이트·다른 방법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868680" y="3584448"/>
            <a:ext cx="6510528" cy="566928"/>
          </a:xfrm>
          <a:prstGeom prst="roundRect">
            <a:avLst>
              <a:gd name="adj" fmla="val 8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</a:rPr>
              <a:t>→  자격이 있어도 </a:t>
            </a:r>
            <a:r>
              <a:rPr sz="1200" b="1">
                <a:solidFill>
                  <a:srgbClr val="86EFAC"/>
                </a:solidFill>
                <a:latin typeface="맑은 고딕"/>
                <a:ea typeface="맑은 고딕"/>
              </a:rPr>
              <a:t>몰라서 · 어려워서 · 번거로워서</a:t>
            </a:r>
            <a:r>
              <a:rPr sz="1200" b="0">
                <a:solidFill>
                  <a:srgbClr val="FFFFFF"/>
                </a:solidFill>
                <a:latin typeface="맑은 고딕"/>
                <a:ea typeface="맑은 고딕"/>
              </a:rPr>
              <a:t> 못 받는다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868680" y="4315968"/>
            <a:ext cx="64008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맑은 고딕"/>
                <a:ea typeface="맑은 고딕"/>
              </a:rPr>
              <a:t>대상 사용자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868680" y="4608576"/>
            <a:ext cx="3200400" cy="1170432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맑은 고딕"/>
                <a:ea typeface="맑은 고딕"/>
              </a:rPr>
              <a:t>1차 — 정보 접근성이 낮은 취약계층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독거 어르신 · 중증장애인 · 한부모/다문화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위기 청년 · 외국인 주민</a:t>
            </a:r>
          </a:p>
        </p:txBody>
      </p:sp>
      <p:sp>
        <p:nvSpPr>
          <p:cNvPr id="1023" name="Rounded Rectangle 1022"/>
          <p:cNvSpPr/>
          <p:nvPr/>
        </p:nvSpPr>
        <p:spPr>
          <a:xfrm>
            <a:off x="4178808" y="4608576"/>
            <a:ext cx="3200400" cy="1170432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맑은 고딕"/>
                <a:ea typeface="맑은 고딕"/>
              </a:rPr>
              <a:t>2차 — 대신 챙기는 사람들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부모·조부모의 복지를 챙기는 가족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사회복지 현장 종사자(도우미 모드)</a:t>
            </a:r>
          </a:p>
        </p:txBody>
      </p:sp>
      <p:sp>
        <p:nvSpPr>
          <p:cNvPr id="1024" name="Rounded Rectangle 1023"/>
          <p:cNvSpPr/>
          <p:nvPr/>
        </p:nvSpPr>
        <p:spPr>
          <a:xfrm>
            <a:off x="7726679" y="1645920"/>
            <a:ext cx="3703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BBE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TextBox 1024"/>
          <p:cNvSpPr txBox="1"/>
          <p:nvPr/>
        </p:nvSpPr>
        <p:spPr>
          <a:xfrm>
            <a:off x="7891271" y="1773936"/>
            <a:ext cx="33832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맑은 고딕"/>
                <a:ea typeface="맑은 고딕"/>
              </a:rPr>
              <a:t>우리가 실제로 확인한 격차 </a:t>
            </a: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(라이브 실측)</a:t>
            </a:r>
          </a:p>
        </p:txBody>
      </p:sp>
      <p:sp>
        <p:nvSpPr>
          <p:cNvPr id="1026" name="TextBox 1025"/>
          <p:cNvSpPr txBox="1"/>
          <p:nvPr/>
        </p:nvSpPr>
        <p:spPr>
          <a:xfrm>
            <a:off x="7927848" y="2157984"/>
            <a:ext cx="329184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15803D"/>
                </a:solidFill>
                <a:latin typeface="맑은 고딕"/>
                <a:ea typeface="맑은 고딕"/>
              </a:rPr>
              <a:t>5,200+</a:t>
            </a:r>
          </a:p>
        </p:txBody>
      </p:sp>
      <p:sp>
        <p:nvSpPr>
          <p:cNvPr id="1027" name="TextBox 1026"/>
          <p:cNvSpPr txBox="1"/>
          <p:nvPr/>
        </p:nvSpPr>
        <p:spPr>
          <a:xfrm>
            <a:off x="7927848" y="2560320"/>
            <a:ext cx="3346704" cy="6583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정부·지자체·민간 복지를 한곳에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(공공데이터 4,965 + 정밀시드 190 + 민간 21)</a:t>
            </a:r>
          </a:p>
        </p:txBody>
      </p:sp>
      <p:sp>
        <p:nvSpPr>
          <p:cNvPr id="1028" name="TextBox 1027"/>
          <p:cNvSpPr txBox="1"/>
          <p:nvPr/>
        </p:nvSpPr>
        <p:spPr>
          <a:xfrm>
            <a:off x="7927848" y="3364992"/>
            <a:ext cx="329184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9F1239"/>
                </a:solidFill>
                <a:latin typeface="맑은 고딕"/>
                <a:ea typeface="맑은 고딕"/>
              </a:rPr>
              <a:t>월 63.9만원</a:t>
            </a:r>
          </a:p>
        </p:txBody>
      </p:sp>
      <p:sp>
        <p:nvSpPr>
          <p:cNvPr id="1029" name="TextBox 1028"/>
          <p:cNvSpPr txBox="1"/>
          <p:nvPr/>
        </p:nvSpPr>
        <p:spPr>
          <a:xfrm>
            <a:off x="7927848" y="3767328"/>
            <a:ext cx="3346704" cy="6583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독거 어르신(중위 25%) 1명이 놓치던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핵심 현금지원 발견액(월 최대)</a:t>
            </a:r>
          </a:p>
        </p:txBody>
      </p:sp>
      <p:sp>
        <p:nvSpPr>
          <p:cNvPr id="1030" name="TextBox 1029"/>
          <p:cNvSpPr txBox="1"/>
          <p:nvPr/>
        </p:nvSpPr>
        <p:spPr>
          <a:xfrm>
            <a:off x="7927848" y="4572000"/>
            <a:ext cx="329184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075985"/>
                </a:solidFill>
                <a:latin typeface="맑은 고딕"/>
                <a:ea typeface="맑은 고딕"/>
              </a:rPr>
              <a:t>13종 → 클릭 1번</a:t>
            </a:r>
          </a:p>
        </p:txBody>
      </p:sp>
      <p:sp>
        <p:nvSpPr>
          <p:cNvPr id="1031" name="TextBox 1030"/>
          <p:cNvSpPr txBox="1"/>
          <p:nvPr/>
        </p:nvSpPr>
        <p:spPr>
          <a:xfrm>
            <a:off x="7927848" y="4974336"/>
            <a:ext cx="3346704" cy="6583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복지 신청에 필요한 증명서류,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정부24 전자발급 딥링크로 즉시</a:t>
            </a:r>
          </a:p>
        </p:txBody>
      </p:sp>
    </p:spTree>
    <p:extLst>
      <p:ext uri="{BB962C8B-B14F-4D97-AF65-F5344CB8AC3E}">
        <p14:creationId xmlns:p14="http://schemas.microsoft.com/office/powerpoint/2010/main" val="91869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1157C7AA-BAD1-48B2-65BB-AD464A54796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FDA78D37-3108-EE7F-CB8F-3A968C425896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9CE2AEF5-243D-D469-B364-EE0084AAA103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78FF-57A0-7C3A-21B2-B56318A47152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5943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+mj-ea"/>
                <a:ea typeface="+mj-ea"/>
                <a:cs typeface="+mj-ea"/>
              </a:rPr>
              <a:t>AI Agent 기능 및 구조 ① — 에이전트 루프</a:t>
            </a:r>
            <a:r>
              <a:rPr dirty="0" err="1">
                <a:latin typeface="+mj-ea"/>
                <a:ea typeface="+mj-ea"/>
                <a:cs typeface="+mj-ea"/>
              </a:rPr>
              <a:t/>
            </a:r>
            <a:r>
              <a:rPr dirty="0">
                <a:latin typeface="+mj-ea"/>
                <a:ea typeface="+mj-ea"/>
                <a:cs typeface="+mj-ea"/>
              </a:rPr>
              <a:t/>
            </a:r>
            <a:r>
              <a:rPr dirty="0" err="1">
                <a:latin typeface="+mj-ea"/>
                <a:ea typeface="+mj-ea"/>
                <a:cs typeface="+mj-ea"/>
              </a:rPr>
              <a:t/>
            </a:r>
            <a:r>
              <a:rPr lang="en-US" dirty="0">
                <a:latin typeface="+mj-ea"/>
                <a:ea typeface="+mj-ea"/>
                <a:cs typeface="+mj-ea"/>
              </a:rPr>
              <a:t/>
            </a:r>
            <a:r>
              <a:rPr lang="ko-KR" altLang="en-US" dirty="0">
                <a:latin typeface="+mj-ea"/>
                <a:ea typeface="+mj-ea"/>
                <a:cs typeface="+mj-ea"/>
              </a:rPr>
              <a:t/>
            </a:r>
            <a:endParaRPr dirty="0">
              <a:latin typeface="+mj-ea"/>
              <a:ea typeface="+mj-ea"/>
              <a:cs typeface="+mj-ea"/>
            </a:endParaRP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1D5857E-B5B3-4166-9BA0-61884A23F3AB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43F181DE-E08B-4CAA-5763-102919945158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4" name="Auto Slide Number">
            <a:extLst>
              <a:ext uri="{FF2B5EF4-FFF2-40B4-BE49-F238E27FC236}">
                <a16:creationId xmlns:a16="http://schemas.microsoft.com/office/drawing/2014/main" id="{37BA7BA5-5347-4F51-A5DE-8F2C0D352C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E847D6B-B1E4-40A3-BA88-394742D024FD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4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7C926C7-D81F-498A-BF9E-7537AA58E057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45920"/>
            <a:ext cx="103327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</a:rPr>
              <a:t>사용자를 대신해 </a:t>
            </a:r>
            <a:r>
              <a:rPr sz="1250" b="1">
                <a:solidFill>
                  <a:srgbClr val="15803D"/>
                </a:solidFill>
                <a:latin typeface="맑은 고딕"/>
                <a:ea typeface="맑은 고딕"/>
              </a:rPr>
              <a:t>인지 → 판단 → 이해 → 행동 → 관찰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</a:rPr>
              <a:t>을 자율적으로 도는 5단계 루프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2029968"/>
            <a:ext cx="1956816" cy="2395728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1300" b="1">
                <a:solidFill>
                  <a:srgbClr val="15803D"/>
                </a:solidFill>
                <a:latin typeface="맑은 고딕"/>
                <a:ea typeface="맑은 고딕"/>
              </a:rPr>
              <a:t>① 인지  </a:t>
            </a:r>
            <a:r>
              <a:rPr sz="950" b="0">
                <a:solidFill>
                  <a:srgbClr val="6B7280"/>
                </a:solidFill>
                <a:latin typeface="맑은 고딕"/>
                <a:ea typeface="맑은 고딕"/>
              </a:rPr>
              <a:t>상황 파악</a:t>
            </a:r>
          </a:p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880" b="0">
                <a:solidFill>
                  <a:srgbClr val="1F2937"/>
                </a:solidFill>
                <a:latin typeface="맑은 고딕"/>
                <a:ea typeface="맑은 고딕"/>
              </a:rPr>
              <a:t>1분 프로필 위저드</a:t>
            </a:r>
          </a:p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880" b="0">
                <a:solidFill>
                  <a:srgbClr val="1F2937"/>
                </a:solidFill>
                <a:latin typeface="맑은 고딕"/>
                <a:ea typeface="맑은 고딕"/>
              </a:rPr>
              <a:t>자연어 한 문장 분석</a:t>
            </a:r>
          </a:p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880" b="0">
                <a:solidFill>
                  <a:srgbClr val="6B7280"/>
                </a:solidFill>
                <a:latin typeface="맑은 고딕"/>
                <a:ea typeface="맑은 고딕"/>
              </a:rPr>
              <a:t>“72세 혼자 사는데
소득이 적어요”</a:t>
            </a:r>
          </a:p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880" b="0">
                <a:solidFill>
                  <a:srgbClr val="1F2937"/>
                </a:solidFill>
                <a:latin typeface="맑은 고딕"/>
                <a:ea typeface="맑은 고딕"/>
              </a:rPr>
              <a:t>음성 입력 지원</a:t>
            </a:r>
          </a:p>
        </p:txBody>
      </p:sp>
      <p:sp>
        <p:nvSpPr>
          <p:cNvPr id="1018" name="Right Arrow 1017"/>
          <p:cNvSpPr/>
          <p:nvPr/>
        </p:nvSpPr>
        <p:spPr>
          <a:xfrm>
            <a:off x="2811779" y="3072384"/>
            <a:ext cx="219456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Rounded Rectangle 1018"/>
          <p:cNvSpPr/>
          <p:nvPr/>
        </p:nvSpPr>
        <p:spPr>
          <a:xfrm>
            <a:off x="3017520" y="2029968"/>
            <a:ext cx="1956816" cy="2395728"/>
          </a:xfrm>
          <a:prstGeom prst="roundRect">
            <a:avLst>
              <a:gd name="adj" fmla="val 8000"/>
            </a:avLst>
          </a:prstGeom>
          <a:solidFill>
            <a:srgbClr val="F0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1300" b="1">
                <a:solidFill>
                  <a:srgbClr val="075985"/>
                </a:solidFill>
                <a:latin typeface="맑은 고딕"/>
                <a:ea typeface="맑은 고딕"/>
              </a:rPr>
              <a:t>② 판단  </a:t>
            </a:r>
            <a:r>
              <a:rPr sz="950" b="0">
                <a:solidFill>
                  <a:srgbClr val="6B7280"/>
                </a:solidFill>
                <a:latin typeface="맑은 고딕"/>
                <a:ea typeface="맑은 고딕"/>
              </a:rPr>
              <a:t>자격 선별</a:t>
            </a:r>
          </a:p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880" b="0">
                <a:solidFill>
                  <a:srgbClr val="1F2937"/>
                </a:solidFill>
                <a:latin typeface="맑은 고딕"/>
                <a:ea typeface="맑은 고딕"/>
              </a:rPr>
              <a:t>5,200여 건 자격판정</a:t>
            </a:r>
          </a:p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880" b="0">
                <a:solidFill>
                  <a:srgbClr val="1F2937"/>
                </a:solidFill>
                <a:latin typeface="맑은 고딕"/>
                <a:ea typeface="맑은 고딕"/>
              </a:rPr>
              <a:t>2026 공식 선정기준</a:t>
            </a:r>
          </a:p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880" b="0">
                <a:solidFill>
                  <a:srgbClr val="1F2937"/>
                </a:solidFill>
                <a:latin typeface="맑은 고딕"/>
                <a:ea typeface="맑은 고딕"/>
              </a:rPr>
              <a:t>확실/관련 신뢰도 분리</a:t>
            </a:r>
          </a:p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880" b="0">
                <a:solidFill>
                  <a:srgbClr val="1F2937"/>
                </a:solidFill>
                <a:latin typeface="맑은 고딕"/>
                <a:ea typeface="맑은 고딕"/>
              </a:rPr>
              <a:t>(과장 방지 설계)</a:t>
            </a:r>
          </a:p>
        </p:txBody>
      </p:sp>
      <p:sp>
        <p:nvSpPr>
          <p:cNvPr id="1020" name="Right Arrow 1019"/>
          <p:cNvSpPr/>
          <p:nvPr/>
        </p:nvSpPr>
        <p:spPr>
          <a:xfrm>
            <a:off x="4960620" y="3072384"/>
            <a:ext cx="219456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Rounded Rectangle 1020"/>
          <p:cNvSpPr/>
          <p:nvPr/>
        </p:nvSpPr>
        <p:spPr>
          <a:xfrm>
            <a:off x="5166360" y="2029968"/>
            <a:ext cx="1956816" cy="2395728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1300" b="1">
                <a:solidFill>
                  <a:srgbClr val="6D28D9"/>
                </a:solidFill>
                <a:latin typeface="맑은 고딕"/>
                <a:ea typeface="맑은 고딕"/>
              </a:rPr>
              <a:t>③ 이해  </a:t>
            </a:r>
            <a:r>
              <a:rPr sz="950" b="0">
                <a:solidFill>
                  <a:srgbClr val="6B7280"/>
                </a:solidFill>
                <a:latin typeface="맑은 고딕"/>
                <a:ea typeface="맑은 고딕"/>
              </a:rPr>
              <a:t>쉽게 설명</a:t>
            </a:r>
          </a:p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880" b="0">
                <a:solidFill>
                  <a:srgbClr val="1F2937"/>
                </a:solidFill>
                <a:latin typeface="맑은 고딕"/>
                <a:ea typeface="맑은 고딕"/>
              </a:rPr>
              <a:t>쉬운 말 결과·용어사전</a:t>
            </a:r>
          </a:p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880" b="0">
                <a:solidFill>
                  <a:srgbClr val="1F2937"/>
                </a:solidFill>
                <a:latin typeface="맑은 고딕"/>
                <a:ea typeface="맑은 고딕"/>
              </a:rPr>
              <a:t>7개 언어 AI 답변</a:t>
            </a:r>
          </a:p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880" b="0">
                <a:solidFill>
                  <a:srgbClr val="1F2937"/>
                </a:solidFill>
                <a:latin typeface="맑은 고딕"/>
                <a:ea typeface="맑은 고딕"/>
              </a:rPr>
              <a:t>온디바이스 신경망 임베딩</a:t>
            </a:r>
          </a:p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880" b="0">
                <a:solidFill>
                  <a:srgbClr val="1F2937"/>
                </a:solidFill>
                <a:latin typeface="맑은 고딕"/>
                <a:ea typeface="맑은 고딕"/>
              </a:rPr>
              <a:t>TTS 읽어주기</a:t>
            </a:r>
          </a:p>
        </p:txBody>
      </p:sp>
      <p:sp>
        <p:nvSpPr>
          <p:cNvPr id="1022" name="Right Arrow 1021"/>
          <p:cNvSpPr/>
          <p:nvPr/>
        </p:nvSpPr>
        <p:spPr>
          <a:xfrm>
            <a:off x="7109460" y="3072384"/>
            <a:ext cx="219456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Rounded Rectangle 1022"/>
          <p:cNvSpPr/>
          <p:nvPr/>
        </p:nvSpPr>
        <p:spPr>
          <a:xfrm>
            <a:off x="7315200" y="2029968"/>
            <a:ext cx="1956816" cy="2395728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1300" b="1">
                <a:solidFill>
                  <a:srgbClr val="92400E"/>
                </a:solidFill>
                <a:latin typeface="맑은 고딕"/>
                <a:ea typeface="맑은 고딕"/>
              </a:rPr>
              <a:t>④ 행동  </a:t>
            </a:r>
            <a:r>
              <a:rPr sz="950" b="0">
                <a:solidFill>
                  <a:srgbClr val="6B7280"/>
                </a:solidFill>
                <a:latin typeface="맑은 고딕"/>
                <a:ea typeface="맑은 고딕"/>
              </a:rPr>
              <a:t>실행 지원</a:t>
            </a:r>
          </a:p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880" b="0">
                <a:solidFill>
                  <a:srgbClr val="6B7280"/>
                </a:solidFill>
                <a:latin typeface="맑은 고딕"/>
                <a:ea typeface="맑은 고딕"/>
              </a:rPr>
              <a:t>“다 담아줘” → 저장</a:t>
            </a:r>
          </a:p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880" b="0">
                <a:solidFill>
                  <a:srgbClr val="1F2937"/>
                </a:solidFill>
                <a:latin typeface="맑은 고딕"/>
                <a:ea typeface="맑은 고딕"/>
              </a:rPr>
              <a:t>필요서류 자동 집계</a:t>
            </a:r>
          </a:p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880" b="0">
                <a:solidFill>
                  <a:srgbClr val="1F2937"/>
                </a:solidFill>
                <a:latin typeface="맑은 고딕"/>
                <a:ea typeface="맑은 고딕"/>
              </a:rPr>
              <a:t>정부24 전자발급 연결</a:t>
            </a:r>
          </a:p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880" b="0">
                <a:solidFill>
                  <a:srgbClr val="1F2937"/>
                </a:solidFill>
                <a:latin typeface="맑은 고딕"/>
                <a:ea typeface="맑은 고딕"/>
              </a:rPr>
              <a:t>신청서 정보 미리채움</a:t>
            </a:r>
          </a:p>
        </p:txBody>
      </p:sp>
      <p:sp>
        <p:nvSpPr>
          <p:cNvPr id="1024" name="Right Arrow 1023"/>
          <p:cNvSpPr/>
          <p:nvPr/>
        </p:nvSpPr>
        <p:spPr>
          <a:xfrm>
            <a:off x="9258300" y="3072384"/>
            <a:ext cx="219456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Rounded Rectangle 1024"/>
          <p:cNvSpPr/>
          <p:nvPr/>
        </p:nvSpPr>
        <p:spPr>
          <a:xfrm>
            <a:off x="9464040" y="2029968"/>
            <a:ext cx="1956816" cy="2395728"/>
          </a:xfrm>
          <a:prstGeom prst="roundRect">
            <a:avLst>
              <a:gd name="adj" fmla="val 8000"/>
            </a:avLst>
          </a:prstGeom>
          <a:solidFill>
            <a:srgbClr val="FFF1F2"/>
          </a:solidFill>
          <a:ln w="1524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1300" b="1">
                <a:solidFill>
                  <a:srgbClr val="9F1239"/>
                </a:solidFill>
                <a:latin typeface="맑은 고딕"/>
                <a:ea typeface="맑은 고딕"/>
              </a:rPr>
              <a:t>⑤ 관찰  </a:t>
            </a:r>
            <a:r>
              <a:rPr sz="950" b="0">
                <a:solidFill>
                  <a:srgbClr val="6B7280"/>
                </a:solidFill>
                <a:latin typeface="맑은 고딕"/>
                <a:ea typeface="맑은 고딕"/>
              </a:rPr>
              <a:t>계속 감시</a:t>
            </a:r>
          </a:p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880" b="0">
                <a:solidFill>
                  <a:srgbClr val="1F2937"/>
                </a:solidFill>
                <a:latin typeface="맑은 고딕"/>
                <a:ea typeface="맑은 고딕"/>
              </a:rPr>
              <a:t>신청 마감 D-day</a:t>
            </a:r>
          </a:p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880" b="0">
                <a:solidFill>
                  <a:srgbClr val="1F2937"/>
                </a:solidFill>
                <a:latin typeface="맑은 고딕"/>
                <a:ea typeface="맑은 고딕"/>
              </a:rPr>
              <a:t>갱신 임박·서류 미비</a:t>
            </a:r>
          </a:p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880" b="0">
                <a:solidFill>
                  <a:srgbClr val="1F2937"/>
                </a:solidFill>
                <a:latin typeface="맑은 고딕"/>
                <a:ea typeface="맑은 고딕"/>
              </a:rPr>
              <a:t>앱 열면 먼저 브리핑</a:t>
            </a:r>
          </a:p>
          <a:p>
            <a:pPr algn="l">
              <a:lnSpc>
                <a:spcPct val="112000"/>
              </a:lnSpc>
              <a:spcAft>
                <a:spcPts val="250"/>
              </a:spcAft>
            </a:pPr>
            <a:r>
              <a:rPr sz="880" b="0">
                <a:solidFill>
                  <a:srgbClr val="1F2937"/>
                </a:solidFill>
                <a:latin typeface="맑은 고딕"/>
                <a:ea typeface="맑은 고딕"/>
              </a:rPr>
              <a:t>복지 캘린더(.ics)</a:t>
            </a:r>
          </a:p>
        </p:txBody>
      </p:sp>
      <p:sp>
        <p:nvSpPr>
          <p:cNvPr id="1026" name="TextBox 1025"/>
          <p:cNvSpPr txBox="1"/>
          <p:nvPr/>
        </p:nvSpPr>
        <p:spPr>
          <a:xfrm>
            <a:off x="868680" y="4498848"/>
            <a:ext cx="1042416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00" b="1">
                <a:solidFill>
                  <a:srgbClr val="6B7280"/>
                </a:solidFill>
                <a:latin typeface="맑은 고딕"/>
                <a:ea typeface="맑은 고딕"/>
              </a:rPr>
              <a:t>↻ 관찰 결과(마감 임박·새 자격)는 다시 ‘인지’로 — 사용자가 묻기 전에 에이전트가 먼저 알린다</a:t>
            </a:r>
          </a:p>
        </p:txBody>
      </p:sp>
      <p:sp>
        <p:nvSpPr>
          <p:cNvPr id="1027" name="Rounded Rectangle 1026"/>
          <p:cNvSpPr/>
          <p:nvPr/>
        </p:nvSpPr>
        <p:spPr>
          <a:xfrm>
            <a:off x="868680" y="4846320"/>
            <a:ext cx="10561320" cy="859536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92400E"/>
                </a:solidFill>
                <a:latin typeface="맑은 고딕"/>
                <a:ea typeface="맑은 고딕"/>
              </a:rPr>
              <a:t>🙋 안전장치(설계 철학) — </a:t>
            </a:r>
            <a:r>
              <a:rPr sz="1150" b="1">
                <a:solidFill>
                  <a:srgbClr val="1F2937"/>
                </a:solidFill>
                <a:latin typeface="맑은 고딕"/>
                <a:ea typeface="맑은 고딕"/>
              </a:rPr>
              <a:t>본인인증과 최종 제출은 법이 사람에게 요구하는 단계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에이전트는 그 직전까지 전부 준비하고, 마지막 클릭은 사람이 한다(human-in-the-loop). 무인 대행은 설계상 배제 — 비가역·법적 행위이기 때문.</a:t>
            </a:r>
          </a:p>
        </p:txBody>
      </p:sp>
    </p:spTree>
    <p:extLst>
      <p:ext uri="{BB962C8B-B14F-4D97-AF65-F5344CB8AC3E}">
        <p14:creationId xmlns:p14="http://schemas.microsoft.com/office/powerpoint/2010/main" val="40272850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4822BAF9-7DA8-2CEB-0389-8E3F6CFC4B2D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8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B3D6440B-E8F0-1E73-E5FF-72737DFD9199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10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AD1E7A96-4C68-6800-DC19-6EFB0D02D277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A7EE83-FB83-19B0-F1B4-CECFF9D828FF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5943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기대효과 — 측정 가능한 변화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1531CCBE-416B-40DA-973B-E7D076437643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5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8AAB5161-91C3-B8D3-C3D2-783097542A7A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5" name="Auto Slide Number">
            <a:extLst>
              <a:ext uri="{FF2B5EF4-FFF2-40B4-BE49-F238E27FC236}">
                <a16:creationId xmlns:a16="http://schemas.microsoft.com/office/drawing/2014/main" id="{E7888A82-BDB0-4FC2-B3C2-7DDEC35A543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81A4601E-17B6-43AB-AE80-175BABD0F04E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5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6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C793FBA1-325E-47EB-AA4B-EA6035094169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fld>
            <a:endParaRPr lang="ko-KR" sz="1000"/>
          </a:p>
        </p:txBody>
      </p:sp>
      <p:sp>
        <p:nvSpPr>
          <p:cNvPr id="1017" name="TextBox 1016"/>
          <p:cNvSpPr txBox="1"/>
          <p:nvPr/>
        </p:nvSpPr>
        <p:spPr>
          <a:xfrm>
            <a:off x="868680" y="1645920"/>
            <a:ext cx="103327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1F2937"/>
                </a:solidFill>
                <a:latin typeface="맑은 고딕"/>
                <a:ea typeface="맑은 고딕"/>
              </a:rPr>
              <a:t>페르소나별 발견 가치 </a:t>
            </a: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(라이브 실측 · ‘월 최대·중복수급 미반영’ 명시 — 과장 없음)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868680" y="1975104"/>
            <a:ext cx="3401568" cy="1700784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>
                <a:solidFill>
                  <a:srgbClr val="1F2937"/>
                </a:solidFill>
                <a:latin typeface="맑은 고딕"/>
                <a:ea typeface="맑은 고딕"/>
              </a:rPr>
              <a:t>👵 독거 어르신  </a:t>
            </a: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중위소득 25% · 72세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900" b="1">
                <a:solidFill>
                  <a:srgbClr val="15803D"/>
                </a:solidFill>
                <a:latin typeface="맑은 고딕"/>
                <a:ea typeface="맑은 고딕"/>
              </a:rPr>
              <a:t>월 최대 63.9만원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기초연금+생계급여 등 핵심 현금지원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+ 감액·중복 관계까지 안내(조합 도우미)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4453128" y="1975104"/>
            <a:ext cx="3401568" cy="1700784"/>
          </a:xfrm>
          <a:prstGeom prst="roundRect">
            <a:avLst>
              <a:gd name="adj" fmla="val 8000"/>
            </a:avLst>
          </a:prstGeom>
          <a:solidFill>
            <a:srgbClr val="FFF1F2"/>
          </a:solidFill>
          <a:ln w="1524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>
                <a:solidFill>
                  <a:srgbClr val="1F2937"/>
                </a:solidFill>
                <a:latin typeface="맑은 고딕"/>
                <a:ea typeface="맑은 고딕"/>
              </a:rPr>
              <a:t>🤰 출산 가정  </a:t>
            </a: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0세 자녀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900" b="1">
                <a:solidFill>
                  <a:srgbClr val="9F1239"/>
                </a:solidFill>
                <a:latin typeface="맑은 고딕"/>
                <a:ea typeface="맑은 고딕"/>
              </a:rPr>
              <a:t>월 최대 119.3만원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부모급여+아동수당 등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+ ‘출생 후 60일’ 소급 시한 능동 알림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8037575" y="1975104"/>
            <a:ext cx="3401568" cy="1700784"/>
          </a:xfrm>
          <a:prstGeom prst="roundRect">
            <a:avLst>
              <a:gd name="adj" fmla="val 8000"/>
            </a:avLst>
          </a:prstGeom>
          <a:solidFill>
            <a:srgbClr val="F0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>
                <a:solidFill>
                  <a:srgbClr val="1F2937"/>
                </a:solidFill>
                <a:latin typeface="맑은 고딕"/>
                <a:ea typeface="맑은 고딕"/>
              </a:rPr>
              <a:t>♿ 중증장애인  </a:t>
            </a: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1급 · 45세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900" b="1">
                <a:solidFill>
                  <a:srgbClr val="075985"/>
                </a:solidFill>
                <a:latin typeface="맑은 고딕"/>
                <a:ea typeface="맑은 고딕"/>
              </a:rPr>
              <a:t>월 최대 34.9만원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장애인연금 등 + 민간 의료·재활 재단 연계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(정부 포털에 없는 사각지대)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868680" y="3913632"/>
            <a:ext cx="10332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1F2937"/>
                </a:solidFill>
                <a:latin typeface="맑은 고딕"/>
                <a:ea typeface="맑은 고딕"/>
              </a:rPr>
              <a:t>정성적 효과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868680" y="4187952"/>
            <a:ext cx="3401568" cy="969264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맑은 고딕"/>
                <a:ea typeface="맑은 고딕"/>
              </a:rPr>
              <a:t>검색 → 에이전트로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‘몰라서 못 받는’ 구조적 미수급 해소.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사용자가 찾는 게 아니라 에이전트가 먼저 챙긴다</a:t>
            </a:r>
          </a:p>
        </p:txBody>
      </p:sp>
      <p:sp>
        <p:nvSpPr>
          <p:cNvPr id="1023" name="Rounded Rectangle 1022"/>
          <p:cNvSpPr/>
          <p:nvPr/>
        </p:nvSpPr>
        <p:spPr>
          <a:xfrm>
            <a:off x="4453128" y="4187952"/>
            <a:ext cx="3401568" cy="969264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맑은 고딕"/>
                <a:ea typeface="맑은 고딕"/>
              </a:rPr>
              <a:t>사각지대까지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민간재단(장학·의료·위기지원) 큐레이션으로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정부 데이터 밖까지 커버 · 7개 언어(외국인·다문화)</a:t>
            </a:r>
          </a:p>
        </p:txBody>
      </p:sp>
      <p:sp>
        <p:nvSpPr>
          <p:cNvPr id="1024" name="Rounded Rectangle 1023"/>
          <p:cNvSpPr/>
          <p:nvPr/>
        </p:nvSpPr>
        <p:spPr>
          <a:xfrm>
            <a:off x="8037575" y="4187952"/>
            <a:ext cx="3401568" cy="969264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맑은 고딕"/>
                <a:ea typeface="맑은 고딕"/>
              </a:rPr>
              <a:t>안심하고 쓰는 복지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개인정보 서버 전송 0 —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취약계층이 신뢰할 수 있는 프라이버시 구조</a:t>
            </a:r>
          </a:p>
        </p:txBody>
      </p:sp>
      <p:sp>
        <p:nvSpPr>
          <p:cNvPr id="1025" name="Rounded Rectangle 1024"/>
          <p:cNvSpPr/>
          <p:nvPr/>
        </p:nvSpPr>
        <p:spPr>
          <a:xfrm>
            <a:off x="868680" y="5340096"/>
            <a:ext cx="10561320" cy="475488"/>
          </a:xfrm>
          <a:prstGeom prst="roundRect">
            <a:avLst>
              <a:gd name="adj" fmla="val 8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신뢰성 — 기획이 아니라 검증된 수치: </a:t>
            </a:r>
            <a:r>
              <a:rPr sz="1050" b="0">
                <a:solidFill>
                  <a:srgbClr val="D1FAE5"/>
                </a:solidFill>
                <a:latin typeface="맑은 고딕"/>
                <a:ea typeface="맑은 고딕"/>
              </a:rPr>
              <a:t>라이브 운영 중 · 자동테스트 426개(프론트 392+백엔드 34) · 실브라우저 E2E 10여정 · 전 금액 2026 공식 출처 검증</a:t>
            </a:r>
          </a:p>
        </p:txBody>
      </p:sp>
    </p:spTree>
    <p:extLst>
      <p:ext uri="{BB962C8B-B14F-4D97-AF65-F5344CB8AC3E}">
        <p14:creationId xmlns:p14="http://schemas.microsoft.com/office/powerpoint/2010/main" val="35797052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24973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최종 산출물 개요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B4C9C43D-C5AC-4315-9BD6-34E1DDE42CB7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4FC7CE-8E2B-C5DE-8F36-06CC621A459E}"/>
              </a:ext>
            </a:extLst>
          </p:cNvPr>
          <p:cNvSpPr>
            <a:spLocks noGrp="1"/>
          </p:cNvSpPr>
          <p:nvPr/>
        </p:nvSpPr>
        <p:spPr>
          <a:xfrm>
            <a:off x="2664541" y="1957156"/>
            <a:ext cx="7541342" cy="11695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133350" tIns="95250" rIns="133350" bIns="95250">
            <a:normAutofit/>
          </a:bodyPr>
          <a:lstStyle/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[</a:t>
            </a:r>
            <a:r>
              <a:rPr sz="1350" b="1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작성방법</a:t>
            </a:r>
            <a:r>
              <a:rPr sz="1350" b="1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]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완성한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lang="ko-KR" altLang="en-US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결과물</a:t>
            </a:r>
            <a:r>
              <a:rPr lang="en-US" altLang="ko-KR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(SW)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의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목적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해결하려는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문제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핵심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사용자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가치를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간결하게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작성합니다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결과물의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대표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화면이나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결과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예시를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함께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제시할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수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있습니다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  <a:endParaRPr lang="en-US" sz="1350" dirty="0">
              <a:solidFill>
                <a:srgbClr val="2F73E8"/>
              </a:solidFill>
              <a:latin typeface="Malgun Gothic"/>
              <a:ea typeface="Malgun Gothic"/>
              <a:cs typeface="Malgun Gothic"/>
            </a:endParaRPr>
          </a:p>
          <a:p>
            <a:pPr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필요 시 같은 양식을 복제하여 여러 장으로 확장할 수 있습니다</a:t>
            </a:r>
            <a:r>
              <a:rPr lang="en-US" altLang="ko-KR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endParaRPr sz="1350" dirty="0">
              <a:solidFill>
                <a:srgbClr val="2F73E8"/>
              </a:solidFill>
              <a:latin typeface="Malgun Gothic"/>
              <a:ea typeface="Malgun Gothic"/>
              <a:cs typeface="Malgun Gothic"/>
            </a:endParaRP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</p:spTree>
    <p:extLst>
      <p:ext uri="{BB962C8B-B14F-4D97-AF65-F5344CB8AC3E}">
        <p14:creationId xmlns:p14="http://schemas.microsoft.com/office/powerpoint/2010/main" val="3383210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9AE7259-26F0-06A2-EAF0-0D348222D14B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10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4C676688-A4F9-28A5-585E-15C4791A36ED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2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41C89922-1506-2D6C-C1C7-A35B619FBB4A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5FF4459E-C0FB-47AF-9858-82F4C062AF14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E20A8A-50DC-1699-36DC-DE2652FD7726}"/>
              </a:ext>
            </a:extLst>
          </p:cNvPr>
          <p:cNvSpPr>
            <a:spLocks noGrp="1"/>
          </p:cNvSpPr>
          <p:nvPr/>
        </p:nvSpPr>
        <p:spPr>
          <a:xfrm>
            <a:off x="2664541" y="1957156"/>
            <a:ext cx="7541342" cy="11554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133350" tIns="95250" rIns="133350" bIns="95250">
            <a:normAutofit fontScale="96312"/>
          </a:bodyPr>
          <a:lstStyle/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[</a:t>
            </a:r>
            <a:r>
              <a:rPr sz="1350" b="1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작성방법</a:t>
            </a:r>
            <a:r>
              <a:rPr sz="1350" b="1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]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사용자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입력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데이터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맥락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이해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추론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제안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또는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실행</a:t>
            </a:r>
            <a:r>
              <a:rPr lang="en-US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lang="ko-KR" altLang="en-US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등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까지의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흐름을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설명합니다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외부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API,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모델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데이터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저장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구조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등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주요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기술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요소를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함께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정리합니다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  <a:endParaRPr lang="en-US" sz="1350" dirty="0">
              <a:solidFill>
                <a:srgbClr val="2F73E8"/>
              </a:solidFill>
              <a:latin typeface="Malgun Gothic"/>
              <a:ea typeface="Malgun Gothic"/>
              <a:cs typeface="Malgun Gothic"/>
            </a:endParaRPr>
          </a:p>
          <a:p>
            <a:pPr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필요 시 같은 양식을 복제하여 여러 장으로 확장할 수 있습니다</a:t>
            </a:r>
            <a:r>
              <a:rPr lang="en-US" altLang="ko-KR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endParaRPr sz="1350" dirty="0">
              <a:solidFill>
                <a:srgbClr val="2F73E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B6FD35-8911-88CB-877F-E612391C583D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24973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AI Agent 작동 구조</a:t>
            </a:r>
          </a:p>
        </p:txBody>
      </p:sp>
      <p:pic>
        <p:nvPicPr>
          <p:cNvPr id="1017" name="그림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A7C6DEDF-7F99-D861-5BA6-64A5BF99B3BE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7" name="Auto Slide Number">
            <a:extLst>
              <a:ext uri="{FF2B5EF4-FFF2-40B4-BE49-F238E27FC236}">
                <a16:creationId xmlns:a16="http://schemas.microsoft.com/office/drawing/2014/main" id="{BCE182EC-8ADC-4E10-B5B1-E64AF5DC352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A31C7C2C-5E7C-4D07-AD31-90820A552FAF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7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8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BA80E9C-30AD-4A60-BD79-443F99FB659B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fld>
            <a:endParaRPr lang="ko-KR" sz="1000"/>
          </a:p>
        </p:txBody>
      </p:sp>
    </p:spTree>
    <p:extLst>
      <p:ext uri="{BB962C8B-B14F-4D97-AF65-F5344CB8AC3E}">
        <p14:creationId xmlns:p14="http://schemas.microsoft.com/office/powerpoint/2010/main" val="10187103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73B9D12E-1495-9345-B5C1-6CA487351340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11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10197046-830B-49AC-2A1E-DDD714EA3942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3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BDBA01F2-CD0A-EE54-FD1F-D2390E85F86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C5544C-80B5-F11D-247F-B4A6731ECC76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24973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핵심 기능 설명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77A060D5-C471-4F36-9F42-7F989A8BCB97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BA99FA-B21D-F75D-948E-7068D40928E0}"/>
              </a:ext>
            </a:extLst>
          </p:cNvPr>
          <p:cNvSpPr>
            <a:spLocks noGrp="1"/>
          </p:cNvSpPr>
          <p:nvPr/>
        </p:nvSpPr>
        <p:spPr>
          <a:xfrm>
            <a:off x="2664541" y="1957156"/>
            <a:ext cx="7541342" cy="12848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133350" tIns="95250" rIns="133350" bIns="95250">
            <a:normAutofit/>
          </a:bodyPr>
          <a:lstStyle/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[</a:t>
            </a:r>
            <a:r>
              <a:rPr sz="1350" b="1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작성방법</a:t>
            </a:r>
            <a:r>
              <a:rPr sz="1350" b="1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]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최종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산출물에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구현된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주요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기능을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사용자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관점에서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설명합니다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각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기능이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어떤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입력을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받아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어떤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결과를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제공하는지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구체적으로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작성합니다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  <a:endParaRPr lang="en-US" sz="1350" dirty="0">
              <a:solidFill>
                <a:srgbClr val="2F73E8"/>
              </a:solidFill>
              <a:latin typeface="Malgun Gothic"/>
              <a:ea typeface="Malgun Gothic"/>
              <a:cs typeface="Malgun Gothic"/>
            </a:endParaRPr>
          </a:p>
          <a:p>
            <a:pPr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필요 시 같은 양식을 복제하여 여러 장으로 확장할 수 있습니다</a:t>
            </a:r>
            <a:r>
              <a:rPr lang="en-US" altLang="ko-KR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endParaRPr sz="1350" dirty="0">
              <a:solidFill>
                <a:srgbClr val="2F73E8"/>
              </a:solidFill>
              <a:latin typeface="Malgun Gothic"/>
              <a:ea typeface="Malgun Gothic"/>
              <a:cs typeface="Malgun Gothic"/>
            </a:endParaRPr>
          </a:p>
        </p:txBody>
      </p:sp>
      <p:pic>
        <p:nvPicPr>
          <p:cNvPr id="1018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0B2D8818-7BA4-05CF-4CEC-0065ADCEF359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8" name="Auto Slide Number">
            <a:extLst>
              <a:ext uri="{FF2B5EF4-FFF2-40B4-BE49-F238E27FC236}">
                <a16:creationId xmlns:a16="http://schemas.microsoft.com/office/drawing/2014/main" id="{C3806338-8667-43E4-9932-B370A293CBE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2876C266-6B0E-466B-A4D1-142268136602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8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9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03DD7086-28FB-44E2-AA91-6C7EB8293AB9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fld>
            <a:endParaRPr lang="ko-KR" sz="1000"/>
          </a:p>
        </p:txBody>
      </p:sp>
    </p:spTree>
    <p:extLst>
      <p:ext uri="{BB962C8B-B14F-4D97-AF65-F5344CB8AC3E}">
        <p14:creationId xmlns:p14="http://schemas.microsoft.com/office/powerpoint/2010/main" val="24143062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73B9D12E-1495-9345-B5C1-6CA487351340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12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10197046-830B-49AC-2A1E-DDD714EA3942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4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BDBA01F2-CD0A-EE54-FD1F-D2390E85F86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C5544C-80B5-F11D-247F-B4A6731ECC76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24973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사용자 이용 흐름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77A060D5-C471-4F36-9F42-7F989A8BCB97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BA99FA-B21D-F75D-948E-7068D40928E0}"/>
              </a:ext>
            </a:extLst>
          </p:cNvPr>
          <p:cNvSpPr>
            <a:spLocks noGrp="1"/>
          </p:cNvSpPr>
          <p:nvPr/>
        </p:nvSpPr>
        <p:spPr>
          <a:xfrm>
            <a:off x="2664541" y="1957156"/>
            <a:ext cx="7541342" cy="13032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133350" tIns="95250" rIns="133350" bIns="95250">
            <a:normAutofit/>
          </a:bodyPr>
          <a:lstStyle/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[</a:t>
            </a:r>
            <a:r>
              <a:rPr sz="1350" b="1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작성방법</a:t>
            </a:r>
            <a:r>
              <a:rPr sz="1350" b="1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]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사용자가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서비스를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처음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실행한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뒤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결과를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얻기까지의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과정을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단계별로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설명합니다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주요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화면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입력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방식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피드백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알림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예외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상황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대응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등을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포함할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수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있습니다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  <a:endParaRPr lang="en-US" sz="1350" dirty="0">
              <a:solidFill>
                <a:srgbClr val="2F73E8"/>
              </a:solidFill>
              <a:latin typeface="Malgun Gothic"/>
              <a:ea typeface="Malgun Gothic"/>
              <a:cs typeface="Malgun Gothic"/>
            </a:endParaRPr>
          </a:p>
          <a:p>
            <a:pPr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필요 시 같은 양식을 복제하여 여러 장으로 확장할 수 있습니다</a:t>
            </a:r>
            <a:r>
              <a:rPr lang="en-US" altLang="ko-KR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endParaRPr sz="1350" dirty="0">
              <a:solidFill>
                <a:srgbClr val="2F73E8"/>
              </a:solidFill>
              <a:latin typeface="Malgun Gothic"/>
              <a:ea typeface="Malgun Gothic"/>
              <a:cs typeface="Malgun Gothic"/>
            </a:endParaRPr>
          </a:p>
        </p:txBody>
      </p:sp>
      <p:pic>
        <p:nvPicPr>
          <p:cNvPr id="1019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0B2D8818-7BA4-05CF-4CEC-0065ADCEF359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9" name="Auto Slide Number">
            <a:extLst>
              <a:ext uri="{FF2B5EF4-FFF2-40B4-BE49-F238E27FC236}">
                <a16:creationId xmlns:a16="http://schemas.microsoft.com/office/drawing/2014/main" id="{F03A28DD-4959-436F-A82A-465411E36E2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87946CA-ABCC-435C-88E7-94F4DAE6B533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9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20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CFD52322-2022-4E01-8BA1-7BE5C50FB65B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fld>
            <a:endParaRPr lang="ko-KR" sz="1000"/>
          </a:p>
        </p:txBody>
      </p:sp>
    </p:spTree>
    <p:extLst>
      <p:ext uri="{BB962C8B-B14F-4D97-AF65-F5344CB8AC3E}">
        <p14:creationId xmlns:p14="http://schemas.microsoft.com/office/powerpoint/2010/main" val="24143062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73B9D12E-1495-9345-B5C1-6CA487351340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13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10197046-830B-49AC-2A1E-DDD714EA3942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5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BDBA01F2-CD0A-EE54-FD1F-D2390E85F86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C5544C-80B5-F11D-247F-B4A6731ECC76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24973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실용성 및 확장 가능성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77A060D5-C471-4F36-9F42-7F989A8BCB97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BA99FA-B21D-F75D-948E-7068D40928E0}"/>
              </a:ext>
            </a:extLst>
          </p:cNvPr>
          <p:cNvSpPr>
            <a:spLocks noGrp="1"/>
          </p:cNvSpPr>
          <p:nvPr/>
        </p:nvSpPr>
        <p:spPr>
          <a:xfrm>
            <a:off x="2664541" y="1957156"/>
            <a:ext cx="7541342" cy="1192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133350" tIns="95250" rIns="133350" bIns="95250">
            <a:normAutofit/>
          </a:bodyPr>
          <a:lstStyle/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[</a:t>
            </a:r>
            <a:r>
              <a:rPr sz="1350" b="1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작성방법</a:t>
            </a:r>
            <a:r>
              <a:rPr sz="1350" b="1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]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실제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사용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환경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반복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사용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가치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보안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및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신뢰성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고려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사항을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작성합니다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향후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기능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확장이나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다른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생활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영역으로의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적용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가능성을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설명합니다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  <a:endParaRPr lang="en-US" sz="1350" dirty="0">
              <a:solidFill>
                <a:srgbClr val="2F73E8"/>
              </a:solidFill>
              <a:latin typeface="Malgun Gothic"/>
              <a:ea typeface="Malgun Gothic"/>
              <a:cs typeface="Malgun Gothic"/>
            </a:endParaRPr>
          </a:p>
          <a:p>
            <a:pPr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필요 시 같은 양식을 복제하여 여러 장으로 확장할 수 있습니다</a:t>
            </a:r>
            <a:r>
              <a:rPr lang="en-US" altLang="ko-KR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endParaRPr sz="1350" dirty="0">
              <a:solidFill>
                <a:srgbClr val="2F73E8"/>
              </a:solidFill>
              <a:latin typeface="Malgun Gothic"/>
              <a:ea typeface="Malgun Gothic"/>
              <a:cs typeface="Malgun Gothic"/>
            </a:endParaRPr>
          </a:p>
        </p:txBody>
      </p:sp>
      <p:pic>
        <p:nvPicPr>
          <p:cNvPr id="1020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0B2D8818-7BA4-05CF-4CEC-0065ADCEF359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</a:t>
            </a:r>
            <a:r>
              <a:rPr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000" b="1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산출물</a:t>
            </a:r>
            <a:endParaRPr sz="1000" b="1" dirty="0">
              <a:solidFill>
                <a:srgbClr val="AEAEAE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0" name="Auto Slide Number">
            <a:extLst>
              <a:ext uri="{FF2B5EF4-FFF2-40B4-BE49-F238E27FC236}">
                <a16:creationId xmlns:a16="http://schemas.microsoft.com/office/drawing/2014/main" id="{623768C6-1E77-434B-AF01-F644A8526F4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09EBF7F1-4C1A-4BB6-ACF6-68E846D5C876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10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21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DEDA0E61-B5BF-4811-ABBF-BDFA2FA332D0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fld>
            <a:endParaRPr lang="ko-KR" sz="1000"/>
          </a:p>
        </p:txBody>
      </p:sp>
    </p:spTree>
    <p:extLst>
      <p:ext uri="{BB962C8B-B14F-4D97-AF65-F5344CB8AC3E}">
        <p14:creationId xmlns:p14="http://schemas.microsoft.com/office/powerpoint/2010/main" val="24143062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B28A62E3-D408-7FC8-9839-A8EBBDF10A5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14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D95CFAAB-4B1E-5327-77CD-70660E75B81B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부록 - 출처</a:t>
            </a:r>
          </a:p>
        </p:txBody>
      </p:sp>
      <p:cxnSp>
        <p:nvCxnSpPr>
          <p:cNvPr id="1016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288B9181-33AB-4D8B-6EDA-A7A26948B16E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19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011" name="Auto Slide Number">
            <a:extLst>
              <a:ext uri="{FF2B5EF4-FFF2-40B4-BE49-F238E27FC236}">
                <a16:creationId xmlns:a16="http://schemas.microsoft.com/office/drawing/2014/main" id="{7C251B65-C9E9-4266-B0D1-7D129D2AC83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22AD0EBC-FAE6-4543-8956-6420D7741273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11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20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04D2502F-6203-4A2B-81A3-290D9B809F4F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11</a:t>
            </a:fld>
            <a:endParaRPr lang="ko-KR" sz="1000"/>
          </a:p>
        </p:txBody>
      </p:sp>
      <p:sp>
        <p:nvSpPr>
          <p:cNvPr id="4" name="Google Shape;100;p2">
            <a:extLst>
              <a:ext uri="{FF2B5EF4-FFF2-40B4-BE49-F238E27FC236}">
                <a16:creationId xmlns:a16="http://schemas.microsoft.com/office/drawing/2014/main" id="{9A7CDF6C-182F-BE6D-CF16-CBDDB8E1E654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</a:t>
            </a:r>
            <a:r>
              <a:rPr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000" b="1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산출물</a:t>
            </a:r>
            <a:endParaRPr sz="1000" b="1" dirty="0">
              <a:solidFill>
                <a:srgbClr val="AEAEAE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21" name="TextBox 1020"/>
          <p:cNvSpPr txBox="1"/>
          <p:nvPr/>
        </p:nvSpPr>
        <p:spPr>
          <a:xfrm>
            <a:off x="868680" y="1517904"/>
            <a:ext cx="27432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1F2937"/>
                </a:solidFill>
                <a:latin typeface="맑은 고딕"/>
                <a:ea typeface="맑은 고딕"/>
              </a:rPr>
              <a:t>출처 및 사용 자원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868680" y="1920240"/>
            <a:ext cx="1554480" cy="493776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9525">
            <a:solidFill>
              <a:srgbClr val="BBE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15803D"/>
                </a:solidFill>
                <a:latin typeface="맑은 고딕"/>
                <a:ea typeface="맑은 고딕"/>
              </a:rPr>
              <a:t>공공데이터</a:t>
            </a:r>
          </a:p>
        </p:txBody>
      </p:sp>
      <p:sp>
        <p:nvSpPr>
          <p:cNvPr id="1023" name="Rounded Rectangle 1022"/>
          <p:cNvSpPr/>
          <p:nvPr/>
        </p:nvSpPr>
        <p:spPr>
          <a:xfrm>
            <a:off x="2532888" y="1920240"/>
            <a:ext cx="8869680" cy="493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30" b="0">
                <a:solidFill>
                  <a:srgbClr val="1F2937"/>
                </a:solidFill>
                <a:latin typeface="맑은 고딕"/>
                <a:ea typeface="맑은 고딕"/>
              </a:rPr>
              <a:t>한국사회보장정보원 ‘중앙부처 복지서비스’·‘지자체 복지서비스’ OpenAPI (data.go.kr, B554287) — 실데이터 4,965건</a:t>
            </a:r>
          </a:p>
        </p:txBody>
      </p:sp>
      <p:sp>
        <p:nvSpPr>
          <p:cNvPr id="1024" name="Rounded Rectangle 1023"/>
          <p:cNvSpPr/>
          <p:nvPr/>
        </p:nvSpPr>
        <p:spPr>
          <a:xfrm>
            <a:off x="868680" y="2487168"/>
            <a:ext cx="1554480" cy="493776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9525">
            <a:solidFill>
              <a:srgbClr val="BBE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15803D"/>
                </a:solidFill>
                <a:latin typeface="맑은 고딕"/>
                <a:ea typeface="맑은 고딕"/>
              </a:rPr>
              <a:t>정책 기준값</a:t>
            </a:r>
          </a:p>
        </p:txBody>
      </p:sp>
      <p:sp>
        <p:nvSpPr>
          <p:cNvPr id="1025" name="Rounded Rectangle 1024"/>
          <p:cNvSpPr/>
          <p:nvPr/>
        </p:nvSpPr>
        <p:spPr>
          <a:xfrm>
            <a:off x="2532888" y="2487168"/>
            <a:ext cx="8869680" cy="493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30" b="0">
                <a:solidFill>
                  <a:srgbClr val="1F2937"/>
                </a:solidFill>
                <a:latin typeface="맑은 고딕"/>
                <a:ea typeface="맑은 고딕"/>
              </a:rPr>
              <a:t>보건복지부 2026 기준 중위소득 고시 · 기초연금/장애인연금/아동수당/부모급여 등 공식 발표값(mohw.go.kr·bokjiro.go.kr 전수 검증)</a:t>
            </a:r>
          </a:p>
        </p:txBody>
      </p:sp>
      <p:sp>
        <p:nvSpPr>
          <p:cNvPr id="1026" name="Rounded Rectangle 1025"/>
          <p:cNvSpPr/>
          <p:nvPr/>
        </p:nvSpPr>
        <p:spPr>
          <a:xfrm>
            <a:off x="868680" y="3054096"/>
            <a:ext cx="1554480" cy="493776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9525">
            <a:solidFill>
              <a:srgbClr val="BBE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15803D"/>
                </a:solidFill>
                <a:latin typeface="맑은 고딕"/>
                <a:ea typeface="맑은 고딕"/>
              </a:rPr>
              <a:t>민간재단 정보</a:t>
            </a:r>
          </a:p>
        </p:txBody>
      </p:sp>
      <p:sp>
        <p:nvSpPr>
          <p:cNvPr id="1027" name="Rounded Rectangle 1026"/>
          <p:cNvSpPr/>
          <p:nvPr/>
        </p:nvSpPr>
        <p:spPr>
          <a:xfrm>
            <a:off x="2532888" y="3054096"/>
            <a:ext cx="8869680" cy="493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30" b="0">
                <a:solidFill>
                  <a:srgbClr val="1F2937"/>
                </a:solidFill>
                <a:latin typeface="맑은 고딕"/>
                <a:ea typeface="맑은 고딕"/>
              </a:rPr>
              <a:t>각 재단 공식 사이트 실측(현대차 정몽구 재단·삼성꿈장학재단·한국심장재단·초록우산 등 21곳) — URL 생존·요강 확인</a:t>
            </a:r>
          </a:p>
        </p:txBody>
      </p:sp>
      <p:sp>
        <p:nvSpPr>
          <p:cNvPr id="1028" name="Rounded Rectangle 1027"/>
          <p:cNvSpPr/>
          <p:nvPr/>
        </p:nvSpPr>
        <p:spPr>
          <a:xfrm>
            <a:off x="868680" y="3621024"/>
            <a:ext cx="1554480" cy="493776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9525">
            <a:solidFill>
              <a:srgbClr val="BBE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15803D"/>
                </a:solidFill>
                <a:latin typeface="맑은 고딕"/>
                <a:ea typeface="맑은 고딕"/>
              </a:rPr>
              <a:t>정부 연계</a:t>
            </a:r>
          </a:p>
        </p:txBody>
      </p:sp>
      <p:sp>
        <p:nvSpPr>
          <p:cNvPr id="1029" name="Rounded Rectangle 1028"/>
          <p:cNvSpPr/>
          <p:nvPr/>
        </p:nvSpPr>
        <p:spPr>
          <a:xfrm>
            <a:off x="2532888" y="3621024"/>
            <a:ext cx="8869680" cy="493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30" b="0">
                <a:solidFill>
                  <a:srgbClr val="1F2937"/>
                </a:solidFill>
                <a:latin typeface="맑은 고딕"/>
                <a:ea typeface="맑은 고딕"/>
              </a:rPr>
              <a:t>정부24 전자증명서·전자문서지갑(dpaper.kr) · 공공 마이데이터(mydata.go.kr) — 프로덕션 연계 로드맵</a:t>
            </a:r>
          </a:p>
        </p:txBody>
      </p:sp>
      <p:sp>
        <p:nvSpPr>
          <p:cNvPr id="1030" name="Rounded Rectangle 1029"/>
          <p:cNvSpPr/>
          <p:nvPr/>
        </p:nvSpPr>
        <p:spPr>
          <a:xfrm>
            <a:off x="868680" y="4187952"/>
            <a:ext cx="1554480" cy="493776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9525">
            <a:solidFill>
              <a:srgbClr val="BBE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15803D"/>
                </a:solidFill>
                <a:latin typeface="맑은 고딕"/>
                <a:ea typeface="맑은 고딕"/>
              </a:rPr>
              <a:t>AI 모델</a:t>
            </a:r>
          </a:p>
        </p:txBody>
      </p:sp>
      <p:sp>
        <p:nvSpPr>
          <p:cNvPr id="1031" name="Rounded Rectangle 1030"/>
          <p:cNvSpPr/>
          <p:nvPr/>
        </p:nvSpPr>
        <p:spPr>
          <a:xfrm>
            <a:off x="2532888" y="4187952"/>
            <a:ext cx="8869680" cy="493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30" b="0">
                <a:solidFill>
                  <a:srgbClr val="1F2937"/>
                </a:solidFill>
                <a:latin typeface="맑은 고딕"/>
                <a:ea typeface="맑은 고딕"/>
              </a:rPr>
              <a:t>Anthropic Claude(백엔드 지식형 챗, LangGraph) · intfloat/multilingual-e5-small(온디바이스 의미검색, MIT/Apache 계열 공개 모델)</a:t>
            </a:r>
          </a:p>
        </p:txBody>
      </p:sp>
      <p:sp>
        <p:nvSpPr>
          <p:cNvPr id="1032" name="Rounded Rectangle 1031"/>
          <p:cNvSpPr/>
          <p:nvPr/>
        </p:nvSpPr>
        <p:spPr>
          <a:xfrm>
            <a:off x="868680" y="4754880"/>
            <a:ext cx="1554480" cy="493776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9525">
            <a:solidFill>
              <a:srgbClr val="BBE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15803D"/>
                </a:solidFill>
                <a:latin typeface="맑은 고딕"/>
                <a:ea typeface="맑은 고딕"/>
              </a:rPr>
              <a:t>오픈소스</a:t>
            </a:r>
          </a:p>
        </p:txBody>
      </p:sp>
      <p:sp>
        <p:nvSpPr>
          <p:cNvPr id="1033" name="Rounded Rectangle 1032"/>
          <p:cNvSpPr/>
          <p:nvPr/>
        </p:nvSpPr>
        <p:spPr>
          <a:xfrm>
            <a:off x="2532888" y="4754880"/>
            <a:ext cx="8869680" cy="493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30" b="0">
                <a:solidFill>
                  <a:srgbClr val="1F2937"/>
                </a:solidFill>
                <a:latin typeface="맑은 고딕"/>
                <a:ea typeface="맑은 고딕"/>
              </a:rPr>
              <a:t>React·Vite·TypeScript·TailwindCSS·zustand·framer-motion·transformers.js·FastAPI·LangGraph·ChromaDB·Playwright (각 라이선스 준수)</a:t>
            </a:r>
          </a:p>
        </p:txBody>
      </p:sp>
      <p:sp>
        <p:nvSpPr>
          <p:cNvPr id="1034" name="Rounded Rectangle 1033"/>
          <p:cNvSpPr/>
          <p:nvPr/>
        </p:nvSpPr>
        <p:spPr>
          <a:xfrm>
            <a:off x="868680" y="5321808"/>
            <a:ext cx="1554480" cy="493776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9525">
            <a:solidFill>
              <a:srgbClr val="BBE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15803D"/>
                </a:solidFill>
                <a:latin typeface="맑은 고딕"/>
                <a:ea typeface="맑은 고딕"/>
              </a:rPr>
              <a:t>직접 제작</a:t>
            </a:r>
          </a:p>
        </p:txBody>
      </p:sp>
      <p:sp>
        <p:nvSpPr>
          <p:cNvPr id="1035" name="Rounded Rectangle 1034"/>
          <p:cNvSpPr/>
          <p:nvPr/>
        </p:nvSpPr>
        <p:spPr>
          <a:xfrm>
            <a:off x="2532888" y="5321808"/>
            <a:ext cx="8869680" cy="493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30" b="0">
                <a:solidFill>
                  <a:srgbClr val="1F2937"/>
                </a:solidFill>
                <a:latin typeface="맑은 고딕"/>
                <a:ea typeface="맑은 고딕"/>
              </a:rPr>
              <a:t>본 기획서의 모든 도표·다이어그램·스크린샷은 팀이 직접 제작·캡처(라이브 서비스 실화면)</a:t>
            </a:r>
          </a:p>
        </p:txBody>
      </p:sp>
    </p:spTree>
    <p:extLst>
      <p:ext uri="{BB962C8B-B14F-4D97-AF65-F5344CB8AC3E}">
        <p14:creationId xmlns:p14="http://schemas.microsoft.com/office/powerpoint/2010/main" val="776102690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B165CAD0-2A02-5E29-8536-ED2B3C3375B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6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D7ADD4E6-F6E8-97A3-9EA6-04E64C9E771E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sp>
        <p:nvSpPr>
          <p:cNvPr id="4" name="Google Shape;100;p2">
            <a:extLst>
              <a:ext uri="{FF2B5EF4-FFF2-40B4-BE49-F238E27FC236}">
                <a16:creationId xmlns:a16="http://schemas.microsoft.com/office/drawing/2014/main" id="{E370232A-6652-0B7B-A2D6-F8802B0F42F4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4FD4C6A3-A7FF-DCE0-30BE-4532F9F20CD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20991-1956-8C13-7614-0AE6FD9B9483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5943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주제 제안 배경 ② — 왜 AI Agent 기반 SW인가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2982F96-03E4-48D8-BD6F-F7063C8403CC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003" name="Auto Slide Number">
            <a:extLst>
              <a:ext uri="{FF2B5EF4-FFF2-40B4-BE49-F238E27FC236}">
                <a16:creationId xmlns:a16="http://schemas.microsoft.com/office/drawing/2014/main" id="{C6D880B8-D0AD-4775-B950-A241F3236D3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EC01993F-5AD3-4802-A1CB-F45D0D531D8B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3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EF5474A1-5E3A-44CF-A478-7EEEAFC7DEA0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45920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</a:rPr>
              <a:t>검색 포털은 이미 있다. 문제는 검색이 아니라 </a:t>
            </a:r>
            <a:r>
              <a:rPr sz="1250" b="1">
                <a:solidFill>
                  <a:srgbClr val="9F1239"/>
                </a:solidFill>
                <a:latin typeface="맑은 고딕"/>
                <a:ea typeface="맑은 고딕"/>
              </a:rPr>
              <a:t>‘찾고→이해하고→신청하고→관리하는’ 전 과정의 부담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2066544"/>
            <a:ext cx="5120640" cy="1627632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1">
                <a:solidFill>
                  <a:srgbClr val="1F2937"/>
                </a:solidFill>
                <a:latin typeface="맑은 고딕"/>
                <a:ea typeface="맑은 고딕"/>
              </a:rPr>
              <a:t>기존 방식 — 정보 검색 포털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검색 결과를 ‘나열’ → 판단·이해·신청·관리는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전부 사용자의 몫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가장 필요한 사람(어르신·장애인·외국인)이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가장 쓰기 어려운 구조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6355080" y="2066544"/>
            <a:ext cx="5074920" cy="1627632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1">
                <a:solidFill>
                  <a:srgbClr val="1F2937"/>
                </a:solidFill>
                <a:latin typeface="맑은 고딕"/>
                <a:ea typeface="맑은 고딕"/>
              </a:rPr>
              <a:t>모두봄 — 전 과정을 대신 도는 에이전트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1">
                <a:solidFill>
                  <a:srgbClr val="15803D"/>
                </a:solidFill>
                <a:latin typeface="맑은 고딕"/>
                <a:ea typeface="맑은 고딕"/>
              </a:rPr>
              <a:t>인지</a:t>
            </a:r>
            <a:r>
              <a:rPr sz="1050" b="0">
                <a:solidFill>
                  <a:srgbClr val="1F2937"/>
                </a:solidFill>
                <a:latin typeface="맑은 고딕"/>
                <a:ea typeface="맑은 고딕"/>
              </a:rPr>
              <a:t>(상황 파악) → </a:t>
            </a:r>
            <a:r>
              <a:rPr sz="1050" b="1">
                <a:solidFill>
                  <a:srgbClr val="15803D"/>
                </a:solidFill>
                <a:latin typeface="맑은 고딕"/>
                <a:ea typeface="맑은 고딕"/>
              </a:rPr>
              <a:t>판단</a:t>
            </a:r>
            <a:r>
              <a:rPr sz="1050" b="0">
                <a:solidFill>
                  <a:srgbClr val="1F2937"/>
                </a:solidFill>
                <a:latin typeface="맑은 고딕"/>
                <a:ea typeface="맑은 고딕"/>
              </a:rPr>
              <a:t>(자격 선별) → </a:t>
            </a:r>
            <a:r>
              <a:rPr sz="1050" b="1">
                <a:solidFill>
                  <a:srgbClr val="15803D"/>
                </a:solidFill>
                <a:latin typeface="맑은 고딕"/>
                <a:ea typeface="맑은 고딕"/>
              </a:rPr>
              <a:t>이해</a:t>
            </a:r>
            <a:r>
              <a:rPr sz="1050" b="0">
                <a:solidFill>
                  <a:srgbClr val="1F2937"/>
                </a:solidFill>
                <a:latin typeface="맑은 고딕"/>
                <a:ea typeface="맑은 고딕"/>
              </a:rPr>
              <a:t>(쉬운 말·7개 언어)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맑은 고딕"/>
                <a:ea typeface="맑은 고딕"/>
              </a:rPr>
              <a:t>→ </a:t>
            </a:r>
            <a:r>
              <a:rPr sz="1050" b="1">
                <a:solidFill>
                  <a:srgbClr val="15803D"/>
                </a:solidFill>
                <a:latin typeface="맑은 고딕"/>
                <a:ea typeface="맑은 고딕"/>
              </a:rPr>
              <a:t>행동</a:t>
            </a:r>
            <a:r>
              <a:rPr sz="1050" b="0">
                <a:solidFill>
                  <a:srgbClr val="1F2937"/>
                </a:solidFill>
                <a:latin typeface="맑은 고딕"/>
                <a:ea typeface="맑은 고딕"/>
              </a:rPr>
              <a:t>(서류·신청 실행) → </a:t>
            </a:r>
            <a:r>
              <a:rPr sz="1050" b="1">
                <a:solidFill>
                  <a:srgbClr val="15803D"/>
                </a:solidFill>
                <a:latin typeface="맑은 고딕"/>
                <a:ea typeface="맑은 고딕"/>
              </a:rPr>
              <a:t>관찰</a:t>
            </a:r>
            <a:r>
              <a:rPr sz="1050" b="0">
                <a:solidFill>
                  <a:srgbClr val="1F2937"/>
                </a:solidFill>
                <a:latin typeface="맑은 고딕"/>
                <a:ea typeface="맑은 고딕"/>
              </a:rPr>
              <a:t>(마감·갱신 감시)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맑은 고딕"/>
                <a:ea typeface="맑은 고딕"/>
              </a:rPr>
              <a:t>챗봇이 아니라 </a:t>
            </a:r>
            <a:r>
              <a:rPr sz="1050" b="1">
                <a:solidFill>
                  <a:srgbClr val="15803D"/>
                </a:solidFill>
                <a:latin typeface="맑은 고딕"/>
                <a:ea typeface="맑은 고딕"/>
              </a:rPr>
              <a:t>이 루프 전체가 에이전트</a:t>
            </a:r>
            <a:r>
              <a:rPr sz="1050" b="0">
                <a:solidFill>
                  <a:srgbClr val="1F2937"/>
                </a:solidFill>
                <a:latin typeface="맑은 고딕"/>
                <a:ea typeface="맑은 고딕"/>
              </a:rPr>
              <a:t>다.</a:t>
            </a:r>
          </a:p>
        </p:txBody>
      </p:sp>
      <p:sp>
        <p:nvSpPr>
          <p:cNvPr id="1019" name="Right Arrow 1018"/>
          <p:cNvSpPr/>
          <p:nvPr/>
        </p:nvSpPr>
        <p:spPr>
          <a:xfrm>
            <a:off x="6007608" y="2660904"/>
            <a:ext cx="329184" cy="45720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Rounded Rectangle 1019"/>
          <p:cNvSpPr/>
          <p:nvPr/>
        </p:nvSpPr>
        <p:spPr>
          <a:xfrm>
            <a:off x="868680" y="3840480"/>
            <a:ext cx="10561320" cy="77724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맑은 고딕"/>
                <a:ea typeface="맑은 고딕"/>
              </a:rPr>
              <a:t>동시에 지켜야 할 제약 — </a:t>
            </a:r>
            <a:r>
              <a:rPr sz="1150" b="1">
                <a:solidFill>
                  <a:srgbClr val="6D28D9"/>
                </a:solidFill>
                <a:latin typeface="맑은 고딕"/>
                <a:ea typeface="맑은 고딕"/>
              </a:rPr>
              <a:t>복지 대상자의 소득·장애·가구 정보는 극도로 민감한 개인정보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1F2937"/>
                </a:solidFill>
                <a:latin typeface="맑은 고딕"/>
                <a:ea typeface="맑은 고딕"/>
              </a:rPr>
              <a:t>→ 개인정보를 서버로 보내지 않는 </a:t>
            </a:r>
            <a:r>
              <a:rPr sz="1050" b="1">
                <a:solidFill>
                  <a:srgbClr val="6D28D9"/>
                </a:solidFill>
                <a:latin typeface="맑은 고딕"/>
                <a:ea typeface="맑은 고딕"/>
              </a:rPr>
              <a:t>온디바이스 에이전트</a:t>
            </a:r>
            <a:r>
              <a:rPr sz="1050" b="0">
                <a:solidFill>
                  <a:srgbClr val="1F2937"/>
                </a:solidFill>
                <a:latin typeface="맑은 고딕"/>
                <a:ea typeface="맑은 고딕"/>
              </a:rPr>
              <a:t> 설계가 필요하다. 모두봄은 이 두 요구를 동시에 충족한다.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868680" y="4754880"/>
            <a:ext cx="103327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맑은 고딕"/>
                <a:ea typeface="맑은 고딕"/>
              </a:rPr>
              <a:t>아이디어가 아니라 검증된 가설 — 예선 시점에 이미 라이브로 동작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868680" y="5029200"/>
            <a:ext cx="3401568" cy="804672"/>
          </a:xfrm>
          <a:prstGeom prst="roundRect">
            <a:avLst>
              <a:gd name="adj" fmla="val 8000"/>
            </a:avLst>
          </a:prstGeom>
          <a:solidFill>
            <a:srgbClr val="F0F9FF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맑은 고딕"/>
                <a:ea typeface="맑은 고딕"/>
              </a:rPr>
              <a:t>🌱 라이브 서비스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biocode67.github.io/modoo-bom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설치·로그인 없이 즉시 체험</a:t>
            </a:r>
          </a:p>
        </p:txBody>
      </p:sp>
      <p:sp>
        <p:nvSpPr>
          <p:cNvPr id="1023" name="Rounded Rectangle 1022"/>
          <p:cNvSpPr/>
          <p:nvPr/>
        </p:nvSpPr>
        <p:spPr>
          <a:xfrm>
            <a:off x="4453128" y="5029200"/>
            <a:ext cx="3401568" cy="804672"/>
          </a:xfrm>
          <a:prstGeom prst="roundRect">
            <a:avLst>
              <a:gd name="adj" fmla="val 8000"/>
            </a:avLst>
          </a:prstGeom>
          <a:solidFill>
            <a:srgbClr val="F0F9FF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맑은 고딕"/>
                <a:ea typeface="맑은 고딕"/>
              </a:rPr>
              <a:t>🧪 자동 테스트 426개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프론트 392 + 백엔드 34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금액·자격판정 회귀 상시 검증</a:t>
            </a:r>
          </a:p>
        </p:txBody>
      </p:sp>
      <p:sp>
        <p:nvSpPr>
          <p:cNvPr id="1024" name="Rounded Rectangle 1023"/>
          <p:cNvSpPr/>
          <p:nvPr/>
        </p:nvSpPr>
        <p:spPr>
          <a:xfrm>
            <a:off x="8037575" y="5029200"/>
            <a:ext cx="3401568" cy="804672"/>
          </a:xfrm>
          <a:prstGeom prst="roundRect">
            <a:avLst>
              <a:gd name="adj" fmla="val 8000"/>
            </a:avLst>
          </a:prstGeom>
          <a:solidFill>
            <a:srgbClr val="F0F9FF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맑은 고딕"/>
                <a:ea typeface="맑은 고딕"/>
              </a:rPr>
              <a:t>📊 전 금액 공식 출처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기초연금 349,700원 등 2026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보건복지부 고시로 전수 검증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1157C7AA-BAD1-48B2-65BB-AD464A54796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FDA78D37-3108-EE7F-CB8F-3A968C425896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9CE2AEF5-243D-D469-B364-EE0084AAA103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78FF-57A0-7C3A-21B2-B56318A47152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5943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+mj-ea"/>
                <a:ea typeface="+mj-ea"/>
                <a:cs typeface="+mj-ea"/>
              </a:rPr>
              <a:t>AI Agent 기능 및 구조 ② — 시스템 아키텍처</a:t>
            </a:r>
            <a:r>
              <a:rPr dirty="0" err="1">
                <a:latin typeface="+mj-ea"/>
                <a:ea typeface="+mj-ea"/>
                <a:cs typeface="+mj-ea"/>
              </a:rPr>
              <a:t/>
            </a:r>
            <a:r>
              <a:rPr dirty="0">
                <a:latin typeface="+mj-ea"/>
                <a:ea typeface="+mj-ea"/>
                <a:cs typeface="+mj-ea"/>
              </a:rPr>
              <a:t/>
            </a:r>
            <a:r>
              <a:rPr dirty="0" err="1">
                <a:latin typeface="+mj-ea"/>
                <a:ea typeface="+mj-ea"/>
                <a:cs typeface="+mj-ea"/>
              </a:rPr>
              <a:t/>
            </a:r>
            <a:r>
              <a:rPr lang="en-US" dirty="0">
                <a:latin typeface="+mj-ea"/>
                <a:ea typeface="+mj-ea"/>
                <a:cs typeface="+mj-ea"/>
              </a:rPr>
              <a:t/>
            </a:r>
            <a:r>
              <a:rPr lang="ko-KR" altLang="en-US" dirty="0">
                <a:latin typeface="+mj-ea"/>
                <a:ea typeface="+mj-ea"/>
                <a:cs typeface="+mj-ea"/>
              </a:rPr>
              <a:t/>
            </a:r>
            <a:endParaRPr dirty="0">
              <a:latin typeface="+mj-ea"/>
              <a:ea typeface="+mj-ea"/>
              <a:cs typeface="+mj-ea"/>
            </a:endParaRP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1D5857E-B5B3-4166-9BA0-61884A23F3AB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43F181DE-E08B-4CAA-5763-102919945158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4" name="Auto Slide Number">
            <a:extLst>
              <a:ext uri="{FF2B5EF4-FFF2-40B4-BE49-F238E27FC236}">
                <a16:creationId xmlns:a16="http://schemas.microsoft.com/office/drawing/2014/main" id="{37BA7BA5-5347-4F51-A5DE-8F2C0D352C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E847D6B-B1E4-40A3-BA88-394742D024FD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4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7C926C7-D81F-498A-BF9E-7537AA58E057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45920"/>
            <a:ext cx="103327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1F2937"/>
                </a:solidFill>
                <a:latin typeface="맑은 고딕"/>
                <a:ea typeface="맑은 고딕"/>
              </a:rPr>
              <a:t>3층 구조 —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</a:rPr>
              <a:t>개인정보는 1층(기기)을 떠나지 않고, 지식과 실행이 필요할 때만 2·3층을 쓴다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1993392"/>
            <a:ext cx="10561320" cy="850392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15803D"/>
                </a:solidFill>
                <a:latin typeface="맑은 고딕"/>
                <a:ea typeface="맑은 고딕"/>
              </a:rPr>
              <a:t>1층 · 온디바이스 (기본 — 서버 없이 전 기능 동작)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복지엔진(자격판정 규칙) · </a:t>
            </a:r>
            <a:r>
              <a:rPr sz="1000" b="1">
                <a:solidFill>
                  <a:srgbClr val="15803D"/>
                </a:solidFill>
                <a:latin typeface="맑은 고딕"/>
                <a:ea typeface="맑은 고딕"/>
              </a:rPr>
              <a:t>신경망 의미검색(multilingual-e5, 브라우저 내 실행)</a:t>
            </a: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 · 모니터링 엔진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프로필·결과·관심목록 전부 내 기기에만 저장 — </a:t>
            </a:r>
            <a:r>
              <a:rPr sz="1000" b="1">
                <a:solidFill>
                  <a:srgbClr val="15803D"/>
                </a:solidFill>
                <a:latin typeface="맑은 고딕"/>
                <a:ea typeface="맑은 고딕"/>
              </a:rPr>
              <a:t>개인정보 서버 전송 0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868680" y="2935224"/>
            <a:ext cx="10561320" cy="850392"/>
          </a:xfrm>
          <a:prstGeom prst="roundRect">
            <a:avLst>
              <a:gd name="adj" fmla="val 8000"/>
            </a:avLst>
          </a:prstGeom>
          <a:solidFill>
            <a:srgbClr val="F0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075985"/>
                </a:solidFill>
                <a:latin typeface="맑은 고딕"/>
                <a:ea typeface="맑은 고딕"/>
              </a:rPr>
              <a:t>2층 · 백엔드 에이전트 (선택 — 연결 시 지식형 챗 강화)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FastAPI + </a:t>
            </a:r>
            <a:r>
              <a:rPr sz="1000" b="1">
                <a:solidFill>
                  <a:srgbClr val="075985"/>
                </a:solidFill>
                <a:latin typeface="맑은 고딕"/>
                <a:ea typeface="맑은 고딕"/>
              </a:rPr>
              <a:t>LangGraph 10노드 StateGraph</a:t>
            </a: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 + Claude — 프로필 분석→검색→자격판별→반성 루프→가이드 생성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없어도 규칙 기반 폴백으로 동일 기능 동작(데모 전제) — </a:t>
            </a:r>
            <a:r>
              <a:rPr sz="1000" b="1">
                <a:solidFill>
                  <a:srgbClr val="075985"/>
                </a:solidFill>
                <a:latin typeface="맑은 고딕"/>
                <a:ea typeface="맑은 고딕"/>
              </a:rPr>
              <a:t>멈추지 않는 설계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868680" y="3877056"/>
            <a:ext cx="10561320" cy="850392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92400E"/>
                </a:solidFill>
                <a:latin typeface="맑은 고딕"/>
                <a:ea typeface="맑은 고딕"/>
              </a:rPr>
              <a:t>3층 · 실행 채널 (서류·신청 — 정부 공식 경로 우선)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기본: </a:t>
            </a:r>
            <a:r>
              <a:rPr sz="1000" b="1">
                <a:solidFill>
                  <a:srgbClr val="92400E"/>
                </a:solidFill>
                <a:latin typeface="맑은 고딕"/>
                <a:ea typeface="맑은 고딕"/>
              </a:rPr>
              <a:t>정부24 전자증명서(전자문서지갑) 무설치 발급·전자제출</a:t>
            </a: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 — 네이버·카카오·토스도 쓰는 정부 공식 유통망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고급: 브라우저 확장 자동화(화면을 읽고 다음 행동 판단) · 로컬 Playwright RPA — 인증·제출만 본인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868680" y="4919472"/>
            <a:ext cx="10332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맑은 고딕"/>
                <a:ea typeface="맑은 고딕"/>
              </a:rPr>
              <a:t>데이터 파이프라인 — 가짜 데이터 0, 실데이터만</a:t>
            </a:r>
          </a:p>
        </p:txBody>
      </p:sp>
      <p:sp>
        <p:nvSpPr>
          <p:cNvPr id="1021" name="Rounded Rectangle 1020"/>
          <p:cNvSpPr/>
          <p:nvPr/>
        </p:nvSpPr>
        <p:spPr>
          <a:xfrm>
            <a:off x="868680" y="5193792"/>
            <a:ext cx="2432304" cy="640080"/>
          </a:xfrm>
          <a:prstGeom prst="roundRect">
            <a:avLst>
              <a:gd name="adj" fmla="val 8000"/>
            </a:avLst>
          </a:prstGeom>
          <a:solidFill>
            <a:srgbClr val="F0F9FF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1">
                <a:solidFill>
                  <a:srgbClr val="1F2937"/>
                </a:solidFill>
                <a:latin typeface="맑은 고딕"/>
                <a:ea typeface="맑은 고딕"/>
              </a:rPr>
              <a:t>공공데이터포털 OpenAPI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80" b="0">
                <a:solidFill>
                  <a:srgbClr val="1F2937"/>
                </a:solidFill>
                <a:latin typeface="맑은 고딕"/>
                <a:ea typeface="맑은 고딕"/>
              </a:rPr>
              <a:t>중앙부처 367 + 지자체 4,598</a:t>
            </a:r>
          </a:p>
        </p:txBody>
      </p:sp>
      <p:sp>
        <p:nvSpPr>
          <p:cNvPr id="1022" name="Right Arrow 1021"/>
          <p:cNvSpPr/>
          <p:nvPr/>
        </p:nvSpPr>
        <p:spPr>
          <a:xfrm>
            <a:off x="3319272" y="5394960"/>
            <a:ext cx="237744" cy="23774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Rounded Rectangle 1022"/>
          <p:cNvSpPr/>
          <p:nvPr/>
        </p:nvSpPr>
        <p:spPr>
          <a:xfrm>
            <a:off x="3575304" y="5193792"/>
            <a:ext cx="2432304" cy="6400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1">
                <a:solidFill>
                  <a:srgbClr val="1F2937"/>
                </a:solidFill>
                <a:latin typeface="맑은 고딕"/>
                <a:ea typeface="맑은 고딕"/>
              </a:rPr>
              <a:t>ETL 정규화·디듑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80" b="0">
                <a:solidFill>
                  <a:srgbClr val="1F2937"/>
                </a:solidFill>
                <a:latin typeface="맑은 고딕"/>
                <a:ea typeface="맑은 고딕"/>
              </a:rPr>
              <a:t>Policy 스키마 통일·이름 기준 병합</a:t>
            </a:r>
          </a:p>
        </p:txBody>
      </p:sp>
      <p:sp>
        <p:nvSpPr>
          <p:cNvPr id="1024" name="Right Arrow 1023"/>
          <p:cNvSpPr/>
          <p:nvPr/>
        </p:nvSpPr>
        <p:spPr>
          <a:xfrm>
            <a:off x="6025896" y="5394960"/>
            <a:ext cx="237744" cy="23774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Rounded Rectangle 1024"/>
          <p:cNvSpPr/>
          <p:nvPr/>
        </p:nvSpPr>
        <p:spPr>
          <a:xfrm>
            <a:off x="6281928" y="5193792"/>
            <a:ext cx="2432304" cy="64008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1">
                <a:solidFill>
                  <a:srgbClr val="1F2937"/>
                </a:solidFill>
                <a:latin typeface="맑은 고딕"/>
                <a:ea typeface="맑은 고딕"/>
              </a:rPr>
              <a:t>정밀 시드 190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80" b="0">
                <a:solidFill>
                  <a:srgbClr val="1F2937"/>
                </a:solidFill>
                <a:latin typeface="맑은 고딕"/>
                <a:ea typeface="맑은 고딕"/>
              </a:rPr>
              <a:t>2026 공식 고시값 검증 규칙</a:t>
            </a:r>
          </a:p>
        </p:txBody>
      </p:sp>
      <p:sp>
        <p:nvSpPr>
          <p:cNvPr id="1026" name="Right Arrow 1025"/>
          <p:cNvSpPr/>
          <p:nvPr/>
        </p:nvSpPr>
        <p:spPr>
          <a:xfrm>
            <a:off x="8732519" y="5394960"/>
            <a:ext cx="237744" cy="23774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Rounded Rectangle 1026"/>
          <p:cNvSpPr/>
          <p:nvPr/>
        </p:nvSpPr>
        <p:spPr>
          <a:xfrm>
            <a:off x="8988551" y="5193792"/>
            <a:ext cx="2432304" cy="640080"/>
          </a:xfrm>
          <a:prstGeom prst="roundRect">
            <a:avLst>
              <a:gd name="adj" fmla="val 8000"/>
            </a:avLst>
          </a:prstGeom>
          <a:solidFill>
            <a:srgbClr val="FFF1F2"/>
          </a:solidFill>
          <a:ln w="1270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1">
                <a:solidFill>
                  <a:srgbClr val="1F2937"/>
                </a:solidFill>
                <a:latin typeface="맑은 고딕"/>
                <a:ea typeface="맑은 고딕"/>
              </a:rPr>
              <a:t>민간재단 21 큐레이션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80" b="0">
                <a:solidFill>
                  <a:srgbClr val="1F2937"/>
                </a:solidFill>
                <a:latin typeface="맑은 고딕"/>
                <a:ea typeface="맑은 고딕"/>
              </a:rPr>
              <a:t>전 항목 공식 사이트 실측 검증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1157C7AA-BAD1-48B2-65BB-AD464A54796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FDA78D37-3108-EE7F-CB8F-3A968C425896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9CE2AEF5-243D-D469-B364-EE0084AAA103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78FF-57A0-7C3A-21B2-B56318A47152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5943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+mj-ea"/>
                <a:ea typeface="+mj-ea"/>
                <a:cs typeface="+mj-ea"/>
              </a:rPr>
              <a:t>AI Agent 기능 및 구조 ③ — 신뢰·안전 설계</a:t>
            </a:r>
            <a:r>
              <a:rPr dirty="0" err="1">
                <a:latin typeface="+mj-ea"/>
                <a:ea typeface="+mj-ea"/>
                <a:cs typeface="+mj-ea"/>
              </a:rPr>
              <a:t/>
            </a:r>
            <a:r>
              <a:rPr dirty="0">
                <a:latin typeface="+mj-ea"/>
                <a:ea typeface="+mj-ea"/>
                <a:cs typeface="+mj-ea"/>
              </a:rPr>
              <a:t/>
            </a:r>
            <a:r>
              <a:rPr dirty="0" err="1">
                <a:latin typeface="+mj-ea"/>
                <a:ea typeface="+mj-ea"/>
                <a:cs typeface="+mj-ea"/>
              </a:rPr>
              <a:t/>
            </a:r>
            <a:r>
              <a:rPr lang="en-US" dirty="0">
                <a:latin typeface="+mj-ea"/>
                <a:ea typeface="+mj-ea"/>
                <a:cs typeface="+mj-ea"/>
              </a:rPr>
              <a:t/>
            </a:r>
            <a:r>
              <a:rPr lang="ko-KR" altLang="en-US" dirty="0">
                <a:latin typeface="+mj-ea"/>
                <a:ea typeface="+mj-ea"/>
                <a:cs typeface="+mj-ea"/>
              </a:rPr>
              <a:t/>
            </a:r>
            <a:endParaRPr dirty="0">
              <a:latin typeface="+mj-ea"/>
              <a:ea typeface="+mj-ea"/>
              <a:cs typeface="+mj-ea"/>
            </a:endParaRP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1D5857E-B5B3-4166-9BA0-61884A23F3AB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43F181DE-E08B-4CAA-5763-102919945158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4" name="Auto Slide Number">
            <a:extLst>
              <a:ext uri="{FF2B5EF4-FFF2-40B4-BE49-F238E27FC236}">
                <a16:creationId xmlns:a16="http://schemas.microsoft.com/office/drawing/2014/main" id="{37BA7BA5-5347-4F51-A5DE-8F2C0D352C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E847D6B-B1E4-40A3-BA88-394742D024FD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4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7C926C7-D81F-498A-BF9E-7537AA58E057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fld>
            <a:endParaRPr lang="ko-KR" sz="1000"/>
          </a:p>
        </p:txBody>
      </p:sp>
      <p:sp>
        <p:nvSpPr>
          <p:cNvPr id="1016" name="Rounded Rectangle 1015"/>
          <p:cNvSpPr/>
          <p:nvPr/>
        </p:nvSpPr>
        <p:spPr>
          <a:xfrm>
            <a:off x="868680" y="1700784"/>
            <a:ext cx="5212080" cy="91440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맑은 고딕"/>
                <a:ea typeface="맑은 고딕"/>
              </a:rPr>
              <a:t>🔒 개인정보 온디바이스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이름은 디스크에도 저장하지 않음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가족 공유 링크에서도 이름 자동 제거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서버 전송 0 — 코드로 검증(테스트)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2724912"/>
            <a:ext cx="5212080" cy="914400"/>
          </a:xfrm>
          <a:prstGeom prst="roundRect">
            <a:avLst>
              <a:gd name="adj" fmla="val 8000"/>
            </a:avLst>
          </a:prstGeom>
          <a:solidFill>
            <a:srgbClr val="F0F9FF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맑은 고딕"/>
                <a:ea typeface="맑은 고딕"/>
              </a:rPr>
              <a:t>⚖️ 과장 금지의 코드화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바우처·서비스 한도를 ‘현금’으로 합산 금지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심사·선발형 민간지원은 ‘관련’으로만 표시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위반하면 자동 테스트가 빌드를 거부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868680" y="3749040"/>
            <a:ext cx="5212080" cy="91440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맑은 고딕"/>
                <a:ea typeface="맑은 고딕"/>
              </a:rPr>
              <a:t>🙋 Human-in-the-loop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본인인증·최종 제출은 항상 사람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에이전트는 준비까지, 결정은 본인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비가역·법적 행위의 안전장치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868680" y="4773168"/>
            <a:ext cx="5212080" cy="914400"/>
          </a:xfrm>
          <a:prstGeom prst="roundRect">
            <a:avLst>
              <a:gd name="adj" fmla="val 8000"/>
            </a:avLst>
          </a:prstGeom>
          <a:solidFill>
            <a:srgbClr val="FFF1F2"/>
          </a:solidFill>
          <a:ln w="1270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맑은 고딕"/>
                <a:ea typeface="맑은 고딕"/>
              </a:rPr>
              <a:t>📄 정부 공식 경로 우선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서류는 전자증명서(정부 공식 유통망)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스크래핑 의존 아님 → 지속 가능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전 정책에 공식 출처·문의처 표기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6400800" y="1664208"/>
            <a:ext cx="493776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1F2937"/>
                </a:solidFill>
                <a:latin typeface="맑은 고딕"/>
                <a:ea typeface="맑은 고딕"/>
              </a:rPr>
              <a:t>실제 라이브 화면 — 독거 어르신 페르소나 분석 결과</a:t>
            </a:r>
          </a:p>
        </p:txBody>
      </p:sp>
      <p:pic>
        <p:nvPicPr>
          <p:cNvPr id="1021" name="Picture 1020" descr="shot-result-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956816"/>
            <a:ext cx="4983480" cy="3036808"/>
          </a:xfrm>
          <a:prstGeom prst="rect">
            <a:avLst/>
          </a:prstGeom>
        </p:spPr>
      </p:pic>
      <p:sp>
        <p:nvSpPr>
          <p:cNvPr id="1022" name="Rectangle 1021"/>
          <p:cNvSpPr/>
          <p:nvPr/>
        </p:nvSpPr>
        <p:spPr>
          <a:xfrm>
            <a:off x="6382512" y="1938528"/>
            <a:ext cx="5020056" cy="3073384"/>
          </a:xfrm>
          <a:prstGeom prst="rect">
            <a:avLst/>
          </a:prstGeom>
          <a:noFill/>
          <a:ln w="15240">
            <a:solidFill>
              <a:srgbClr val="BBE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TextBox 1022"/>
          <p:cNvSpPr txBox="1"/>
          <p:nvPr/>
        </p:nvSpPr>
        <p:spPr>
          <a:xfrm>
            <a:off x="6400800" y="5085064"/>
            <a:ext cx="498348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37개 자격 발견 · 핵심 현금지원 ‘월 64만원’은 </a:t>
            </a:r>
            <a:r>
              <a:rPr sz="900" b="1">
                <a:solidFill>
                  <a:srgbClr val="1F2937"/>
                </a:solidFill>
                <a:latin typeface="맑은 고딕"/>
                <a:ea typeface="맑은 고딕"/>
              </a:rPr>
              <a:t>현금성만 보수 합산</a:t>
            </a: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 — 바우처·서비스 한도 제외를 화면에 명시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539</Words>
  <Application>Microsoft Office PowerPoint</Application>
  <DocSecurity>0</DocSecurity>
  <PresentationFormat>와이드스크린</PresentationFormat>
  <Paragraphs>102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Malgun Gothic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[데이콘] 김기민</cp:lastModifiedBy>
  <cp:revision>1</cp:revision>
  <dcterms:created xsi:type="dcterms:W3CDTF">2026-06-30T07:31:27Z</dcterms:created>
  <dcterms:modified xsi:type="dcterms:W3CDTF">2026-06-30T07:38:24Z</dcterms:modified>
</cp:coreProperties>
</file>